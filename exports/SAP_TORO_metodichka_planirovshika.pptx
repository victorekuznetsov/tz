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51" d="100"/>
          <a:sy n="151" d="100"/>
        </p:scale>
        <p:origin x="120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План, млн ₽</c:v>
                </c:pt>
              </c:strCache>
            </c:strRef>
          </c:tx>
          <c:dPt>
            <c:idx val="0"/>
            <c:spPr>
              <a:solidFill>
                <a:srgbClr val="3EF0AF"/>
              </a:solidFill>
            </c:spPr>
          </c:dPt>
          <c:dPt>
            <c:idx val="1"/>
            <c:spPr>
              <a:solidFill>
                <a:srgbClr val="3EF0AF"/>
              </a:solidFill>
            </c:spPr>
          </c:dPt>
          <c:dPt>
            <c:idx val="2"/>
            <c:spPr>
              <a:solidFill>
                <a:srgbClr val="3EF0AF"/>
              </a:solidFill>
            </c:spPr>
          </c:dPt>
          <c:dPt>
            <c:idx val="3"/>
            <c:spPr>
              <a:solidFill>
                <a:srgbClr val="3EF0AF"/>
              </a:solidFill>
            </c:spPr>
          </c:dPt>
          <c:dPt>
            <c:idx val="4"/>
            <c:spPr>
              <a:solidFill>
                <a:srgbClr val="80868B"/>
              </a:solidFill>
            </c:spPr>
          </c:dPt>
          <c:dPt>
            <c:idx val="5"/>
            <c:spPr>
              <a:solidFill>
                <a:srgbClr val="80868B"/>
              </a:solidFill>
            </c:spPr>
          </c:dPt>
          <c:dPt>
            <c:idx val="6"/>
            <c:spPr>
              <a:solidFill>
                <a:srgbClr val="80868B"/>
              </a:solidFill>
            </c:spPr>
          </c:dPt>
          <c:dPt>
            <c:idx val="7"/>
            <c:spPr>
              <a:solidFill>
                <a:srgbClr val="80868B"/>
              </a:solidFill>
            </c:spPr>
          </c:dPt>
          <c:dPt>
            <c:idx val="8"/>
            <c:spPr>
              <a:solidFill>
                <a:srgbClr val="80868B"/>
              </a:solidFill>
            </c:spPr>
          </c:dPt>
          <c:cat>
            <c:strRef>
              <c:f>Sheet1!$A$2:$A$10</c:f>
              <c:strCache>
                <c:ptCount val="9"/>
                <c:pt idx="0">
                  <c:v>Закрыт (ЗАКР)</c:v>
                </c:pt>
                <c:pt idx="1">
                  <c:v>Выставлен в БЕ (ВСБЕ)</c:v>
                </c:pt>
                <c:pt idx="2">
                  <c:v>Принят СЗ (ПРСЗ)</c:v>
                </c:pt>
                <c:pt idx="3">
                  <c:v>Тех. закрыт (ТЗКР)</c:v>
                </c:pt>
                <c:pt idx="4">
                  <c:v>Факт проведён (ФХСМ)</c:v>
                </c:pt>
                <c:pt idx="5">
                  <c:v>В работе</c:v>
                </c:pt>
                <c:pt idx="6">
                  <c:v>Деблокирован, без факта</c:v>
                </c:pt>
                <c:pt idx="7">
                  <c:v>Согласован (СГГС)</c:v>
                </c:pt>
                <c:pt idx="8">
                  <c:v>На согласовании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1159.6</c:v>
                </c:pt>
                <c:pt idx="1">
                  <c:v>729.3</c:v>
                </c:pt>
                <c:pt idx="2">
                  <c:v>135.5</c:v>
                </c:pt>
                <c:pt idx="3">
                  <c:v>37.6</c:v>
                </c:pt>
                <c:pt idx="4">
                  <c:v>28.5</c:v>
                </c:pt>
                <c:pt idx="5">
                  <c:v>146.0</c:v>
                </c:pt>
                <c:pt idx="6">
                  <c:v>601.2</c:v>
                </c:pt>
                <c:pt idx="7">
                  <c:v>610.7</c:v>
                </c:pt>
                <c:pt idx="8">
                  <c:v>503.3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100">
                  <a:solidFill>
                    <a:srgbClr val="2A31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5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Методичка для планировщиков ТОиР АО «Развитие». Собрана по конструкторским документам ERP.13.9.2.x, регламентам ТОиР, памяткам ТОиР-72…96 и анализу выгрузок BW PM-M06 за 2022–2027 годы (422 774 заказа).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модулей идут в порядке жизни заказа: от того, на каком заводе его создать, до закрытия и анализа выгрузки. В конце — чек-лист, самопроверка и справочник транзакций.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правило из памяток ТОиР-77 и ТОиР-79. Ответственные (планирующий завод, группа плановиков, ответственное рабочее место) дальше наследуются ППР, сообщениями и заказами, поэтому ошибка на старте тянется по всей цепочке.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уровня оргструктуры. Завод расположения — где стоит техника. Завод планирования — где планируют работы и МТР и собирают затраты. Группа плановиков разграничивает полномочия внутри завода планирования. Коды заводов: ХХNN, где ХХ — первые два символа кода 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Фазу задаёт ровно один системный код. Это проверено на всех 422 774 заказах выгрузки PM-06. Позиции без статуса встречаются только в плане 2027 года: это позиции графика ППР, по которым заказ ещё не создан.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Порядковые пользовательские статусы — цепочка согласования; активен всегда один. ССПЛ и СГГС блокируют заказ для изменений. По упрощённой схеме заказ, укладывающийся в настроечные условия, деблокируют без СГГС. Аварийный заказ инженер ТОиР деблокирует сразу после создания.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 пользовательские статусы ставятся независимо друг от друга и фазу заказа не меняют. Они показывают, в какой план заказ включён и утверждён, что с бюджетом и материалами.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работ «Развития» добавлен шаг приёмки службой заказчика БЕ: ПРСЗ или НПСЗ. ВСБЕ ставится автоматически при регистрации выручки в ZMM_370. По памятке ТОиР-84 ФХСМ означает, что затрат больше не ожидается и заказ готов к ТЗКР.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Проверки из памятки ТОиР-77 для транзакций IW32 и IW38. Статусы ПРНТ/НПРН и ПРСЗ/НПСЗ взаимоисключающие: при установке одного система сама снимает другой.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«Параметры контроля закрытия заказов» в IW38 (памятка ТОиР-84). Техник по учёту добивается, чтобы все заказы были готовы к ТЗКР. Отчёт CONTROL — минимум раз в неделю для инженеров ТОиР и руководителей: базисное окончание — вчерашняя дата, проблемные заказы подсвечены красным. При большом объёме данных отключайте «Дополнительные поля».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Признак релевантности компонента для планирования потребности в материалах (ППМ). Пример из выгрузки PM-06 на 14.09.2026 по экскаваторам WK: на 2027 год не покрыто 525 млн ₽ потребности, из них 393 млн ₽ — на строках «Начиная с деблокирования» в ещё не деблокированных заказах. Закупка их пока не видит.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Памятки ТОиР-75, ТОиР-86 и ТОиР-96. Проверки срабатывают при изменении компонентов и сохранении заказа и берут данные ППМ из ночного среза (offline). Расхождения за день выравнивает ночной фоновый пересчёт; вручную — функция «ФОНОВЫЙ пересчёт заказов ТОРО» в IW38.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Заказы производственной БЕ мигрируют в «Развитие» копированием вместе со связанными сообщениями: функция «Массовое копирование заказов/сообщений» в IW38/IW39. Связь сообщений хранится в IW28/IW29 (поля «Скопированное сообщение», «Ссылка клиента»). По выгрузкам PM-06 найдено 1 725 пар «та же ЕО + вид работ + дата начала», в 147 из них факта нет ни у одной стороны.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Отменённую или перенесённую работу закрывают и (или) помечают на удаление. Помеченные на удаление заказы в выгрузку не попадают; закрытые без факта видны как ТЗКР/ЗАКР с нулевым фактом — по WK за 2026 год таких 67. Связи старого и нового заказа при переносе в PM-06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Правила подтверждены на выгрузках 2022–2027 годов. Диаграмма — программа ремонтов WK 2026 года по стадиям SAP на 14.09.2026: закрыто (ТЗКР и далее) 52 % плана в рублях; 93 деблокированных заказа на 601 млн ₽ не имеют ни факта, ни подтверждений.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Ошибки собраны по проверкам SAP из памяток и по тому, что видно в выгрузках PM-06.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Ритм работы, который закрывает типичные ошибки. Недельные пункты — к планёрке, месячные — к согласованию план-графика и закрытию периода.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Ответы — на следующем слайде. Предложите слушателям ответить самостоятельно, прежде чем показывать ответы.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Транзакции, упомянутые в методичке, с назначением для планировщика.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КД ERP.13.9.2.51–57 и .7; регламенты годового и оперативного планирования; памятки ТОиР-72 (блокировки), ТОиР-75 (законтрактованные потребности), ТОиР-77 (ключевые отличия SAP ТОРО в АО «Развитие»), ТОиР-79 (перенос заказов), ТОиР-84 (контроль закрытия в IW38), ТОиР-86 (срочность), ТОиР-91 (ЗНК), ТОиР-96 (СРОЧ/НВСО); памятка по контролю отражения факта; выгрузки BW PM-M06 2022–2027.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8.png"/><Relationship Id="rId9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1.jp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3.jpe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6.jpe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7.jpe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8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9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0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vmlDrawing" Target="../drawings/vmlDrawing1.vml"/><Relationship Id="rId20" Type="http://schemas.openxmlformats.org/officeDocument/2006/relationships/tags" Target="../tags/tag2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633472"/>
            <a:ext cx="5669280" cy="2953512"/>
          </a:xfrm>
        </p:spPr>
        <p:txBody>
          <a:bodyPr/>
          <a:lstStyle/>
          <a:p>
            <a:r>
              <a:rPr sz="4400"/>
              <a:t>SAP ТОРО</a:t>
            </a:r>
          </a:p>
          <a:p>
            <a:r>
              <a:rPr sz="4400"/>
              <a:t>для планировщика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777240" y="5751576"/>
            <a:ext cx="5669280" cy="868680"/>
          </a:xfrm>
        </p:spPr>
        <p:txBody>
          <a:bodyPr/>
          <a:lstStyle/>
          <a:p>
            <a:r>
              <a:t>Учебная методичка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Как устроена методичка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61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" y="1517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3EF0A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1517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Основы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496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Планирующий завод, оргструктура, кто за что отвечает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61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856" y="1517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2A3138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8696" y="1517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Жизненный цикл заказа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96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Фазы ОТКР → ДЕБЛ → ТЗКР → ЗАКР и согласование ПЛАН → СГГС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261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7616" y="1517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3EF0A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3456" y="1517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Выполнение и закрытие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496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Цепочка «Развития»: ПРНТ, ФХСМ, ПРСЗ, ВСБЕ и контроль в IW38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547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3803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2A3138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3803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Материалы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782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Признак «Резерв./заявка», срочность, невостребованные остатки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3547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62856" y="3803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3EF0A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3803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Перенос и отмена работ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782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Копии заказов в «Развитие», блокировки сроков, ЗНК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3547872"/>
            <a:ext cx="3520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57616" y="3803904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2A3138"/>
                </a:solidFill>
                <a:latin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803904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Практика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478231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Чтение PM-06, типичные ошибки, чек-лист и самопроверка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60533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Источники: КД ERP.13.9.2.x, регламенты ТОиР, памятки ТОиР-72…96, выгрузки BW PM-M06 2022–2027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Основы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На каком заводе создаётся заказ и кто за него отвечает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Главное правило: завод определяют ресурсы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11109960" cy="868680"/>
          </a:xfrm>
          <a:prstGeom prst="roundRect">
            <a:avLst>
              <a:gd name="adj" fmla="val 1894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Чьими ресурсами выполняются работы, </a:t>
            </a:r>
            <a:r>
              <a:rPr sz="2000" b="1" i="0">
                <a:solidFill>
                  <a:srgbClr val="3EF0AF"/>
                </a:solidFill>
                <a:latin typeface="Arial"/>
              </a:rPr>
              <a:t>тот планирующий завод и ставится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в сообщении, ППР и заказе ТОРО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2313432"/>
            <a:ext cx="5417820" cy="777240"/>
          </a:xfrm>
          <a:prstGeom prst="roundRect">
            <a:avLst>
              <a:gd name="adj" fmla="val 18823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" y="2770632"/>
            <a:ext cx="541782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2313432"/>
            <a:ext cx="52349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Работы выполняет АО «Развитие»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898648"/>
            <a:ext cx="5052059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Сообщения и заказы — с планирующим заводом филиала «Развития»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ППР на обходы переносятся в «Развитие»: обходы делает ремонтный персонал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Давальческие МТР списываются со специального склада завода БЕ: в компонентах заказа меняют завод и склад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313432"/>
            <a:ext cx="541782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1636" y="2770632"/>
            <a:ext cx="541782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5" y="2313432"/>
            <a:ext cx="52349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Работы выполняет производственная БЕ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898648"/>
            <a:ext cx="5052059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500"/>
              </a:spcAft>
              <a:buClr>
                <a:srgbClr val="80868B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Документы остаются с планирующим заводом БЕ и в «Развитие» не переносятся</a:t>
            </a:r>
          </a:p>
          <a:p>
            <a:pPr algn="l" marL="182880" indent="-182880">
              <a:spcAft>
                <a:spcPts val="500"/>
              </a:spcAft>
              <a:buClr>
                <a:srgbClr val="80868B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ППР на ЕТО остаются в БЕ: ЕТО выполняет эксплуатация</a:t>
            </a:r>
          </a:p>
          <a:p>
            <a:pPr algn="l" marL="182880" indent="-182880">
              <a:spcAft>
                <a:spcPts val="500"/>
              </a:spcAft>
              <a:buClr>
                <a:srgbClr val="80868B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Технологические карты не переносятся: в ППР «Развития» используются карты БЕ, рабочие места подставляет настройка MEBOR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5056632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Недельный отзыв ППР.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По группе «Механика», включая ЕТО, отзывы для АО «Полюс Вернинское» и АО «Развитие» выполняют планировщики «Развития»: ремонтный персонал механики переведён в «Развитие».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Оргструктура ТОРО в SAP</a:t>
            </a:r>
          </a:p>
        </p:txBody>
      </p:sp>
      <p:sp>
        <p:nvSpPr>
          <p:cNvPr id="3" name="Pentagon 2"/>
          <p:cNvSpPr/>
          <p:nvPr/>
        </p:nvSpPr>
        <p:spPr>
          <a:xfrm>
            <a:off x="539496" y="1261872"/>
            <a:ext cx="3642360" cy="868680"/>
          </a:xfrm>
          <a:prstGeom prst="homePlate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60603" bIns="18288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Завод расположения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313432"/>
            <a:ext cx="3185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Где физически стоит оборудование: ГТК, ЗИФ, управляющие офисы, перевалочные базы</a:t>
            </a:r>
          </a:p>
        </p:txBody>
      </p:sp>
      <p:sp>
        <p:nvSpPr>
          <p:cNvPr id="5" name="Chevron 4"/>
          <p:cNvSpPr/>
          <p:nvPr/>
        </p:nvSpPr>
        <p:spPr>
          <a:xfrm>
            <a:off x="4273296" y="1261872"/>
            <a:ext cx="3642360" cy="86868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4845" tIns="18288" rIns="260603" bIns="18288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Завод планирования ТОРО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0456" y="2313432"/>
            <a:ext cx="3185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Где планируют работы и потребность в МТР, ведут остатки и собирают затраты. Один к одному с логистическим заводом</a:t>
            </a:r>
          </a:p>
        </p:txBody>
      </p:sp>
      <p:sp>
        <p:nvSpPr>
          <p:cNvPr id="7" name="Chevron 6"/>
          <p:cNvSpPr/>
          <p:nvPr/>
        </p:nvSpPr>
        <p:spPr>
          <a:xfrm>
            <a:off x="8007096" y="1261872"/>
            <a:ext cx="3642360" cy="868680"/>
          </a:xfrm>
          <a:prstGeom prst="chevron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4845" tIns="18288" rIns="260603" bIns="18288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Группа плановиков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4256" y="2313432"/>
            <a:ext cx="3185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Подразделение внутри завода: механика, энергетика, КИПиА. По ней разграничены полномочия на заказы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3840480"/>
            <a:ext cx="111099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397763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Откуда заказ берёт ответственных</a:t>
            </a:r>
          </a:p>
        </p:txBody>
      </p:sp>
      <p:sp>
        <p:nvSpPr>
          <p:cNvPr id="11" name="Pentagon 10"/>
          <p:cNvSpPr/>
          <p:nvPr/>
        </p:nvSpPr>
        <p:spPr>
          <a:xfrm>
            <a:off x="813815" y="4434840"/>
            <a:ext cx="2148840" cy="566928"/>
          </a:xfrm>
          <a:prstGeom prst="homePlate">
            <a:avLst>
              <a:gd name="adj" fmla="val 32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170078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ТМ / ЕО</a:t>
            </a:r>
          </a:p>
        </p:txBody>
      </p:sp>
      <p:sp>
        <p:nvSpPr>
          <p:cNvPr id="12" name="Chevron 11"/>
          <p:cNvSpPr/>
          <p:nvPr/>
        </p:nvSpPr>
        <p:spPr>
          <a:xfrm>
            <a:off x="3008376" y="4434840"/>
            <a:ext cx="2148840" cy="566928"/>
          </a:xfrm>
          <a:prstGeom prst="chevron">
            <a:avLst>
              <a:gd name="adj" fmla="val 32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8109" tIns="18288" rIns="170078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План ППР</a:t>
            </a:r>
          </a:p>
        </p:txBody>
      </p:sp>
      <p:sp>
        <p:nvSpPr>
          <p:cNvPr id="13" name="Chevron 12"/>
          <p:cNvSpPr/>
          <p:nvPr/>
        </p:nvSpPr>
        <p:spPr>
          <a:xfrm>
            <a:off x="5202936" y="4434840"/>
            <a:ext cx="2148840" cy="566928"/>
          </a:xfrm>
          <a:prstGeom prst="chevron">
            <a:avLst>
              <a:gd name="adj" fmla="val 32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8109" tIns="18288" rIns="170078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Сообщение</a:t>
            </a:r>
          </a:p>
        </p:txBody>
      </p:sp>
      <p:sp>
        <p:nvSpPr>
          <p:cNvPr id="14" name="Chevron 13"/>
          <p:cNvSpPr/>
          <p:nvPr/>
        </p:nvSpPr>
        <p:spPr>
          <a:xfrm>
            <a:off x="7397496" y="4434840"/>
            <a:ext cx="2148840" cy="566928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8109" tIns="18288" rIns="170078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Заказ ТОРО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" y="5138928"/>
            <a:ext cx="105613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После отзыва ППР ответственных в заказе изменить нельзя.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Массово сменить ответственных можно заранее: в ТМ — IL05, в ЕО — IE05, в позициях ППР — IP17.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Жизненный цикл заказа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Фаза заказа и цепочка согласования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Фаза заказа — один системный статус</a:t>
            </a:r>
          </a:p>
        </p:txBody>
      </p:sp>
      <p:sp>
        <p:nvSpPr>
          <p:cNvPr id="3" name="Pentagon 2"/>
          <p:cNvSpPr/>
          <p:nvPr/>
        </p:nvSpPr>
        <p:spPr>
          <a:xfrm>
            <a:off x="539496" y="1307592"/>
            <a:ext cx="2148840" cy="914400"/>
          </a:xfrm>
          <a:prstGeom prst="homePlate">
            <a:avLst>
              <a:gd name="adj" fmla="val 32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74320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нет статуса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2404872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Позиция ППР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Заказа ещё нет. Не план и не потребность</a:t>
            </a:r>
          </a:p>
        </p:txBody>
      </p:sp>
      <p:sp>
        <p:nvSpPr>
          <p:cNvPr id="5" name="Chevron 4"/>
          <p:cNvSpPr/>
          <p:nvPr/>
        </p:nvSpPr>
        <p:spPr>
          <a:xfrm>
            <a:off x="2779776" y="1307592"/>
            <a:ext cx="2148840" cy="91440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274320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ОТКР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9504" y="2404872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Открыт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Планирование и согласование</a:t>
            </a:r>
          </a:p>
        </p:txBody>
      </p:sp>
      <p:sp>
        <p:nvSpPr>
          <p:cNvPr id="7" name="Chevron 6"/>
          <p:cNvSpPr/>
          <p:nvPr/>
        </p:nvSpPr>
        <p:spPr>
          <a:xfrm>
            <a:off x="5020056" y="1307592"/>
            <a:ext cx="2148840" cy="91440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274320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ДЕБЛ · ЧДЕБ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2404872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Деблокирован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Разрешены проводки: подтверждения, списание МТР, счета</a:t>
            </a:r>
          </a:p>
        </p:txBody>
      </p:sp>
      <p:sp>
        <p:nvSpPr>
          <p:cNvPr id="9" name="Chevron 8"/>
          <p:cNvSpPr/>
          <p:nvPr/>
        </p:nvSpPr>
        <p:spPr>
          <a:xfrm>
            <a:off x="7260336" y="1307592"/>
            <a:ext cx="2148840" cy="914400"/>
          </a:xfrm>
          <a:prstGeom prst="chevron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274320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ТЗКР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0064" y="2404872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Технически закрыт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Только из ДЕБЛ. Работы завершены</a:t>
            </a:r>
          </a:p>
        </p:txBody>
      </p:sp>
      <p:sp>
        <p:nvSpPr>
          <p:cNvPr id="11" name="Chevron 10"/>
          <p:cNvSpPr/>
          <p:nvPr/>
        </p:nvSpPr>
        <p:spPr>
          <a:xfrm>
            <a:off x="9500616" y="1307592"/>
            <a:ext cx="2148840" cy="914400"/>
          </a:xfrm>
          <a:prstGeom prst="chevron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274320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ЗАКР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0344" y="2404872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Закрыт коммерчески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Только из ТЗКР при нулевом сальдо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3977639"/>
            <a:ext cx="6766560" cy="1783080"/>
          </a:xfrm>
          <a:prstGeom prst="roundRect">
            <a:avLst>
              <a:gd name="adj" fmla="val 923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114800"/>
            <a:ext cx="621792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800"/>
              </a:spcAft>
              <a:buNone/>
            </a:pPr>
            <a:r>
              <a:rPr sz="2200" b="1" i="0">
                <a:solidFill>
                  <a:srgbClr val="3EF0AF"/>
                </a:solidFill>
                <a:latin typeface="Arial"/>
              </a:rPr>
              <a:t>Заказ закрыт, если стоит ТЗКР или ЗАКР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Остаток «план − факт» у закрытого заказа — не потребность. Заказ, закрытый без факта, — это отменённая или перенесённая работа.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6" y="3977639"/>
            <a:ext cx="4069080" cy="178308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Удалённые заказы (МТКУ) в отчёты BW не попадают</a:t>
            </a:r>
          </a:p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Позиции ППР — номера 1ХХХХХХХХХХХ из диапазона планов ТОРО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Согласование заказа: кто ставит статус</a:t>
            </a:r>
          </a:p>
        </p:txBody>
      </p:sp>
      <p:sp>
        <p:nvSpPr>
          <p:cNvPr id="3" name="Pentagon 2"/>
          <p:cNvSpPr/>
          <p:nvPr/>
        </p:nvSpPr>
        <p:spPr>
          <a:xfrm>
            <a:off x="539496" y="1261872"/>
            <a:ext cx="2148840" cy="777240"/>
          </a:xfrm>
          <a:prstGeom prst="homePlate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33172" bIns="18288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2221991"/>
            <a:ext cx="2039112" cy="214884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340863"/>
            <a:ext cx="173736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Система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Ставится автоматически при создании заказа</a:t>
            </a:r>
          </a:p>
        </p:txBody>
      </p:sp>
      <p:sp>
        <p:nvSpPr>
          <p:cNvPr id="6" name="Chevron 5"/>
          <p:cNvSpPr/>
          <p:nvPr/>
        </p:nvSpPr>
        <p:spPr>
          <a:xfrm>
            <a:off x="2779776" y="1261872"/>
            <a:ext cx="2148840" cy="777240"/>
          </a:xfrm>
          <a:prstGeom prst="chevron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6440" tIns="18288" rIns="233172" bIns="18288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СГПЛ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9776" y="2221991"/>
            <a:ext cx="2039112" cy="2148840"/>
          </a:xfrm>
          <a:prstGeom prst="roundRect">
            <a:avLst>
              <a:gd name="adj" fmla="val 7174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2340863"/>
            <a:ext cx="173736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Планировщик ТОиР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Проверил лимиты, присвоил СПП-элемент, отправил на согласование</a:t>
            </a:r>
          </a:p>
        </p:txBody>
      </p:sp>
      <p:sp>
        <p:nvSpPr>
          <p:cNvPr id="9" name="Chevron 8"/>
          <p:cNvSpPr/>
          <p:nvPr/>
        </p:nvSpPr>
        <p:spPr>
          <a:xfrm>
            <a:off x="5020056" y="1261872"/>
            <a:ext cx="2148840" cy="77724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6440" tIns="18288" rIns="233172" bIns="18288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ССПЛ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0056" y="2221991"/>
            <a:ext cx="2039112" cy="214884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2340863"/>
            <a:ext cx="173736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Старший планировщик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Проанализировал в ZPM_PLAN и согласовал. Заказ блокируется для изменений</a:t>
            </a:r>
          </a:p>
        </p:txBody>
      </p:sp>
      <p:sp>
        <p:nvSpPr>
          <p:cNvPr id="12" name="Chevron 11"/>
          <p:cNvSpPr/>
          <p:nvPr/>
        </p:nvSpPr>
        <p:spPr>
          <a:xfrm>
            <a:off x="7260336" y="1261872"/>
            <a:ext cx="2148840" cy="77724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6440" tIns="18288" rIns="233172" bIns="18288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СГГС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2221991"/>
            <a:ext cx="2039112" cy="214884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2340863"/>
            <a:ext cx="173736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Главный специалист ТОиР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Проверил корректность планирования и согласовал</a:t>
            </a:r>
          </a:p>
        </p:txBody>
      </p:sp>
      <p:sp>
        <p:nvSpPr>
          <p:cNvPr id="15" name="Chevron 14"/>
          <p:cNvSpPr/>
          <p:nvPr/>
        </p:nvSpPr>
        <p:spPr>
          <a:xfrm>
            <a:off x="9500616" y="1261872"/>
            <a:ext cx="2148840" cy="77724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6440" tIns="18288" rIns="233172" bIns="18288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ДЕБЛ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6" y="2221991"/>
            <a:ext cx="2039112" cy="214884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340863"/>
            <a:ext cx="173736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Старший планировщик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Деблокирует согласованные заказы: можно отражать факт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4617720"/>
            <a:ext cx="3520440" cy="1234440"/>
          </a:xfrm>
          <a:prstGeom prst="roundRect">
            <a:avLst>
              <a:gd name="adj" fmla="val 11851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7091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3EF0AF"/>
                </a:solidFill>
                <a:latin typeface="Arial"/>
              </a:rPr>
              <a:t>Один активный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Порядковый статус всегда один. Два сразу — заказ был согласован и сброшен обратно в план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4617720"/>
            <a:ext cx="3520440" cy="1234440"/>
          </a:xfrm>
          <a:prstGeom prst="roundRect">
            <a:avLst>
              <a:gd name="adj" fmla="val 11851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47091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3EF0AF"/>
                </a:solidFill>
                <a:latin typeface="Arial"/>
              </a:rPr>
              <a:t>Упрощённая схема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Заказ в пределах настроечных условий деблокируют без согласования старшим и главным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4617720"/>
            <a:ext cx="3520440" cy="1234440"/>
          </a:xfrm>
          <a:prstGeom prst="roundRect">
            <a:avLst>
              <a:gd name="adj" fmla="val 11851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7091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3EF0AF"/>
                </a:solidFill>
                <a:latin typeface="Arial"/>
              </a:rPr>
              <a:t>Активный ЗНК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Пока есть необработанный запрос на корректировку, сроки и статусы согласования не меняются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Статусы планов, бюджета и материалов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16151"/>
            <a:ext cx="2606040" cy="777240"/>
          </a:xfrm>
          <a:prstGeom prst="roundRect">
            <a:avLst>
              <a:gd name="adj" fmla="val 18823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673352"/>
            <a:ext cx="2606040" cy="4160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21615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Годовой план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856231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ГОД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1819655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включён в годовой план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642615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ПТОГ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216" y="2606039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согласован ПТО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42900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ГИП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216" y="3392424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согласован главным инженером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4215383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УТВГ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178807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утверждён в программе ремонтов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500176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УТВП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" y="496519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 программе и бюджете (авто из MCB)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4136" y="1216151"/>
            <a:ext cx="26060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74136" y="1673352"/>
            <a:ext cx="2606040" cy="4160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21615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Месяц и неделя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1856231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1819655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включён в месячный план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2642615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ПТОМ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606039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согласован ПТО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342900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УТВМ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3392424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утверждён в месячном плане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2152" y="4215383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НЕД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4178807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включён в недельный план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2152" y="500176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УТВН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96519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утверждён в недельном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16151"/>
            <a:ext cx="26060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1673352"/>
            <a:ext cx="2606040" cy="4160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121615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Бюджет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1856231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ТКБЕ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1819655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бюджет утверждён ТК БЕ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2642615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ТРКБ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2606039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нужна корректировка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36792" y="342900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КОРБ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7496" y="3392424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выделен и скорректирован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6792" y="4215383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ОТКБ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4178807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корректировка отклонена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500176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ПЗТГ · ПЗТМ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7496" y="496519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прогноз завершения года / месяца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43416" y="1216151"/>
            <a:ext cx="2606040" cy="777240"/>
          </a:xfrm>
          <a:prstGeom prst="roundRect">
            <a:avLst>
              <a:gd name="adj" fmla="val 18823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43416" y="1673352"/>
            <a:ext cx="2606040" cy="4160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43416" y="121615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Материалы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71432" y="1856231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МТРЦ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2136" y="1819655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МТР оценены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71432" y="2642615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МТРН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32136" y="2606039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есть МТР без цены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71432" y="342900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СРОЧ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2136" y="3392424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срочная закупка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71432" y="4215383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ТОПЗ · СОПЗ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32136" y="4178807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опережающая закупка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71432" y="500176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/>
          <a:lstStyle/>
          <a:p>
            <a:pPr algn="ctr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НВСО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2136" y="496519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невостребованные остатки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Выполнение и закрытие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Цепочка закрытия АО «Развитие» и контроль в IW38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Цепочка закрытия заказа в АО «Развитие»</a:t>
            </a:r>
          </a:p>
        </p:txBody>
      </p:sp>
      <p:sp>
        <p:nvSpPr>
          <p:cNvPr id="3" name="Pentagon 2"/>
          <p:cNvSpPr/>
          <p:nvPr/>
        </p:nvSpPr>
        <p:spPr>
          <a:xfrm>
            <a:off x="539496" y="1216151"/>
            <a:ext cx="2708910" cy="822960"/>
          </a:xfrm>
          <a:prstGeom prst="homePlate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ДЕБЛ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17627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Деблокирован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Проводки разрешены</a:t>
            </a:r>
          </a:p>
        </p:txBody>
      </p:sp>
      <p:sp>
        <p:nvSpPr>
          <p:cNvPr id="5" name="Chevron 4"/>
          <p:cNvSpPr/>
          <p:nvPr/>
        </p:nvSpPr>
        <p:spPr>
          <a:xfrm>
            <a:off x="3339846" y="121615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ПДТВ · ЧПДТ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7006" y="217627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Подтверждения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Трудозатраты ХС подтверждены полностью или частично</a:t>
            </a:r>
          </a:p>
        </p:txBody>
      </p:sp>
      <p:sp>
        <p:nvSpPr>
          <p:cNvPr id="7" name="Chevron 6"/>
          <p:cNvSpPr/>
          <p:nvPr/>
        </p:nvSpPr>
        <p:spPr>
          <a:xfrm>
            <a:off x="6140196" y="121615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ПРНТ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217627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Работы приняты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Для заказов с УСО. НПРН — не приняты</a:t>
            </a:r>
          </a:p>
        </p:txBody>
      </p:sp>
      <p:sp>
        <p:nvSpPr>
          <p:cNvPr id="9" name="Chevron 8"/>
          <p:cNvSpPr/>
          <p:nvPr/>
        </p:nvSpPr>
        <p:spPr>
          <a:xfrm>
            <a:off x="8940546" y="121615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ФХСМ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7706" y="217627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Факт проведён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ХС, работы подрядчика, МТР — затрат больше не будет</a:t>
            </a:r>
          </a:p>
        </p:txBody>
      </p:sp>
      <p:sp>
        <p:nvSpPr>
          <p:cNvPr id="11" name="Pentagon 10"/>
          <p:cNvSpPr/>
          <p:nvPr/>
        </p:nvSpPr>
        <p:spPr>
          <a:xfrm>
            <a:off x="539496" y="3593591"/>
            <a:ext cx="2708910" cy="822960"/>
          </a:xfrm>
          <a:prstGeom prst="homePlate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ТЗКР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55371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Тех. закрытие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Работы завершены, заказ закрыт технически</a:t>
            </a:r>
          </a:p>
        </p:txBody>
      </p:sp>
      <p:sp>
        <p:nvSpPr>
          <p:cNvPr id="13" name="Chevron 12"/>
          <p:cNvSpPr/>
          <p:nvPr/>
        </p:nvSpPr>
        <p:spPr>
          <a:xfrm>
            <a:off x="3339846" y="359359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ПРСЗ · НПСЗ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7006" y="455371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Приёмка СЗ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Служба заказчика БЕ приняла или не приняла работы</a:t>
            </a:r>
          </a:p>
        </p:txBody>
      </p:sp>
      <p:sp>
        <p:nvSpPr>
          <p:cNvPr id="15" name="Chevron 14"/>
          <p:cNvSpPr/>
          <p:nvPr/>
        </p:nvSpPr>
        <p:spPr>
          <a:xfrm>
            <a:off x="6140196" y="359359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ВСБЕ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6" y="455371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Выставлен в БЕ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Автоматически при регистрации выручки (ZMM_370)</a:t>
            </a:r>
          </a:p>
        </p:txBody>
      </p:sp>
      <p:sp>
        <p:nvSpPr>
          <p:cNvPr id="17" name="Chevron 16"/>
          <p:cNvSpPr/>
          <p:nvPr/>
        </p:nvSpPr>
        <p:spPr>
          <a:xfrm>
            <a:off x="8940546" y="3593591"/>
            <a:ext cx="2708910" cy="822960"/>
          </a:xfrm>
          <a:prstGeom prst="chevron">
            <a:avLst>
              <a:gd name="adj" fmla="val 32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643" tIns="18288" rIns="246888" bIns="18288"/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ЗАКР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7706" y="4553712"/>
            <a:ext cx="229742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Закрыт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Коммерческое закрытие, сальдо =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" y="3319272"/>
            <a:ext cx="11109960" cy="18288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Что проверяет система на каждом шаге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11109960" cy="502920"/>
          </a:xfrm>
          <a:prstGeom prst="roundRect">
            <a:avLst>
              <a:gd name="adj" fmla="val 4909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170432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Действие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170432"/>
            <a:ext cx="55321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Условие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616" y="1170432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Если нарушено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1792224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9222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Поставить ПРНТ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792224"/>
            <a:ext cx="5532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Заказ деблокирован (ДЕБЛ)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54896" y="1938528"/>
            <a:ext cx="2011679" cy="36576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Статус не ставится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2523744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52374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Технически закрыть (ТЗКР)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523744"/>
            <a:ext cx="5532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Есть ПРНТ — для заказов с УСО, или ПДТВ/ЧПДТ — для заказов с ФОТ. Нет НПРН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2670048"/>
            <a:ext cx="2011679" cy="36576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Закрыть нельзя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255263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55263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Поставить ПРСЗ или НПСЗ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3255263"/>
            <a:ext cx="5532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Заказ в ТЗКР, у сотрудника роль «Специалист службы заказчика БЕ»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6" y="3401568"/>
            <a:ext cx="2011679" cy="36576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Статус не ставится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" y="3986783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86783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После ПРСЗ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986783"/>
            <a:ext cx="5532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Запрещены счета (RMRP), подтверждения (RMRU, RMPH), списание МТР (RMWA), акты подрядчика (RMWE)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54896" y="4133087"/>
            <a:ext cx="2011679" cy="36576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Проводка отклоняется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4718304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71830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Снять ПРСЗ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4718304"/>
            <a:ext cx="5532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Только роль «Руководитель службы заказчика БЕ» и только до ВСБЕ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4864608"/>
            <a:ext cx="2011679" cy="36576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После ВСБЕ — ошибка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5440680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5B6167"/>
                </a:solidFill>
                <a:latin typeface="Arial"/>
              </a:rPr>
              <a:t>При сохранении — предупреждения: </a:t>
            </a:r>
            <a:r>
              <a:rPr sz="1200" b="0" i="0">
                <a:solidFill>
                  <a:srgbClr val="5B6167"/>
                </a:solidFill>
                <a:latin typeface="Arial"/>
              </a:rPr>
              <a:t>МТР подрядчика не сходятся с услугой по плану или факту; при ТЗКР счета по УСО проведены не полностью; ОС заказа не совпадает с ОС единицы оборудования; дата списания ОС раньше базисного начала.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Контроль закрытия в IW38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6675120" cy="374903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5" y="128016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Статус отражения факта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5" y="1645919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Код = полнота + категория затрат, например 1Н-СМ — списание МТР не проведено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" y="2130552"/>
            <a:ext cx="1097280" cy="685800"/>
          </a:xfrm>
          <a:prstGeom prst="roundRect">
            <a:avLst>
              <a:gd name="adj" fmla="val 18666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1Н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не проведено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2536" y="2130552"/>
            <a:ext cx="1097280" cy="685800"/>
          </a:xfrm>
          <a:prstGeom prst="roundRect">
            <a:avLst>
              <a:gd name="adj" fmla="val 18666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2Ч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частично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2130552"/>
            <a:ext cx="1097280" cy="685800"/>
          </a:xfrm>
          <a:prstGeom prst="roundRect">
            <a:avLst>
              <a:gd name="adj" fmla="val 18666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3П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rgbClr val="2A3138"/>
                </a:solidFill>
                <a:latin typeface="Arial"/>
              </a:rPr>
              <a:t>проведено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ХС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299923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подтверждение работ ХС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" y="3383279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РП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3364991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подтверждение работ подрядчика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" y="3749039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5" y="373075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списание МТР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" y="41148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СФ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5" y="409651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счёт-фактура по УСО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" y="44805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СФП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5" y="446227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счёт-фактура по МТР подрядчика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130552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× 5 категорий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на каждый уровень полноты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170432"/>
            <a:ext cx="4160520" cy="1143000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1261872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Статус периода проводок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Проводки вне базисных сроков заказа — по каждой категории затрат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2496312"/>
            <a:ext cx="4160520" cy="2423160"/>
          </a:xfrm>
          <a:prstGeom prst="roundRect">
            <a:avLst>
              <a:gd name="adj" fmla="val 6792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587752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3EF0AF"/>
                </a:solidFill>
                <a:latin typeface="Arial"/>
              </a:rPr>
              <a:t>Статус приёмки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17536" y="304495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#ТЗКР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3026664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всё проведено — пора закрыть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17536" y="34930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#ПРСЗ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34747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пора принять службой заказчика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17536" y="394106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#НПСЗ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392277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заказ блокирует выручку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17536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#ВСБЕ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43708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выставлен вне периода приёмки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" y="5029200"/>
            <a:ext cx="11109960" cy="777240"/>
          </a:xfrm>
          <a:prstGeom prst="roundRect">
            <a:avLst>
              <a:gd name="adj" fmla="val 18823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Раз в неделю: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IW38 → формат «CONTROL — контроль заказов» → своё ТМ, базисное окончание = вчера → фильтры «Нет подтверждения работ» и «Нет списания МТР». Отменили работу — закройте заказ и пометьте на удаление или перенесите сроки.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Материалы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Когда закупка увидит потребность заказа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«Резерв./заявка»: когда закупка видит потребность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16151"/>
            <a:ext cx="2514600" cy="1005840"/>
          </a:xfrm>
          <a:prstGeom prst="roundRect">
            <a:avLst>
              <a:gd name="adj" fmla="val 14545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90195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216151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Немедленно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29968"/>
            <a:ext cx="2148840" cy="21488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Потребность уходит в ППМ сразу при сохранении заказа. Значение по умолчанию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1216151"/>
            <a:ext cx="2514600" cy="1005840"/>
          </a:xfrm>
          <a:prstGeom prst="roundRect">
            <a:avLst>
              <a:gd name="adj" fmla="val 14545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82696" y="190195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216151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Начиная с деблокирования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029968"/>
            <a:ext cx="2148840" cy="21488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В ППМ только после ДЕБЛ. До деблокирования закупка потребность не видит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5896" y="1216151"/>
            <a:ext cx="2514600" cy="1005840"/>
          </a:xfrm>
          <a:prstGeom prst="roundRect">
            <a:avLst>
              <a:gd name="adj" fmla="val 14545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25896" y="190195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216151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Никогда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029968"/>
            <a:ext cx="2148840" cy="21488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400" b="0" i="0">
                <a:solidFill>
                  <a:srgbClr val="2A3138"/>
                </a:solidFill>
                <a:latin typeface="Arial"/>
              </a:rPr>
              <a:t>В ППМ и закупочную заявку не попадает. Покрыть можно только со склада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4462272"/>
            <a:ext cx="8001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«Никогда» ставится автоматически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справочным позициям (S) вместе с «Калькуляция: не релевантно» и движениям оборотного фонда с неисправной партией.</a:t>
            </a:r>
          </a:p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Поздний деблок = поздняя закупка.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Планируйте деблокирование с запасом на срок поставки МТР.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9096" y="1216151"/>
            <a:ext cx="2880360" cy="4663440"/>
          </a:xfrm>
          <a:prstGeom prst="roundRect">
            <a:avLst>
              <a:gd name="adj" fmla="val 6349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1444752"/>
            <a:ext cx="2331720" cy="4297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0"/>
              </a:spcAft>
              <a:buNone/>
            </a:pPr>
            <a:r>
              <a:rPr sz="1300" b="0" i="0">
                <a:solidFill>
                  <a:srgbClr val="D8D8D8"/>
                </a:solidFill>
                <a:latin typeface="Arial"/>
              </a:rPr>
              <a:t>Пример: WK, план 2027</a:t>
            </a:r>
          </a:p>
          <a:p>
            <a:pPr algn="l">
              <a:spcAft>
                <a:spcPts val="200"/>
              </a:spcAft>
              <a:buNone/>
            </a:pPr>
            <a:r>
              <a:rPr sz="3000" b="1" i="0">
                <a:solidFill>
                  <a:srgbClr val="3EF0AF"/>
                </a:solidFill>
                <a:latin typeface="Arial"/>
              </a:rPr>
              <a:t>393 млн ₽</a:t>
            </a:r>
          </a:p>
          <a:p>
            <a:pPr algn="l">
              <a:spcAft>
                <a:spcPts val="16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</a:rPr>
              <a:t>из 525 млн ₽ дефицита — строки «Начиная с деблокирования»: закупка их пока не видит</a:t>
            </a:r>
          </a:p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81 млн ₽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D8D8D8"/>
                </a:solidFill>
                <a:latin typeface="Arial"/>
              </a:rPr>
              <a:t>строки «Никогда»: в заявку не попадут совсем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60533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Источник: выгрузка BW PM-M06 на 14.09.2026, расчёт обеспеченности WK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Срочность (СРОЧ) и невостребованные остатки (НВСО)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5417820" cy="822960"/>
          </a:xfrm>
          <a:prstGeom prst="roundRect">
            <a:avLst>
              <a:gd name="adj" fmla="val 17777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627631"/>
            <a:ext cx="5417820" cy="425196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170432"/>
            <a:ext cx="54178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СРОЧ — срочная потребность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170432"/>
            <a:ext cx="5417820" cy="822960"/>
          </a:xfrm>
          <a:prstGeom prst="roundRect">
            <a:avLst>
              <a:gd name="adj" fmla="val 1777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1636" y="1627631"/>
            <a:ext cx="5417820" cy="425196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0432"/>
            <a:ext cx="54178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НВСО — невостребованные остатки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" y="1856231"/>
            <a:ext cx="4869180" cy="1143000"/>
          </a:xfrm>
          <a:prstGeom prst="roundRect">
            <a:avLst>
              <a:gd name="adj" fmla="val 11200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5B6167"/>
                </a:solidFill>
                <a:latin typeface="Arial"/>
              </a:rPr>
              <a:t>Позиция срочная, если</a:t>
            </a:r>
          </a:p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сегодня + срок поставки + срок согласования &gt; дата потребности</a:t>
            </a:r>
          </a:p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и свободных остатков не хватает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" y="3182111"/>
            <a:ext cx="486918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Остатки считаются с перевалочной базой и прямыми аналогами МТО, без запасов проектов</a:t>
            </a:r>
          </a:p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Не передана в ППМ: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признак снимается, когда остатков стало хватать</a:t>
            </a:r>
          </a:p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Передана в ППМ («Немедленно»):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снимается только по сроку — когда дата вышла за срок поставки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955" y="1856231"/>
            <a:ext cx="486918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При удалении, сокращении или переносе потребности система сравнивает:</a:t>
            </a:r>
          </a:p>
          <a:p>
            <a:pPr algn="l" marL="182880" indent="-182880">
              <a:spcAft>
                <a:spcPts val="2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заявленную потребность на 2 года</a:t>
            </a:r>
          </a:p>
          <a:p>
            <a:pPr algn="l" marL="182880" indent="-182880">
              <a:spcAft>
                <a:spcPts val="8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запас на складе + спецификации к договору</a:t>
            </a:r>
          </a:p>
          <a:p>
            <a:pPr algn="l" marL="182880" indent="-182880">
              <a:spcAft>
                <a:spcPts val="200"/>
              </a:spcAft>
              <a:buClr>
                <a:srgbClr val="80868B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Профицит в текущем году —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предупреждение</a:t>
            </a:r>
          </a:p>
          <a:p>
            <a:pPr algn="l" marL="182880" indent="-182880">
              <a:spcAft>
                <a:spcPts val="400"/>
              </a:spcAft>
              <a:buClr>
                <a:srgbClr val="80868B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Профицит в следующем году — </a:t>
            </a:r>
            <a:r>
              <a:rPr sz="1300" b="0" i="0">
                <a:solidFill>
                  <a:srgbClr val="2A3138"/>
                </a:solidFill>
                <a:latin typeface="Arial"/>
              </a:rPr>
              <a:t>ошибка: удалить может главный специалист ТОиР УК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5955" y="4462272"/>
            <a:ext cx="4869180" cy="1280160"/>
          </a:xfrm>
          <a:prstGeom prst="roundRect">
            <a:avLst>
              <a:gd name="adj" fmla="val 1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3EF0AF"/>
                </a:solidFill>
                <a:latin typeface="Arial"/>
              </a:rPr>
              <a:t>Перед сокращением проверьте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ZMM_MRP_MAINT: варианты NVSO_SVERKA и NVSO_ZNPSKL, склад — MB52. После удаления или ТЗКР с отказом ставится НВСО, его не снять.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Перенос и отмена работ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Копии заказов, блокировки сроков, запросы на корректировку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Перенос в «Развитие» — это копия, а не переназначение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353312"/>
            <a:ext cx="329184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444752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A3138"/>
                </a:solidFill>
                <a:latin typeface="Arial"/>
              </a:rPr>
              <a:t>Заказ БЕ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Оригинал на планирующем заводе производственной БЕ</a:t>
            </a:r>
          </a:p>
        </p:txBody>
      </p:sp>
      <p:sp>
        <p:nvSpPr>
          <p:cNvPr id="5" name="Pentagon 4"/>
          <p:cNvSpPr/>
          <p:nvPr/>
        </p:nvSpPr>
        <p:spPr>
          <a:xfrm>
            <a:off x="4014216" y="1673352"/>
            <a:ext cx="4160520" cy="914400"/>
          </a:xfrm>
          <a:prstGeom prst="homePlate">
            <a:avLst>
              <a:gd name="adj" fmla="val 32000"/>
            </a:avLst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74320" bIns="18288"/>
          <a:lstStyle/>
          <a:p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Массовое копирование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заказов/сообщений в IW38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7616" y="1353312"/>
            <a:ext cx="3291840" cy="1554480"/>
          </a:xfrm>
          <a:prstGeom prst="roundRect">
            <a:avLst>
              <a:gd name="adj" fmla="val 10588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6216" y="1444752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3EF0AF"/>
                </a:solidFill>
                <a:latin typeface="Arial"/>
              </a:rPr>
              <a:t>Заказ «Развития»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</a:rPr>
              <a:t>Копия с заводом филиала и копиями сообщений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3246120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" y="3703320"/>
            <a:ext cx="352044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2461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Переназначить нельзя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31335"/>
            <a:ext cx="3154680" cy="16916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2A3138"/>
                </a:solidFill>
                <a:latin typeface="Arial"/>
              </a:rPr>
              <a:t>Заказ, созданный не на тот завод, удаляют и создают заново. В IW31 и IW34 завод выбирают на первом экране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246120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3703320"/>
            <a:ext cx="352044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32461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Сообщение с заказом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831335"/>
            <a:ext cx="3154680" cy="16916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2A3138"/>
                </a:solidFill>
                <a:latin typeface="Arial"/>
              </a:rPr>
              <a:t>Отвязать заказ → переназначить сообщение между БЕ → удалить ошибочный заказ → получатель создаёт новый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3246120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9016" y="3703320"/>
            <a:ext cx="352044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2461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Как считать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831335"/>
            <a:ext cx="3154680" cy="16916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2A3138"/>
                </a:solidFill>
                <a:latin typeface="Arial"/>
              </a:rPr>
              <a:t>Факт — с обеих сторон. Неисполненный план — только по копии «Развития», иначе он задваивается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Отмена, перенос сроков и блокировки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16151"/>
            <a:ext cx="3520440" cy="960119"/>
          </a:xfrm>
          <a:prstGeom prst="roundRect">
            <a:avLst>
              <a:gd name="adj" fmla="val 15238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856231"/>
            <a:ext cx="3520440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216151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Работу отменили или перенесли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84248"/>
            <a:ext cx="3154680" cy="26060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Закрыть заказ и пометить на удаление — или перенести сроки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Не оставлять деблокированный заказ без факта: он искажает исполнение программы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Удаляя законтрактованные МТР, проверить НВСО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16151"/>
            <a:ext cx="3520440" cy="960119"/>
          </a:xfrm>
          <a:prstGeom prst="roundRect">
            <a:avLst>
              <a:gd name="adj" fmla="val 15238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4256" y="1856231"/>
            <a:ext cx="3520440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216151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Блокировка сроков · ZPM_DATE_BLOCK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984248"/>
            <a:ext cx="3154680" cy="26060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Задаётся по БЕ, заводу, группе плановиков, ТМ и ЕО на период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Заказ попадает под блокировку по базисной дате начала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Запрещает менять сроки и простой, а также закрывать заказ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216151"/>
            <a:ext cx="3520440" cy="960119"/>
          </a:xfrm>
          <a:prstGeom prst="roundRect">
            <a:avLst>
              <a:gd name="adj" fmla="val 15238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6" y="1856231"/>
            <a:ext cx="3520440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216151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Активный ЗНК к заказу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1984248"/>
            <a:ext cx="3154680" cy="26060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Сроки и статусы согласования (СГПЛ, ССПЛ, СГГС) не меняются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ZMM_CHREQ_MAINT: номер заказа с двумя ведущими нулями, поле «Автор ЗНК» очистить</a:t>
            </a:r>
          </a:p>
          <a:p>
            <a:pPr algn="l" marL="182880" indent="-182880">
              <a:spcAft>
                <a:spcPts val="1000"/>
              </a:spcAft>
              <a:buClr>
                <a:srgbClr val="3EF0AF"/>
              </a:buClr>
              <a:buFont typeface="Arial"/>
              <a:buChar char="•"/>
            </a:pPr>
            <a:r>
              <a:rPr sz="1400" b="0" i="0">
                <a:solidFill>
                  <a:srgbClr val="2A3138"/>
                </a:solidFill>
                <a:latin typeface="Arial"/>
              </a:rPr>
              <a:t>Каждый ЗНК согласовать полностью или отменить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4846320"/>
            <a:ext cx="11109960" cy="960120"/>
          </a:xfrm>
          <a:prstGeom prst="roundRect">
            <a:avLst>
              <a:gd name="adj" fmla="val 17142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84632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67 заказов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5" y="4846320"/>
            <a:ext cx="82753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</a:rPr>
              <a:t>WK за 2026 год закрыты без факта: это отменённые или перенесённые работы. Связи старого и нового заказа при переносе в PM-06 нет, поэтому новый заказ ищут по ЕО и виду работ.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Практика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Чтение PM-06, типичные ошибки, чек-лист, самопроверка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Как читать PM-06: состояние заказа за 5 шагов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489204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134416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3EF0A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2456" y="1225296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Нет статусов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позиция ППР — не заказ, в план и потребность не включать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2121408"/>
            <a:ext cx="489204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29514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456" y="2176272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ТЗКР или ЗАКР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заказ закрыт: остаток «план − факт» не потребность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3072384"/>
            <a:ext cx="489204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3246120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3EF0A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3127248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ДЕБЛ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в работе: смотрим ПДТВ/ЧПДТ, ПРНТ, ФХСМ и факт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4023360"/>
            <a:ext cx="489204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419709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3EF0A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4078224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ОТКР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на согласовании (ПЛАН–ССПЛ) или согласован (СГГС)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4974336"/>
            <a:ext cx="489204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514807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3EF0A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5029200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Пара БЕ + «Развитие»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та же ЕО, вид работ и дата начала — план только по копии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5" y="1170432"/>
            <a:ext cx="5943600" cy="4681728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5" y="126187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WK, программа 2026: план по стадиям, млн ₽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843016" y="1627631"/>
          <a:ext cx="56235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80175" y="5513831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■ </a:t>
            </a:r>
            <a:r>
              <a:rPr sz="1100" b="0" i="0">
                <a:solidFill>
                  <a:srgbClr val="5B6167"/>
                </a:solidFill>
                <a:latin typeface="Arial"/>
              </a:rPr>
              <a:t>закрыто: ТЗКР и далее    </a:t>
            </a:r>
            <a:r>
              <a:rPr sz="1100" b="1" i="0">
                <a:solidFill>
                  <a:srgbClr val="80868B"/>
                </a:solidFill>
                <a:latin typeface="Arial"/>
              </a:rPr>
              <a:t>■ </a:t>
            </a:r>
            <a:r>
              <a:rPr sz="1100" b="0" i="0">
                <a:solidFill>
                  <a:srgbClr val="5B6167"/>
                </a:solidFill>
                <a:latin typeface="Arial"/>
              </a:rPr>
              <a:t>ещё не закрыто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Типичные ошибки и как их избежать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2376" y="13533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32588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Заказ не на том заводе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20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Переназначить нельзя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4688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Удалить и создать заново в IW31/IW34 с заводом того, чьи ресурсы работают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17043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7136" y="13533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32588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Деблокирован, но пусто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20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Нет факта и подтверждений — исполнение искажено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24688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Еженедельный CONTROL в IW38; отменили — закрыть и пометить на удаление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17043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11896" y="13533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32588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Поздний деблок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920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«Начиная с деблокирования»: закупка не видит потребность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24688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Деблокировать с запасом на срок поставки МТР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363931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8221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379476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Не даёт ТЗКР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38912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Нет ПРНТ или подтверждений, либо стоит НПРН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493776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Проверить «Статус отражения факта» в IW38 и довести факт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63931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17136" y="38221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379476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Сокращение МТР → ошибка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38912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Законтрактованная потребность даст профицит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7136" y="493776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До сокращения — ZMM_MRP_MAINT (NVSO_SVERKA, NVSO_ZNPSKL)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639312"/>
            <a:ext cx="352044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11896" y="38221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3EF0A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0536" y="379476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Оригинал после копии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38912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План задваивается в отчётах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493776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36576" rIns="128016" bIns="36576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Проверять пары по ссылкам сообщений в IW28 и считать план по копии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Чек-лист планировщика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3520440" cy="822960"/>
          </a:xfrm>
          <a:prstGeom prst="roundRect">
            <a:avLst>
              <a:gd name="adj" fmla="val 17777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627631"/>
            <a:ext cx="3520440" cy="4251960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17043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Каждую неделю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911095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F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56231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IW38 CONTROL: нет подтверждений, нет списаний МТР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269747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F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642615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Деблокированные заказы без факта: провести, перенести или закрыть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4838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F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42900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Заказы следующей недели отправлены на согласование (СГПЛ)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427024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F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215383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Активные ЗНК к своим заказам обработаны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5056631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F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5001768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Срочные позиции (СРОЧ): есть ли покрытие к дате работ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170432"/>
            <a:ext cx="3520440" cy="822960"/>
          </a:xfrm>
          <a:prstGeom prst="roundRect">
            <a:avLst>
              <a:gd name="adj" fmla="val 1777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4256" y="1627631"/>
            <a:ext cx="3520440" cy="4251960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17043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Каждый месяц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1911095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1856231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Заказы с ФХСМ технически закрыты (ТЗКР)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269747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2642615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Статус приёмки: #ТЗКР и #ПРСЗ отработаны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34838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342900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Прогноз завершения месяца (ПЗТМ) согласован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5424" y="427024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8616" y="4215383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План-график следующего месяца: МЕС → УТВМ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5424" y="5056631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8616" y="5001768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Удаления МТР не создали лишних НВСО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016" y="1170432"/>
            <a:ext cx="3520440" cy="822960"/>
          </a:xfrm>
          <a:prstGeom prst="roundRect">
            <a:avLst>
              <a:gd name="adj" fmla="val 17777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29016" y="1627631"/>
            <a:ext cx="3520440" cy="4251960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117043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Перед годом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4" y="1911095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1856231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Годовой план: ГОД → ПТОГ → ГИП → УТВГ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0184" y="269747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2642615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ППР распределены по правилу ресурсов: обходы — «Развитие», ЕТО — БЕ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0184" y="34838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342900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Ответственные в ТМ, ЕО и ППР проверены до отзыва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0184" y="427024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6" y="4215383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A3138"/>
                </a:solidFill>
                <a:latin typeface="Arial"/>
              </a:rPr>
              <a:t>Деблокирование запланировано с учётом сроков поставки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Самопроверка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16151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" y="1600199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5" y="1307592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Заказ в ТЗКР, факт по нему нулевой. Это потребность в МТР?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216151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0236" y="1600199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3196" y="1307592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Какой статус ставит старший планировщик и что он делает с заказом?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788920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31729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5" y="2880360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Заказ согласован (СГГС), а закупка не видит его МТР. Почему?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788920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0236" y="31729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3196" y="2880360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Заказ создан на завод БЕ, а работы выполняет «Развитие». Что делать?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4361688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474573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5" y="4453127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После какого статуса на заказ уже нельзя списать МТР?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361688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0236" y="474573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196" y="4453127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A3138"/>
                </a:solidFill>
                <a:latin typeface="Arial"/>
              </a:rPr>
              <a:t>Почему не удаётся изменить сроки согласованного заказа?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Ответы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216151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" y="1600199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5" y="1307592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Нет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Заказ закрыт: работу выполнили без факта или отменили. Остаток «план − факт» не потребность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216151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0236" y="1600199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3196" y="1307592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ССПЛ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Согласовано старшим планировщиком — заказ блокируется для изменений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788920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31729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5" y="2880360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«Начиная с деблокирования»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Потребность уйдёт в ППМ только после ДЕБЛ — нужно деблокировать заказ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788920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0236" y="31729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3196" y="2880360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Пересоздать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Переназначить нельзя: удалить и создать с заводом филиала «Развития» или перенести копированием в IW38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4361688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474573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5" y="4453127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ПРСЗ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После приёмки службой заказчика запрещены списание МТР, подтверждения, счета и акты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361688"/>
            <a:ext cx="54178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0236" y="474573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3EF0A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196" y="4453127"/>
            <a:ext cx="41376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2A3138"/>
                </a:solidFill>
                <a:latin typeface="Arial"/>
              </a:rPr>
              <a:t>Блокировка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B6167"/>
                </a:solidFill>
                <a:latin typeface="Arial"/>
              </a:rPr>
              <a:t>Активный ЗНК, блокировка сроков ZPM_DATE_BLOCK или статус ССПЛ/СГГС, блокирующий изменения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Справочник транзакций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70432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224" y="1271016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IW31 · IW34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8336" y="1170432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Создать заказ (без сообщения / к сообщению), выбор планирующего завода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1837943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938527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IW32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37943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Изменить заказ: статусы, деблокирование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505456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" y="2606040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IW38 · IW39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505456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Список заказов: массовые статусы, копирование, контроль закрытия, фоновый пересчёт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3172968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3273551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IW28 · IW29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172968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Список сообщений: переназначение между БЕ, отвязка заказов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840480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" y="3941064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ZPM_PLAN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3840480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АРМ планировщика: план-график, согласование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4507992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" y="4608576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IP17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4507992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Позиции ППР: массовая смена ответственных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5175504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5276088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IL05 · IE05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5175504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Массовая смена ответственных в ТМ и ЕО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1170432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1364" y="1271016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ZPM_DATE_BLOCK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0475" y="1170432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Блокировки сроков заказов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1837943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1364" y="1938527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ZMM_CHREQ_MAINT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0475" y="1837943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Запросы на корректировку (ЗНК)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2505456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1364" y="2606040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ZMM_MRP_MAINT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0475" y="2505456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Срез ППМ (offline), сверка НВСО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172968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1364" y="3273551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MD04 · MB52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475" y="3172968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Ситуация ППМ онлайн · складские запасы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1636" y="3840480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41364" y="3941064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ZPM_MTR_UPD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0475" y="3840480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Массовое изменение и удаление МТР в заказах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1636" y="4507992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41364" y="4608576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ZPM_MTRP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475" y="4507992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Массовая загрузка МТР подрядчика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1636" y="5175504"/>
            <a:ext cx="5417820" cy="5760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41364" y="5276088"/>
            <a:ext cx="1874519" cy="374904"/>
          </a:xfrm>
          <a:prstGeom prst="roundRect">
            <a:avLst>
              <a:gd name="adj" fmla="val 4878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3EF0AF"/>
                </a:solidFill>
                <a:latin typeface="Arial"/>
              </a:rPr>
              <a:t>ZMM_370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0475" y="5175504"/>
            <a:ext cx="3131820" cy="5760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Пульт по выручке: ставит ВСБЕ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Вопросы и предложения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buNone/>
            </a:pPr>
            <a:r>
              <a:t>SAP ТОРО для планировщика ·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482</Words>
  <Application>Microsoft Office PowerPoint</Application>
  <PresentationFormat>Широкоэкранный</PresentationFormat>
  <Paragraphs>68</Paragraphs>
  <Slides>5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Пример оформления текста</vt:lpstr>
      <vt:lpstr>Пример оформления таблиц и диаграмм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9</cp:revision>
  <dcterms:created xsi:type="dcterms:W3CDTF">2024-06-03T08:05:05Z</dcterms:created>
  <dcterms:modified xsi:type="dcterms:W3CDTF">2026-07-20T07:52:25Z</dcterms:modified>
</cp:coreProperties>
</file>