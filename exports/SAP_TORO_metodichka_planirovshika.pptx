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drawings/vmlDrawing1.vml" ContentType="application/vnd.openxmlformats-officedocument.vmlDrawing"/>
  <Override PartName="/ppt/drawings/vmlDrawing10.vml" ContentType="application/vnd.openxmlformats-officedocument.vmlDrawing"/>
  <Override PartName="/ppt/drawings/vmlDrawing11.vml" ContentType="application/vnd.openxmlformats-officedocument.vmlDrawing"/>
  <Override PartName="/ppt/drawings/vmlDrawing12.vml" ContentType="application/vnd.openxmlformats-officedocument.vmlDrawing"/>
  <Override PartName="/ppt/drawings/vmlDrawing13.vml" ContentType="application/vnd.openxmlformats-officedocument.vmlDrawing"/>
  <Override PartName="/ppt/drawings/vmlDrawing14.vml" ContentType="application/vnd.openxmlformats-officedocument.vmlDrawing"/>
  <Override PartName="/ppt/drawings/vmlDrawing15.vml" ContentType="application/vnd.openxmlformats-officedocument.vmlDrawing"/>
  <Override PartName="/ppt/drawings/vmlDrawing16.vml" ContentType="application/vnd.openxmlformats-officedocument.vmlDrawing"/>
  <Override PartName="/ppt/drawings/vmlDrawing17.vml" ContentType="application/vnd.openxmlformats-officedocument.vmlDrawing"/>
  <Override PartName="/ppt/drawings/vmlDrawing18.vml" ContentType="application/vnd.openxmlformats-officedocument.vmlDrawing"/>
  <Override PartName="/ppt/drawings/vmlDrawing2.vml" ContentType="application/vnd.openxmlformats-officedocument.vmlDrawing"/>
  <Override PartName="/ppt/drawings/vmlDrawing3.vml" ContentType="application/vnd.openxmlformats-officedocument.vmlDrawing"/>
  <Override PartName="/ppt/drawings/vmlDrawing4.vml" ContentType="application/vnd.openxmlformats-officedocument.vmlDrawing"/>
  <Override PartName="/ppt/drawings/vmlDrawing5.vml" ContentType="application/vnd.openxmlformats-officedocument.vmlDrawing"/>
  <Override PartName="/ppt/drawings/vmlDrawing6.vml" ContentType="application/vnd.openxmlformats-officedocument.vmlDrawing"/>
  <Override PartName="/ppt/drawings/vmlDrawing7.vml" ContentType="application/vnd.openxmlformats-officedocument.vmlDrawing"/>
  <Override PartName="/ppt/drawings/vmlDrawing8.vml" ContentType="application/vnd.openxmlformats-officedocument.vmlDrawing"/>
  <Override PartName="/ppt/drawings/vmlDrawing9.vml" ContentType="application/vnd.openxmlformats-officedocument.vmlDrawing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media/image22.svg" ContentType="image/svg+xml"/>
  <Override PartName="/ppt/media/image4.svg" ContentType="image/svg+xml"/>
  <Override PartName="/ppt/media/image7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6"/>
    <p:sldId id="257" r:id="rId5"/>
    <p:sldId id="258" r:id="rId4"/>
    <p:sldId id="259" r:id="rId3"/>
    <p:sldId id="260" r:id="rId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2000" cy="6858000"/>
  <p:notesSz cx="6858000" cy="9144000"/>
  <p:custDataLst>
    <p:tags r:id="rId8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3BDDA"/>
    <a:srgbClr val="7E83FA"/>
    <a:srgbClr val="3EF0AF"/>
    <a:srgbClr val="2931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51" d="100"/>
          <a:sy n="151" d="100"/>
        </p:scale>
        <p:origin x="1200" y="15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.xml"/><Relationship Id="rId3" Type="http://schemas.openxmlformats.org/officeDocument/2006/relationships/slide" Target="slides/slide4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План, млн ₽</c:v>
                </c:pt>
              </c:strCache>
            </c:strRef>
          </c:tx>
          <c:dPt>
            <c:idx val="0"/>
            <c:spPr>
              <a:solidFill>
                <a:srgbClr val="3EF0AF"/>
              </a:solidFill>
            </c:spPr>
          </c:dPt>
          <c:dPt>
            <c:idx val="1"/>
            <c:spPr>
              <a:solidFill>
                <a:srgbClr val="3EF0AF"/>
              </a:solidFill>
            </c:spPr>
          </c:dPt>
          <c:dPt>
            <c:idx val="2"/>
            <c:spPr>
              <a:solidFill>
                <a:srgbClr val="3EF0AF"/>
              </a:solidFill>
            </c:spPr>
          </c:dPt>
          <c:dPt>
            <c:idx val="3"/>
            <c:spPr>
              <a:solidFill>
                <a:srgbClr val="3EF0AF"/>
              </a:solidFill>
            </c:spPr>
          </c:dPt>
          <c:dPt>
            <c:idx val="4"/>
            <c:spPr>
              <a:solidFill>
                <a:srgbClr val="80868B"/>
              </a:solidFill>
            </c:spPr>
          </c:dPt>
          <c:dPt>
            <c:idx val="5"/>
            <c:spPr>
              <a:solidFill>
                <a:srgbClr val="80868B"/>
              </a:solidFill>
            </c:spPr>
          </c:dPt>
          <c:dPt>
            <c:idx val="6"/>
            <c:spPr>
              <a:solidFill>
                <a:srgbClr val="80868B"/>
              </a:solidFill>
            </c:spPr>
          </c:dPt>
          <c:dPt>
            <c:idx val="7"/>
            <c:spPr>
              <a:solidFill>
                <a:srgbClr val="80868B"/>
              </a:solidFill>
            </c:spPr>
          </c:dPt>
          <c:dPt>
            <c:idx val="8"/>
            <c:spPr>
              <a:solidFill>
                <a:srgbClr val="80868B"/>
              </a:solidFill>
            </c:spPr>
          </c:dPt>
          <c:cat>
            <c:strRef>
              <c:f>Sheet1!$A$2:$A$10</c:f>
              <c:strCache>
                <c:ptCount val="9"/>
                <c:pt idx="0">
                  <c:v>Закрыт (ЗАКР)</c:v>
                </c:pt>
                <c:pt idx="1">
                  <c:v>Выставлен в БЕ (ВСБЕ)</c:v>
                </c:pt>
                <c:pt idx="2">
                  <c:v>Принят СЗ (ПРСЗ)</c:v>
                </c:pt>
                <c:pt idx="3">
                  <c:v>Тех. закрыт (ТЗКР)</c:v>
                </c:pt>
                <c:pt idx="4">
                  <c:v>Факт проведён (ФХСМ)</c:v>
                </c:pt>
                <c:pt idx="5">
                  <c:v>В работе</c:v>
                </c:pt>
                <c:pt idx="6">
                  <c:v>Деблокирован, без факта</c:v>
                </c:pt>
                <c:pt idx="7">
                  <c:v>Согласован (СГГС)</c:v>
                </c:pt>
                <c:pt idx="8">
                  <c:v>На согласовании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1159.6</c:v>
                </c:pt>
                <c:pt idx="1">
                  <c:v>729.3</c:v>
                </c:pt>
                <c:pt idx="2">
                  <c:v>135.5</c:v>
                </c:pt>
                <c:pt idx="3">
                  <c:v>37.6</c:v>
                </c:pt>
                <c:pt idx="4">
                  <c:v>28.5</c:v>
                </c:pt>
                <c:pt idx="5">
                  <c:v>146.0</c:v>
                </c:pt>
                <c:pt idx="6">
                  <c:v>601.2</c:v>
                </c:pt>
                <c:pt idx="7">
                  <c:v>610.7</c:v>
                </c:pt>
                <c:pt idx="8">
                  <c:v>503.3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sz="1100">
                  <a:solidFill>
                    <a:srgbClr val="2A3138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10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5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6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9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0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2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3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4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5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6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7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8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BB09B7-6E16-42E9-860B-AFC172AC95B4}" type="datetimeFigureOut">
              <a:rPr lang="ru-RU" smtClean="0"/>
              <a:t>20.07.2026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AD6C38-6262-47DC-8176-B884F3859E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59091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Методичка для планировщиков ТОиР АО «Развитие». Собрана по конструкторским документам ERP.13.9.2.x, регламентам ТОиР, памяткам ТОиР-72…96 и анализу выгрузок BW PM-M06 за 2022–2027 годы (422 774 заказа).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Шесть модулей идут в порядке жизни заказа: от того, на каком заводе его создать, до закрытия и анализа выгрузки. В конце — чек-лист, самопроверка и справочник транзакций.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правило из памяток ТОиР-77 и ТОиР-79. Ответственные (планирующий завод, группа плановиков, ответственное рабочее место) дальше наследуются ППР, сообщениями и заказами, поэтому ошибка на старте тянется по всей цепочке.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уровня оргструктуры. Завод расположения — где стоит техника. Завод планирования — где планируют работы и МТР и собирают затраты. Группа плановиков разграничивает полномочия внутри завода планирования. Коды заводов: ХХNN, где ХХ — первые два символа кода БЕ.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реального заказа из выгрузки PM-06 2026 года. В каждой колонке — несколько кодов через пробел. Системные коды ставит SAP при операциях с заказом; пользовательские задаёт профиль статусов, который зависит от вида заказа. Внутри заказа статус одинаков во всех строках выгрузки.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Системные статусы общие для всех заказов. Набор пользовательских статусов задаёт профиль, а профиль определяется видом заказа (КД ERP.13.9.2.52, табл. 10, 17–24). AVS1 в выгрузке называется «ТОРО по дефектной ведомости», по сути это внеплановое ТОРО.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Фазу задаёт ровно один системный код. Это проверено на всех 422 774 заказах выгрузки PM-06. Позиции без статуса встречаются только в плане 2027 года: это позиции графика ППР, по которым заказ ещё не создан.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Порядковые пользовательские статусы — цепочка согласования; активен всегда один. ССПЛ и СГГС блокируют заказ для изменений. По упрощённой схеме заказ, укладывающийся в настроечные условия, деблокируют без СГГС. Аварийный заказ инженер ТОиР деблокирует сразу после создания.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Эти пользовательские статусы ставятся независимо друг от друга и фазу заказа не меняют. Они показывают, в какой план заказ включён и утверждён, что с бюджетом и материалами.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Коды и тексты — из окна статусов SAP и КД; частота — по 422 774 заказам выгрузок PM-06. ОБСЗ стоит на всех заказах, АРВО — на всех закрываемых с 2024 года; их расшифровки в документации нет, на правило «закрыт или нет» они не влияют.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Статусы из профиля PM_ORDER и соседних схем, которые встречаются в выгрузках PM-06 и важны планировщику. Порядковые статусы согласования и статусы планов — на предыдущих слайдах.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работ «Развития» добавлен шаг приёмки службой заказчика БЕ: ПРСЗ или НПСЗ. ВСБЕ ставится автоматически при регистрации выручки в ZMM_370. По памятке ТОиР-84 ФХСМ означает, что затрат больше не ожидается и заказ готов к ТЗКР.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Проверки из памятки ТОиР-77 для транзакций IW32 и IW38. Статусы ПРНТ/НПРН и ПРСЗ/НПСЗ взаимоисключающие: при установке одного система сама снимает другой.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Блок «Параметры контроля закрытия заказов» в IW38 (памятка ТОиР-84). Техник по учёту добивается, чтобы все заказы были готовы к ТЗКР. Отчёт CONTROL — минимум раз в неделю для инженеров ТОиР и руководителей: базисное окончание — вчерашняя дата, проблемные заказы подсвечены красным. При большом объёме данных отключайте «Дополнительные поля».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половина пути: пока фаза ОТКР, двигается только порядковый статус согласования ПЛАН → СГПЛ → ССПЛ → СГГС. Статусы годового плана (ГОД, ГИП, УТВГ) ставятся независимо от согласования.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половина пути — цепочка закрытия «Развития». Пример ФХСМ — из выгрузки площадки 1400, остальные — 1100. У закрываемых заказов с 2024 года появляются служебные JBFI, РБЗК, АНРЕ и АРВО — на фазу они не влияют.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ситуации, в которых статус легко прочитать неправильно. Все примеры — реальные заказы выгрузки PM-06 2026 года.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Признак релевантности компонента для планирования потребности в материалах (ППМ). Пример из выгрузки PM-06 на 14.09.2026 по экскаваторам WK: на 2027 год не покрыто 525 млн ₽ потребности, из них 393 млн ₽ — на строках «Начиная с деблокирования» в ещё не деблокированных заказах. Закупка их пока не видит.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Памятки ТОиР-75, ТОиР-86 и ТОиР-96. Проверки срабатывают при изменении компонентов и сохранении заказа и берут данные ППМ из ночного среза (offline). Расхождения за день выравнивает ночной фоновый пересчёт; вручную — функция «ФОНОВЫЙ пересчёт заказов ТОРО» в IW38.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Заказы производственной БЕ мигрируют в «Развитие» копированием вместе со связанными сообщениями: функция «Массовое копирование заказов/сообщений» в IW38/IW39. Связь сообщений хранится в IW28/IW29 (поля «Скопированное сообщение», «Ссылка клиента»). По выгрузкам PM-06 найдено 1 725 пар «та же ЕО + вид работ + дата начала», в 147 из них факта нет ни у одной стороны.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Отменённую или перенесённую работу закрывают и (или) помечают на удаление. Помеченные на удаление заказы в выгрузку не попадают; закрытые без факта видны как ТЗКР/ЗАКР с нулевым фактом — по WK за 2026 год таких 67. Связи старого и нового заказа при переносе в PM-06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Правила подтверждены на выгрузках 2022–2027 годов. Диаграмма — программа ремонтов WK 2026 года по стадиям SAP на 14.09.2026: закрыто (ТЗКР и далее) 52 % плана в рублях; 93 деблокированных заказа на 601 млн ₽ не имеют ни факта, ни подтверждений.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Ошибки собраны по проверкам SAP из памяток и по тому, что видно в выгрузках PM-06.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Ритм работы, который закрывает типичные ошибки. Недельные пункты — к планёрке, месячные — к согласованию план-графика и закрытию периода.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Ответы — на следующем слайде. Предложите слушателям ответить самостоятельно, прежде чем показывать ответы.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Транзакции, упомянутые в методичке, с назначением для планировщика.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Источники: КД ERP.13.9.2.51–57 и .7; регламенты годового и оперативного планирования; памятки ТОиР-72 (блокировки), ТОиР-75 (законтрактованные потребности), ТОиР-77 (ключевые отличия SAP ТОРО в АО «Развитие»), ТОиР-79 (перенос заказов), ТОиР-84 (контроль закрытия в IW38), ТОиР-86 (срочность), ТОиР-91 (ЗНК), ТОиР-96 (СРОЧ/НВСО); памятка по контролю отражения факта; выгрузки BW PM-M06 2022–2027.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.vml"/><Relationship Id="rId2" Type="http://schemas.openxmlformats.org/officeDocument/2006/relationships/tags" Target="../tags/tag3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Relationship Id="rId6" Type="http://schemas.openxmlformats.org/officeDocument/2006/relationships/image" Target="../media/image2.png"/><Relationship Id="rId7" Type="http://schemas.openxmlformats.org/officeDocument/2006/relationships/image" Target="../media/image3.png"/><Relationship Id="rId8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3.v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3.bin"/><Relationship Id="rId5" Type="http://schemas.openxmlformats.org/officeDocument/2006/relationships/image" Target="../media/image1.emf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4.v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1.emf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image" Target="../media/image8.png"/><Relationship Id="rId9" Type="http://schemas.openxmlformats.org/officeDocument/2006/relationships/image" Target="../media/image9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5.vml"/><Relationship Id="rId2" Type="http://schemas.openxmlformats.org/officeDocument/2006/relationships/tags" Target="../tags/tag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5.bin"/><Relationship Id="rId5" Type="http://schemas.openxmlformats.org/officeDocument/2006/relationships/image" Target="../media/image1.emf"/><Relationship Id="rId6" Type="http://schemas.openxmlformats.org/officeDocument/2006/relationships/image" Target="../media/image10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6.v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1.jpg"/><Relationship Id="rId5" Type="http://schemas.openxmlformats.org/officeDocument/2006/relationships/oleObject" Target="../embeddings/oleObject6.bin"/><Relationship Id="rId6" Type="http://schemas.openxmlformats.org/officeDocument/2006/relationships/image" Target="../media/image1.emf"/><Relationship Id="rId7" Type="http://schemas.openxmlformats.org/officeDocument/2006/relationships/image" Target="../media/image12.png"/><Relationship Id="rId8" Type="http://schemas.openxmlformats.org/officeDocument/2006/relationships/image" Target="../media/image3.png"/><Relationship Id="rId9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7.vml"/><Relationship Id="rId2" Type="http://schemas.openxmlformats.org/officeDocument/2006/relationships/tags" Target="../tags/tag8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3.jpeg"/><Relationship Id="rId5" Type="http://schemas.openxmlformats.org/officeDocument/2006/relationships/oleObject" Target="../embeddings/oleObject7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8.v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5.jpeg"/><Relationship Id="rId5" Type="http://schemas.openxmlformats.org/officeDocument/2006/relationships/oleObject" Target="../embeddings/oleObject8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9.vml"/><Relationship Id="rId2" Type="http://schemas.openxmlformats.org/officeDocument/2006/relationships/tags" Target="../tags/tag10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6.jpeg"/><Relationship Id="rId5" Type="http://schemas.openxmlformats.org/officeDocument/2006/relationships/oleObject" Target="../embeddings/oleObject9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0.vml"/><Relationship Id="rId2" Type="http://schemas.openxmlformats.org/officeDocument/2006/relationships/tags" Target="../tags/tag11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7.jpeg"/><Relationship Id="rId5" Type="http://schemas.openxmlformats.org/officeDocument/2006/relationships/oleObject" Target="../embeddings/oleObject10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1.vml"/><Relationship Id="rId2" Type="http://schemas.openxmlformats.org/officeDocument/2006/relationships/tags" Target="../tags/tag12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8.png"/><Relationship Id="rId5" Type="http://schemas.openxmlformats.org/officeDocument/2006/relationships/oleObject" Target="../embeddings/oleObject11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2.vml"/><Relationship Id="rId2" Type="http://schemas.openxmlformats.org/officeDocument/2006/relationships/tags" Target="../tags/tag13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9.png"/><Relationship Id="rId5" Type="http://schemas.openxmlformats.org/officeDocument/2006/relationships/oleObject" Target="../embeddings/oleObject12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3.vml"/><Relationship Id="rId2" Type="http://schemas.openxmlformats.org/officeDocument/2006/relationships/tags" Target="../tags/tag1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0.png"/><Relationship Id="rId5" Type="http://schemas.openxmlformats.org/officeDocument/2006/relationships/oleObject" Target="../embeddings/oleObject13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4.vml"/><Relationship Id="rId2" Type="http://schemas.openxmlformats.org/officeDocument/2006/relationships/tags" Target="../tags/tag1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4.bin"/><Relationship Id="rId5" Type="http://schemas.openxmlformats.org/officeDocument/2006/relationships/image" Target="../media/image1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5.vml"/><Relationship Id="rId2" Type="http://schemas.openxmlformats.org/officeDocument/2006/relationships/tags" Target="../tags/tag1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5.bin"/><Relationship Id="rId5" Type="http://schemas.openxmlformats.org/officeDocument/2006/relationships/image" Target="../media/image1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6.vml"/><Relationship Id="rId2" Type="http://schemas.openxmlformats.org/officeDocument/2006/relationships/tags" Target="../tags/tag17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6.bin"/><Relationship Id="rId5" Type="http://schemas.openxmlformats.org/officeDocument/2006/relationships/image" Target="../media/image1.emf"/><Relationship Id="rId6" Type="http://schemas.openxmlformats.org/officeDocument/2006/relationships/image" Target="../media/image2.png"/><Relationship Id="rId7" Type="http://schemas.openxmlformats.org/officeDocument/2006/relationships/image" Target="../media/image21.png"/><Relationship Id="rId8" Type="http://schemas.openxmlformats.org/officeDocument/2006/relationships/image" Target="../media/image22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7.vml"/><Relationship Id="rId2" Type="http://schemas.openxmlformats.org/officeDocument/2006/relationships/tags" Target="../tags/tag18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7.bin"/><Relationship Id="rId5" Type="http://schemas.openxmlformats.org/officeDocument/2006/relationships/image" Target="../media/image1.emf"/><Relationship Id="rId6" Type="http://schemas.openxmlformats.org/officeDocument/2006/relationships/image" Target="../media/image8.png"/><Relationship Id="rId7" Type="http://schemas.openxmlformats.org/officeDocument/2006/relationships/image" Target="../media/image9.svg"/><Relationship Id="rId8" Type="http://schemas.openxmlformats.org/officeDocument/2006/relationships/image" Target="../media/image3.png"/><Relationship Id="rId9" Type="http://schemas.openxmlformats.org/officeDocument/2006/relationships/image" Target="../media/image4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8.vml"/><Relationship Id="rId2" Type="http://schemas.openxmlformats.org/officeDocument/2006/relationships/tags" Target="../tags/tag19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8.bin"/><Relationship Id="rId5" Type="http://schemas.openxmlformats.org/officeDocument/2006/relationships/image" Target="../media/image1.emf"/><Relationship Id="rId6" Type="http://schemas.openxmlformats.org/officeDocument/2006/relationships/image" Target="../media/image8.png"/><Relationship Id="rId7" Type="http://schemas.openxmlformats.org/officeDocument/2006/relationships/image" Target="../media/image9.svg"/><Relationship Id="rId8" Type="http://schemas.openxmlformats.org/officeDocument/2006/relationships/image" Target="../media/image3.png"/><Relationship Id="rId9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25A6CE9-2642-486D-A166-47D8B312C14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2659189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1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17E1EA8-D672-451F-841B-75E852C3E797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03608777-01C9-42F3-B597-72716079C7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28DA627-6455-420D-AE3A-0B69F748D939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6" name="Текст 3">
            <a:extLst>
              <a:ext uri="{FF2B5EF4-FFF2-40B4-BE49-F238E27FC236}">
                <a16:creationId xmlns:a16="http://schemas.microsoft.com/office/drawing/2014/main" id="{DCCE8E5C-3BE7-495F-80A8-8717D99DF1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rgbClr val="3EF0AF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41489475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2 (зеленый фон)">
    <p:bg>
      <p:bgPr>
        <a:solidFill>
          <a:srgbClr val="3EF0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8CF0ACF-A2EA-454A-B17F-84ECC23B3B9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5226035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5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8CF0ACF-A2EA-454A-B17F-84ECC23B3B9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72DCBFE-BB85-C645-74EF-CA3318C479D7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10E66AE3-27F3-7AFB-18F8-52F53CB8E8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73150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ru-RU" sz="6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lnSpc>
                <a:spcPct val="80000"/>
              </a:lnSpc>
            </a:pPr>
            <a:r>
              <a:rPr lang="ru-RU" dirty="0"/>
              <a:t>Название презентации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CB750C-4279-9189-A6DF-4E72FECDF33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700" y="5753100"/>
            <a:ext cx="10731500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D10B002-1184-5A11-4026-D5240358FEDE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4700" y="430315"/>
            <a:ext cx="2464270" cy="102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769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0745FA4-B560-40AE-98EE-4E5317FF65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6144856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6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0745FA4-B560-40AE-98EE-4E5317FF65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0107753-9097-232B-7A76-A2A6407D0F68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986201" y="0"/>
            <a:ext cx="5248798" cy="7082716"/>
          </a:xfrm>
          <a:prstGeom prst="rect">
            <a:avLst/>
          </a:prstGeom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D5D360B4-4895-4A17-B046-9B85D2D9CB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2B0ACCEB-A904-45A3-BBD5-6CB8D19DAF2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2832331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4 (Зеленый фон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3DB6F5B8-2533-42E6-A268-1BE2F64C629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3984366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30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DB6F5B8-2533-42E6-A268-1BE2F64C629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F84386E-836C-12E8-6C0E-94854F3FBD9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alphaModFix amt="70000"/>
          </a:blip>
          <a:srcRect t="12128" b="11026"/>
          <a:stretch/>
        </p:blipFill>
        <p:spPr>
          <a:xfrm>
            <a:off x="4016837" y="-1"/>
            <a:ext cx="6611179" cy="6858001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D10B002-1184-5A11-4026-D5240358FEDE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4700" y="430315"/>
            <a:ext cx="2464270" cy="1024163"/>
          </a:xfrm>
          <a:prstGeom prst="rect">
            <a:avLst/>
          </a:prstGeom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BE5E1E30-FADD-4E58-80FA-7554C20E09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73150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ru-RU" sz="6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lnSpc>
                <a:spcPct val="80000"/>
              </a:lnSpc>
            </a:pPr>
            <a:r>
              <a:rPr lang="ru-RU" dirty="0"/>
              <a:t>Название презентации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FD6CAC8F-7CD1-46F9-9402-CB2EEDDBBE5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700" y="5753100"/>
            <a:ext cx="10731500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4189305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5 (Фотофон)">
    <p:bg>
      <p:bgPr>
        <a:blipFill>
          <a:blip r:embed="rId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BDC9A468-9338-4DAF-9034-FC5B4032A63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324630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54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DC9A468-9338-4DAF-9034-FC5B4032A6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2472B05-73D8-DF94-126F-CD3C16C52087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0DFF97D0-0CE9-4D7C-BE16-3A9E42ED6B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1" name="Текст 3">
            <a:extLst>
              <a:ext uri="{FF2B5EF4-FFF2-40B4-BE49-F238E27FC236}">
                <a16:creationId xmlns:a16="http://schemas.microsoft.com/office/drawing/2014/main" id="{525B2515-CDCC-4650-B2A3-1F62ABF93A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4101361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655699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8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2E0002C3-78CA-4088-AE48-E3BCFDB75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4516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050819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02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3149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25208066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6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109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9382391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0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622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243240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74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328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6442157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8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7FE4038-8DFA-490A-8270-5657C882B6C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8996011-2F7F-4B41-AE0C-E64B8B978E0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15C69CA-B169-46E3-B38E-4098D3FB1644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AB26F02E-71AB-44F2-B895-03D5F92D3B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11FCF6EB-E008-4D91-9A37-BAFFFE38998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766F7B37-8F2D-4D1A-B287-D72D344953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8144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48179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22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7FE4038-8DFA-490A-8270-5657C882B6C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8996011-2F7F-4B41-AE0C-E64B8B978E0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15C69CA-B169-46E3-B38E-4098D3FB1644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AB26F02E-71AB-44F2-B895-03D5F92D3B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11FCF6EB-E008-4D91-9A37-BAFFFE38998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766F7B37-8F2D-4D1A-B287-D72D344953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2748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Внутренний слайд №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F6A53C67-CA11-427F-B20E-716016198E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798945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6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6A53C67-CA11-427F-B20E-716016198E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36D747-6178-C275-57DD-47BC7A800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-10269"/>
            <a:ext cx="11522075" cy="544168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914B413-8558-4E93-B00C-1EB3C7E53CE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34963" y="1003091"/>
            <a:ext cx="11522074" cy="563844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4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ru-RU" dirty="0"/>
              <a:t>Текст или вставка объекта</a:t>
            </a:r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6FCF7C93-3BC0-A608-C384-13DA9076AD4F}"/>
              </a:ext>
            </a:extLst>
          </p:cNvPr>
          <p:cNvCxnSpPr/>
          <p:nvPr userDrawn="1"/>
        </p:nvCxnSpPr>
        <p:spPr>
          <a:xfrm>
            <a:off x="540350" y="928251"/>
            <a:ext cx="11111300" cy="0"/>
          </a:xfrm>
          <a:prstGeom prst="line">
            <a:avLst/>
          </a:prstGeom>
          <a:ln w="2540">
            <a:solidFill>
              <a:srgbClr val="2931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2D963E44-E4F5-4B60-AEB8-9FB14D2D26E2}"/>
              </a:ext>
            </a:extLst>
          </p:cNvPr>
          <p:cNvGrpSpPr/>
          <p:nvPr userDrawn="1"/>
        </p:nvGrpSpPr>
        <p:grpSpPr>
          <a:xfrm>
            <a:off x="11056093" y="6687315"/>
            <a:ext cx="123877" cy="123877"/>
            <a:chOff x="8664606" y="6121154"/>
            <a:chExt cx="736846" cy="736846"/>
          </a:xfrm>
        </p:grpSpPr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758C6BCD-6966-41FE-BAEE-34266B0E9747}"/>
                </a:ext>
              </a:extLst>
            </p:cNvPr>
            <p:cNvSpPr/>
            <p:nvPr/>
          </p:nvSpPr>
          <p:spPr>
            <a:xfrm>
              <a:off x="8664606" y="6121154"/>
              <a:ext cx="736846" cy="736846"/>
            </a:xfrm>
            <a:prstGeom prst="ellipse">
              <a:avLst/>
            </a:prstGeom>
            <a:solidFill>
              <a:srgbClr val="3CF2A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6" name="Полилиния: фигура 15">
              <a:extLst>
                <a:ext uri="{FF2B5EF4-FFF2-40B4-BE49-F238E27FC236}">
                  <a16:creationId xmlns:a16="http://schemas.microsoft.com/office/drawing/2014/main" id="{60C6F9B3-2727-4376-ADE1-3792E4BB3E9C}"/>
                </a:ext>
              </a:extLst>
            </p:cNvPr>
            <p:cNvSpPr/>
            <p:nvPr/>
          </p:nvSpPr>
          <p:spPr>
            <a:xfrm>
              <a:off x="8775922" y="6277783"/>
              <a:ext cx="514214" cy="423589"/>
            </a:xfrm>
            <a:custGeom>
              <a:avLst/>
              <a:gdLst>
                <a:gd name="connsiteX0" fmla="*/ 1746250 w 4201160"/>
                <a:gd name="connsiteY0" fmla="*/ 6351 h 3460751"/>
                <a:gd name="connsiteX1" fmla="*/ 2156460 w 4201160"/>
                <a:gd name="connsiteY1" fmla="*/ 6351 h 3460751"/>
                <a:gd name="connsiteX2" fmla="*/ 2550160 w 4201160"/>
                <a:gd name="connsiteY2" fmla="*/ 876301 h 3460751"/>
                <a:gd name="connsiteX3" fmla="*/ 1210310 w 4201160"/>
                <a:gd name="connsiteY3" fmla="*/ 3460751 h 3460751"/>
                <a:gd name="connsiteX4" fmla="*/ 0 w 4201160"/>
                <a:gd name="connsiteY4" fmla="*/ 3454401 h 3460751"/>
                <a:gd name="connsiteX5" fmla="*/ 3820160 w 4201160"/>
                <a:gd name="connsiteY5" fmla="*/ 0 h 3460751"/>
                <a:gd name="connsiteX6" fmla="*/ 4201160 w 4201160"/>
                <a:gd name="connsiteY6" fmla="*/ 874059 h 3460751"/>
                <a:gd name="connsiteX7" fmla="*/ 3496310 w 4201160"/>
                <a:gd name="connsiteY7" fmla="*/ 2235199 h 3460751"/>
                <a:gd name="connsiteX8" fmla="*/ 2343150 w 4201160"/>
                <a:gd name="connsiteY8" fmla="*/ 2250141 h 3460751"/>
                <a:gd name="connsiteX9" fmla="*/ 3039110 w 4201160"/>
                <a:gd name="connsiteY9" fmla="*/ 863601 h 3460751"/>
                <a:gd name="connsiteX10" fmla="*/ 2654300 w 4201160"/>
                <a:gd name="connsiteY10" fmla="*/ 6350 h 3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01160" h="3460751">
                  <a:moveTo>
                    <a:pt x="1746250" y="6351"/>
                  </a:moveTo>
                  <a:lnTo>
                    <a:pt x="2156460" y="6351"/>
                  </a:lnTo>
                  <a:lnTo>
                    <a:pt x="2550160" y="876301"/>
                  </a:lnTo>
                  <a:lnTo>
                    <a:pt x="1210310" y="3460751"/>
                  </a:lnTo>
                  <a:lnTo>
                    <a:pt x="0" y="3454401"/>
                  </a:lnTo>
                  <a:close/>
                  <a:moveTo>
                    <a:pt x="3820160" y="0"/>
                  </a:moveTo>
                  <a:lnTo>
                    <a:pt x="4201160" y="874059"/>
                  </a:lnTo>
                  <a:lnTo>
                    <a:pt x="3496310" y="2235199"/>
                  </a:lnTo>
                  <a:lnTo>
                    <a:pt x="2343150" y="2250141"/>
                  </a:lnTo>
                  <a:lnTo>
                    <a:pt x="3039110" y="863601"/>
                  </a:lnTo>
                  <a:lnTo>
                    <a:pt x="2654300" y="6350"/>
                  </a:lnTo>
                  <a:close/>
                </a:path>
              </a:pathLst>
            </a:custGeom>
            <a:solidFill>
              <a:srgbClr val="0000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71256E4-C037-4053-818A-D3CB6EF321B0}"/>
              </a:ext>
            </a:extLst>
          </p:cNvPr>
          <p:cNvSpPr txBox="1"/>
          <p:nvPr userDrawn="1"/>
        </p:nvSpPr>
        <p:spPr>
          <a:xfrm>
            <a:off x="11118032" y="6641531"/>
            <a:ext cx="810443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800" b="1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РАЗВИТИЕ</a:t>
            </a:r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D7A8D426-65F3-4089-A286-D05F2517B3FC}"/>
              </a:ext>
            </a:extLst>
          </p:cNvPr>
          <p:cNvSpPr txBox="1">
            <a:spLocks/>
          </p:cNvSpPr>
          <p:nvPr userDrawn="1"/>
        </p:nvSpPr>
        <p:spPr>
          <a:xfrm>
            <a:off x="11512697" y="6566691"/>
            <a:ext cx="6793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F8B3EF-6FCB-5342-834B-72C623FC3BE6}" type="slidenum">
              <a:rPr lang="en-RU" sz="800" smtClean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‹#›</a:t>
            </a:fld>
            <a:endParaRPr lang="en-RU" sz="800" dirty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5428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595">
          <p15:clr>
            <a:srgbClr val="FBAE40"/>
          </p15:clr>
        </p15:guide>
        <p15:guide id="6" orient="horz" pos="4178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ий слайд №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48C6DD5B-9D91-4B05-8AC1-7AEB464BB4D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3281952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70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8C6DD5B-9D91-4B05-8AC1-7AEB464BB4D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Объект 2">
            <a:extLst>
              <a:ext uri="{FF2B5EF4-FFF2-40B4-BE49-F238E27FC236}">
                <a16:creationId xmlns:a16="http://schemas.microsoft.com/office/drawing/2014/main" id="{F10816A5-441D-93F6-A1FA-0C88FB85D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2" y="533898"/>
            <a:ext cx="11522075" cy="6061849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A9F03720-40A5-447A-9090-5D7139CE5719}"/>
              </a:ext>
            </a:extLst>
          </p:cNvPr>
          <p:cNvGrpSpPr/>
          <p:nvPr userDrawn="1"/>
        </p:nvGrpSpPr>
        <p:grpSpPr>
          <a:xfrm>
            <a:off x="11056093" y="6687315"/>
            <a:ext cx="123877" cy="123877"/>
            <a:chOff x="8664606" y="6121154"/>
            <a:chExt cx="736846" cy="736846"/>
          </a:xfrm>
        </p:grpSpPr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754FE2E1-F87E-4986-AAD3-B01F61C72B41}"/>
                </a:ext>
              </a:extLst>
            </p:cNvPr>
            <p:cNvSpPr/>
            <p:nvPr/>
          </p:nvSpPr>
          <p:spPr>
            <a:xfrm>
              <a:off x="8664606" y="6121154"/>
              <a:ext cx="736846" cy="736846"/>
            </a:xfrm>
            <a:prstGeom prst="ellipse">
              <a:avLst/>
            </a:prstGeom>
            <a:solidFill>
              <a:srgbClr val="3CF2A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4C1B39BE-8EA7-40DD-8745-4C9FC549025D}"/>
                </a:ext>
              </a:extLst>
            </p:cNvPr>
            <p:cNvSpPr/>
            <p:nvPr/>
          </p:nvSpPr>
          <p:spPr>
            <a:xfrm>
              <a:off x="8775922" y="6277783"/>
              <a:ext cx="514214" cy="423589"/>
            </a:xfrm>
            <a:custGeom>
              <a:avLst/>
              <a:gdLst>
                <a:gd name="connsiteX0" fmla="*/ 1746250 w 4201160"/>
                <a:gd name="connsiteY0" fmla="*/ 6351 h 3460751"/>
                <a:gd name="connsiteX1" fmla="*/ 2156460 w 4201160"/>
                <a:gd name="connsiteY1" fmla="*/ 6351 h 3460751"/>
                <a:gd name="connsiteX2" fmla="*/ 2550160 w 4201160"/>
                <a:gd name="connsiteY2" fmla="*/ 876301 h 3460751"/>
                <a:gd name="connsiteX3" fmla="*/ 1210310 w 4201160"/>
                <a:gd name="connsiteY3" fmla="*/ 3460751 h 3460751"/>
                <a:gd name="connsiteX4" fmla="*/ 0 w 4201160"/>
                <a:gd name="connsiteY4" fmla="*/ 3454401 h 3460751"/>
                <a:gd name="connsiteX5" fmla="*/ 3820160 w 4201160"/>
                <a:gd name="connsiteY5" fmla="*/ 0 h 3460751"/>
                <a:gd name="connsiteX6" fmla="*/ 4201160 w 4201160"/>
                <a:gd name="connsiteY6" fmla="*/ 874059 h 3460751"/>
                <a:gd name="connsiteX7" fmla="*/ 3496310 w 4201160"/>
                <a:gd name="connsiteY7" fmla="*/ 2235199 h 3460751"/>
                <a:gd name="connsiteX8" fmla="*/ 2343150 w 4201160"/>
                <a:gd name="connsiteY8" fmla="*/ 2250141 h 3460751"/>
                <a:gd name="connsiteX9" fmla="*/ 3039110 w 4201160"/>
                <a:gd name="connsiteY9" fmla="*/ 863601 h 3460751"/>
                <a:gd name="connsiteX10" fmla="*/ 2654300 w 4201160"/>
                <a:gd name="connsiteY10" fmla="*/ 6350 h 3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01160" h="3460751">
                  <a:moveTo>
                    <a:pt x="1746250" y="6351"/>
                  </a:moveTo>
                  <a:lnTo>
                    <a:pt x="2156460" y="6351"/>
                  </a:lnTo>
                  <a:lnTo>
                    <a:pt x="2550160" y="876301"/>
                  </a:lnTo>
                  <a:lnTo>
                    <a:pt x="1210310" y="3460751"/>
                  </a:lnTo>
                  <a:lnTo>
                    <a:pt x="0" y="3454401"/>
                  </a:lnTo>
                  <a:close/>
                  <a:moveTo>
                    <a:pt x="3820160" y="0"/>
                  </a:moveTo>
                  <a:lnTo>
                    <a:pt x="4201160" y="874059"/>
                  </a:lnTo>
                  <a:lnTo>
                    <a:pt x="3496310" y="2235199"/>
                  </a:lnTo>
                  <a:lnTo>
                    <a:pt x="2343150" y="2250141"/>
                  </a:lnTo>
                  <a:lnTo>
                    <a:pt x="3039110" y="863601"/>
                  </a:lnTo>
                  <a:lnTo>
                    <a:pt x="2654300" y="6350"/>
                  </a:lnTo>
                  <a:close/>
                </a:path>
              </a:pathLst>
            </a:custGeom>
            <a:solidFill>
              <a:srgbClr val="0000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8BB6117C-7CF8-4E67-9FCF-9051F4CF8AAD}"/>
              </a:ext>
            </a:extLst>
          </p:cNvPr>
          <p:cNvSpPr txBox="1"/>
          <p:nvPr userDrawn="1"/>
        </p:nvSpPr>
        <p:spPr>
          <a:xfrm>
            <a:off x="11118032" y="6641531"/>
            <a:ext cx="810443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800" b="1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РАЗВИТИЕ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75ED43A8-C0BF-4053-98E4-977C6AD7D55D}"/>
              </a:ext>
            </a:extLst>
          </p:cNvPr>
          <p:cNvSpPr txBox="1">
            <a:spLocks/>
          </p:cNvSpPr>
          <p:nvPr userDrawn="1"/>
        </p:nvSpPr>
        <p:spPr>
          <a:xfrm>
            <a:off x="11512697" y="6566691"/>
            <a:ext cx="6793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F8B3EF-6FCB-5342-834B-72C623FC3BE6}" type="slidenum">
              <a:rPr lang="en-RU" sz="800" smtClean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‹#›</a:t>
            </a:fld>
            <a:endParaRPr lang="en-RU" sz="800" dirty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45D370C2-EE74-4E02-BECD-714A3B994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-10269"/>
            <a:ext cx="11522075" cy="544168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810096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-разделитель"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08E577BB-A2F4-4685-95FC-C6378065F10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95909200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4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8E577BB-A2F4-4685-95FC-C6378065F10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55F7FA1-2F5D-03ED-F04A-E9F6B60D8FF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22ADBB-BC54-5D04-A3BB-76BE67567F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90375" y="3917092"/>
            <a:ext cx="3816178" cy="2940908"/>
          </a:xfrm>
          <a:prstGeom prst="rect">
            <a:avLst/>
          </a:prstGeom>
        </p:spPr>
        <p:txBody>
          <a:bodyPr vert="horz" anchor="b">
            <a:noAutofit/>
          </a:bodyPr>
          <a:lstStyle>
            <a:lvl1pPr algn="r">
              <a:defRPr sz="20000">
                <a:solidFill>
                  <a:srgbClr val="B3BDDA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01.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CE2A75F-C987-C85D-2664-9EC11F26D9A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4113" y="5778097"/>
            <a:ext cx="595699" cy="595699"/>
          </a:xfrm>
          <a:prstGeom prst="rect">
            <a:avLst/>
          </a:prstGeom>
        </p:spPr>
      </p:pic>
      <p:sp>
        <p:nvSpPr>
          <p:cNvPr id="11" name="Текст 10">
            <a:extLst>
              <a:ext uri="{FF2B5EF4-FFF2-40B4-BE49-F238E27FC236}">
                <a16:creationId xmlns:a16="http://schemas.microsoft.com/office/drawing/2014/main" id="{EAD114CF-9245-35E9-4C0F-A1DAA61E28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113" y="617538"/>
            <a:ext cx="10832439" cy="67644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ct val="70000"/>
              </a:lnSpc>
              <a:buNone/>
              <a:defRPr sz="36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Название раздела</a:t>
            </a: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8391D41E-AFF0-6BB7-1DA7-89FB467F73F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4113" y="1377828"/>
            <a:ext cx="5521887" cy="3078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5pPr>
          </a:lstStyle>
          <a:p>
            <a:pPr lvl="0"/>
            <a:r>
              <a:rPr lang="ru-RU" dirty="0"/>
              <a:t>Описание раздела (при наличии), например, его содержание или подпись </a:t>
            </a:r>
          </a:p>
        </p:txBody>
      </p:sp>
    </p:spTree>
    <p:extLst>
      <p:ext uri="{BB962C8B-B14F-4D97-AF65-F5344CB8AC3E}">
        <p14:creationId xmlns:p14="http://schemas.microsoft.com/office/powerpoint/2010/main" val="19306169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36146577-AE95-4234-A829-50A15A76089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837348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18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6146577-AE95-4234-A829-50A15A76089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C4F3716-7ABD-CFBE-8B4B-32F823FC3CD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11559" b="11559"/>
          <a:stretch/>
        </p:blipFill>
        <p:spPr>
          <a:xfrm>
            <a:off x="4036715" y="-1"/>
            <a:ext cx="6610447" cy="6858001"/>
          </a:xfrm>
          <a:prstGeom prst="rect">
            <a:avLst/>
          </a:prstGeom>
        </p:spPr>
      </p:pic>
      <p:sp>
        <p:nvSpPr>
          <p:cNvPr id="10" name="Текст 9">
            <a:extLst>
              <a:ext uri="{FF2B5EF4-FFF2-40B4-BE49-F238E27FC236}">
                <a16:creationId xmlns:a16="http://schemas.microsoft.com/office/drawing/2014/main" id="{82A42826-FC98-95C6-EF85-491190F24E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4074289"/>
            <a:ext cx="6291805" cy="2272372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marL="0" indent="0" algn="l">
              <a:lnSpc>
                <a:spcPct val="80000"/>
              </a:lnSpc>
              <a:buNone/>
              <a:defRPr sz="6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Спасибо </a:t>
            </a:r>
          </a:p>
          <a:p>
            <a:pPr lvl="0"/>
            <a:r>
              <a:rPr lang="ru-RU" dirty="0"/>
              <a:t>за внимание!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E3BD787A-FE5B-9333-1134-452F81E9AB9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927312" y="5935761"/>
            <a:ext cx="3707334" cy="359156"/>
          </a:xfrm>
          <a:prstGeom prst="rect">
            <a:avLst/>
          </a:prstGeom>
        </p:spPr>
        <p:txBody>
          <a:bodyPr anchor="b"/>
          <a:lstStyle>
            <a:lvl1pPr algn="r">
              <a:defRPr sz="14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Москва, 2024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38B74350-96C2-5C61-0E3E-43B2BD656D4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5459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 (контакты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63F0C41D-57CC-4A04-85ED-2BCB1FCBE3C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510517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42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3F0C41D-57CC-4A04-85ED-2BCB1FCBE3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8B18E58-6FF1-94FE-D60C-7B098B2B20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11559" b="11559"/>
          <a:stretch/>
        </p:blipFill>
        <p:spPr>
          <a:xfrm>
            <a:off x="4036715" y="-1"/>
            <a:ext cx="6610447" cy="6858001"/>
          </a:xfrm>
          <a:prstGeom prst="rect">
            <a:avLst/>
          </a:prstGeom>
        </p:spPr>
      </p:pic>
      <p:sp>
        <p:nvSpPr>
          <p:cNvPr id="10" name="Текст 9">
            <a:extLst>
              <a:ext uri="{FF2B5EF4-FFF2-40B4-BE49-F238E27FC236}">
                <a16:creationId xmlns:a16="http://schemas.microsoft.com/office/drawing/2014/main" id="{82A42826-FC98-95C6-EF85-491190F24E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75138" y="4021015"/>
            <a:ext cx="3276600" cy="2272372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marL="0" indent="0" algn="l">
              <a:lnSpc>
                <a:spcPct val="80000"/>
              </a:lnSpc>
              <a:buNone/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Блок с контактами 1</a:t>
            </a:r>
          </a:p>
          <a:p>
            <a:pPr lvl="0"/>
            <a:r>
              <a:rPr lang="ru-RU" dirty="0"/>
              <a:t>+7 999 234-56-78</a:t>
            </a:r>
          </a:p>
          <a:p>
            <a:pPr lvl="0"/>
            <a:r>
              <a:rPr lang="ru-RU" dirty="0" err="1"/>
              <a:t>i</a:t>
            </a:r>
            <a:r>
              <a:rPr lang="en-GB" dirty="0" err="1"/>
              <a:t>nfo@mail.ru</a:t>
            </a:r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38B74350-96C2-5C61-0E3E-43B2BD656D4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6E59C88-1BF8-B356-19C5-AF2F39CEB86C}"/>
              </a:ext>
            </a:extLst>
          </p:cNvPr>
          <p:cNvSpPr txBox="1"/>
          <p:nvPr userDrawn="1"/>
        </p:nvSpPr>
        <p:spPr>
          <a:xfrm>
            <a:off x="8774703" y="5962692"/>
            <a:ext cx="2648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/>
            <a:r>
              <a:rPr lang="en-GB" sz="1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WWW.RAZVITIYE.RU</a:t>
            </a:r>
            <a:endParaRPr lang="ru-RU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" name="Текст 9">
            <a:extLst>
              <a:ext uri="{FF2B5EF4-FFF2-40B4-BE49-F238E27FC236}">
                <a16:creationId xmlns:a16="http://schemas.microsoft.com/office/drawing/2014/main" id="{62328D92-94C2-7A57-5B44-EE7105BB60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36349" y="4022545"/>
            <a:ext cx="3276600" cy="2272372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marL="0" indent="0" algn="l">
              <a:lnSpc>
                <a:spcPct val="80000"/>
              </a:lnSpc>
              <a:buNone/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Блок с контактами </a:t>
            </a:r>
            <a:r>
              <a:rPr lang="en-GB" dirty="0"/>
              <a:t>2 </a:t>
            </a:r>
          </a:p>
          <a:p>
            <a:pPr lvl="0"/>
            <a:r>
              <a:rPr lang="ru-RU" dirty="0"/>
              <a:t>+7 999 234-56-78</a:t>
            </a:r>
          </a:p>
          <a:p>
            <a:pPr lvl="0"/>
            <a:r>
              <a:rPr lang="ru-RU" dirty="0" err="1"/>
              <a:t>i</a:t>
            </a:r>
            <a:r>
              <a:rPr lang="en-GB" dirty="0" err="1"/>
              <a:t>nfo@mail.ru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020439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vmlDrawing" Target="../drawings/vmlDrawing1.vml"/><Relationship Id="rId20" Type="http://schemas.openxmlformats.org/officeDocument/2006/relationships/tags" Target="../tags/tag2.xml"/><Relationship Id="rId21" Type="http://schemas.openxmlformats.org/officeDocument/2006/relationships/oleObject" Target="../embeddings/oleObject1.bin"/><Relationship Id="rId22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9BE4D52E-C9E9-427F-A401-79B11E674DB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0"/>
            </p:custDataLst>
            <p:extLst>
              <p:ext uri="{D42A27DB-BD31-4B8C-83A1-F6EECF244321}">
                <p14:modId xmlns:p14="http://schemas.microsoft.com/office/powerpoint/2010/main" val="306702090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7" name="Слайд think-cell" r:id="rId21" imgW="359" imgH="360" progId="TCLayout.ActiveDocument.1">
                  <p:embed/>
                </p:oleObj>
              </mc:Choice>
              <mc:Fallback>
                <p:oleObj name="Слайд think-cell" r:id="rId21" imgW="359" imgH="36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D787A43-ACEA-4E8D-96C1-D23CF3BE4AE6}"/>
              </a:ext>
            </a:extLst>
          </p:cNvPr>
          <p:cNvSpPr/>
          <p:nvPr userDrawn="1"/>
        </p:nvSpPr>
        <p:spPr>
          <a:xfrm>
            <a:off x="-1343690" y="3164208"/>
            <a:ext cx="1201480" cy="540000"/>
          </a:xfrm>
          <a:prstGeom prst="rect">
            <a:avLst/>
          </a:prstGeom>
          <a:solidFill>
            <a:srgbClr val="214C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#214C3B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73C59518-5F6C-47B6-85A3-FE4CF327001C}"/>
              </a:ext>
            </a:extLst>
          </p:cNvPr>
          <p:cNvSpPr/>
          <p:nvPr userDrawn="1"/>
        </p:nvSpPr>
        <p:spPr>
          <a:xfrm>
            <a:off x="-1343690" y="2533450"/>
            <a:ext cx="1201480" cy="5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#F5F5F5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A011856-2F03-4B82-BE5A-B2E9CE894347}"/>
              </a:ext>
            </a:extLst>
          </p:cNvPr>
          <p:cNvSpPr/>
          <p:nvPr userDrawn="1"/>
        </p:nvSpPr>
        <p:spPr>
          <a:xfrm>
            <a:off x="-1343690" y="10418"/>
            <a:ext cx="1201480" cy="540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#3EF0AF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9B896-79A5-4B6C-AFEA-0B783B15C6D7}"/>
              </a:ext>
            </a:extLst>
          </p:cNvPr>
          <p:cNvSpPr/>
          <p:nvPr userDrawn="1"/>
        </p:nvSpPr>
        <p:spPr>
          <a:xfrm>
            <a:off x="-1343690" y="1271934"/>
            <a:ext cx="1201480" cy="540000"/>
          </a:xfrm>
          <a:prstGeom prst="rect">
            <a:avLst/>
          </a:prstGeom>
          <a:solidFill>
            <a:srgbClr val="2A31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#2A3138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216FA57B-58CF-432C-B479-8C2B3503E772}"/>
              </a:ext>
            </a:extLst>
          </p:cNvPr>
          <p:cNvSpPr/>
          <p:nvPr userDrawn="1"/>
        </p:nvSpPr>
        <p:spPr>
          <a:xfrm>
            <a:off x="-1343690" y="4425724"/>
            <a:ext cx="1201480" cy="540000"/>
          </a:xfrm>
          <a:prstGeom prst="rect">
            <a:avLst/>
          </a:prstGeom>
          <a:solidFill>
            <a:srgbClr val="7E83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#7E83FA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AE792A6-FD87-44EA-873B-8E40FAC5C9ED}"/>
              </a:ext>
            </a:extLst>
          </p:cNvPr>
          <p:cNvSpPr/>
          <p:nvPr userDrawn="1"/>
        </p:nvSpPr>
        <p:spPr>
          <a:xfrm>
            <a:off x="-1343690" y="5687240"/>
            <a:ext cx="1201480" cy="540000"/>
          </a:xfrm>
          <a:prstGeom prst="rect">
            <a:avLst/>
          </a:prstGeom>
          <a:solidFill>
            <a:srgbClr val="83DC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#83DCDF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70CFC79-495C-46DA-A7B2-96D497CE5DF5}"/>
              </a:ext>
            </a:extLst>
          </p:cNvPr>
          <p:cNvSpPr/>
          <p:nvPr userDrawn="1"/>
        </p:nvSpPr>
        <p:spPr>
          <a:xfrm>
            <a:off x="-1343690" y="6318000"/>
            <a:ext cx="1201480" cy="540000"/>
          </a:xfrm>
          <a:prstGeom prst="rect">
            <a:avLst/>
          </a:prstGeom>
          <a:solidFill>
            <a:srgbClr val="B3BD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#B3BDDC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3C38A6F-5170-4F97-A74A-C522981794CB}"/>
              </a:ext>
            </a:extLst>
          </p:cNvPr>
          <p:cNvSpPr/>
          <p:nvPr userDrawn="1"/>
        </p:nvSpPr>
        <p:spPr>
          <a:xfrm>
            <a:off x="-1343690" y="5056482"/>
            <a:ext cx="1201480" cy="540000"/>
          </a:xfrm>
          <a:prstGeom prst="rect">
            <a:avLst/>
          </a:prstGeom>
          <a:solidFill>
            <a:srgbClr val="53F3F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#53F3F3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48AFC98-3137-4786-8C58-9E67E6465872}"/>
              </a:ext>
            </a:extLst>
          </p:cNvPr>
          <p:cNvSpPr/>
          <p:nvPr userDrawn="1"/>
        </p:nvSpPr>
        <p:spPr>
          <a:xfrm>
            <a:off x="-1343690" y="3794966"/>
            <a:ext cx="1201480" cy="540000"/>
          </a:xfrm>
          <a:prstGeom prst="rect">
            <a:avLst/>
          </a:prstGeom>
          <a:solidFill>
            <a:srgbClr val="B668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#B668E4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9A6C4903-18D9-47AD-860F-596D47DC28B5}"/>
              </a:ext>
            </a:extLst>
          </p:cNvPr>
          <p:cNvSpPr/>
          <p:nvPr userDrawn="1"/>
        </p:nvSpPr>
        <p:spPr>
          <a:xfrm>
            <a:off x="-1343690" y="641176"/>
            <a:ext cx="1201480" cy="540000"/>
          </a:xfrm>
          <a:prstGeom prst="rect">
            <a:avLst/>
          </a:prstGeom>
          <a:solidFill>
            <a:srgbClr val="0508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#05080E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1151D00-56B0-4154-9D17-C5E1DD3F3807}"/>
              </a:ext>
            </a:extLst>
          </p:cNvPr>
          <p:cNvSpPr/>
          <p:nvPr userDrawn="1"/>
        </p:nvSpPr>
        <p:spPr>
          <a:xfrm>
            <a:off x="-1343690" y="1902692"/>
            <a:ext cx="1201480" cy="540000"/>
          </a:xfrm>
          <a:prstGeom prst="rect">
            <a:avLst/>
          </a:prstGeom>
          <a:solidFill>
            <a:srgbClr val="8086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#80868B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C1CA98-945C-4501-9BDB-CFBE3B297AA8}"/>
              </a:ext>
            </a:extLst>
          </p:cNvPr>
          <p:cNvSpPr txBox="1"/>
          <p:nvPr userDrawn="1"/>
        </p:nvSpPr>
        <p:spPr>
          <a:xfrm rot="16200000">
            <a:off x="-3213032" y="1559283"/>
            <a:ext cx="34055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Ключевые цвета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024FEE-F3B8-49B4-983F-DC4887C9F12C}"/>
              </a:ext>
            </a:extLst>
          </p:cNvPr>
          <p:cNvSpPr txBox="1"/>
          <p:nvPr userDrawn="1"/>
        </p:nvSpPr>
        <p:spPr>
          <a:xfrm rot="16200000">
            <a:off x="-3213033" y="5001359"/>
            <a:ext cx="34055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Вспомогательные цвета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FA4E508-6528-478F-8E07-FC454F171EE2}"/>
              </a:ext>
            </a:extLst>
          </p:cNvPr>
          <p:cNvSpPr/>
          <p:nvPr userDrawn="1"/>
        </p:nvSpPr>
        <p:spPr>
          <a:xfrm>
            <a:off x="-1664167" y="-38101"/>
            <a:ext cx="1575932" cy="31313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0E98BEE3-0784-4A43-A63C-AD8515D468B7}"/>
              </a:ext>
            </a:extLst>
          </p:cNvPr>
          <p:cNvSpPr/>
          <p:nvPr userDrawn="1"/>
        </p:nvSpPr>
        <p:spPr>
          <a:xfrm>
            <a:off x="-1664167" y="3141764"/>
            <a:ext cx="1575932" cy="375433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128A5332-96F7-439A-BC2B-C998714A2F91}"/>
              </a:ext>
            </a:extLst>
          </p:cNvPr>
          <p:cNvSpPr/>
          <p:nvPr userDrawn="1"/>
        </p:nvSpPr>
        <p:spPr>
          <a:xfrm rot="16200000">
            <a:off x="6236893" y="-456789"/>
            <a:ext cx="333373" cy="504000"/>
          </a:xfrm>
          <a:prstGeom prst="rect">
            <a:avLst/>
          </a:prstGeom>
          <a:solidFill>
            <a:srgbClr val="05080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18E93F0-4AC8-4DEC-8E9F-3F74536215CF}"/>
              </a:ext>
            </a:extLst>
          </p:cNvPr>
          <p:cNvSpPr/>
          <p:nvPr userDrawn="1"/>
        </p:nvSpPr>
        <p:spPr>
          <a:xfrm rot="16200000">
            <a:off x="6852051" y="-456789"/>
            <a:ext cx="333373" cy="504000"/>
          </a:xfrm>
          <a:prstGeom prst="rect">
            <a:avLst/>
          </a:prstGeom>
          <a:solidFill>
            <a:srgbClr val="05080E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1093867-12CB-4B4F-83D8-E5D767982016}"/>
              </a:ext>
            </a:extLst>
          </p:cNvPr>
          <p:cNvSpPr/>
          <p:nvPr userDrawn="1"/>
        </p:nvSpPr>
        <p:spPr>
          <a:xfrm rot="16200000">
            <a:off x="7467209" y="-456789"/>
            <a:ext cx="333373" cy="504000"/>
          </a:xfrm>
          <a:prstGeom prst="rect">
            <a:avLst/>
          </a:prstGeom>
          <a:solidFill>
            <a:srgbClr val="05080E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18AE2343-019C-4192-9D2B-A43117BBF96C}"/>
              </a:ext>
            </a:extLst>
          </p:cNvPr>
          <p:cNvSpPr/>
          <p:nvPr userDrawn="1"/>
        </p:nvSpPr>
        <p:spPr>
          <a:xfrm rot="16200000">
            <a:off x="8082367" y="-456789"/>
            <a:ext cx="333373" cy="504000"/>
          </a:xfrm>
          <a:prstGeom prst="rect">
            <a:avLst/>
          </a:prstGeom>
          <a:solidFill>
            <a:srgbClr val="05080E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3192A3F-1803-422F-8609-643FB76C4B70}"/>
              </a:ext>
            </a:extLst>
          </p:cNvPr>
          <p:cNvSpPr/>
          <p:nvPr userDrawn="1"/>
        </p:nvSpPr>
        <p:spPr>
          <a:xfrm rot="16200000">
            <a:off x="8697525" y="-456789"/>
            <a:ext cx="333373" cy="504000"/>
          </a:xfrm>
          <a:prstGeom prst="rect">
            <a:avLst/>
          </a:prstGeom>
          <a:solidFill>
            <a:srgbClr val="05080E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97BDA31-60D9-4792-96AE-BFC4C140D285}"/>
              </a:ext>
            </a:extLst>
          </p:cNvPr>
          <p:cNvSpPr/>
          <p:nvPr userDrawn="1"/>
        </p:nvSpPr>
        <p:spPr>
          <a:xfrm rot="16200000">
            <a:off x="9312683" y="-456789"/>
            <a:ext cx="333373" cy="504000"/>
          </a:xfrm>
          <a:prstGeom prst="rect">
            <a:avLst/>
          </a:prstGeom>
          <a:solidFill>
            <a:srgbClr val="05080E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95FBBFFE-4FDF-478E-B0BB-BA7E899C78C7}"/>
              </a:ext>
            </a:extLst>
          </p:cNvPr>
          <p:cNvSpPr/>
          <p:nvPr userDrawn="1"/>
        </p:nvSpPr>
        <p:spPr>
          <a:xfrm rot="16200000">
            <a:off x="9927841" y="-456789"/>
            <a:ext cx="333373" cy="504000"/>
          </a:xfrm>
          <a:prstGeom prst="rect">
            <a:avLst/>
          </a:prstGeom>
          <a:solidFill>
            <a:srgbClr val="05080E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9E071C1-2CB4-4D5A-8CC6-C75B1CD72525}"/>
              </a:ext>
            </a:extLst>
          </p:cNvPr>
          <p:cNvSpPr/>
          <p:nvPr userDrawn="1"/>
        </p:nvSpPr>
        <p:spPr>
          <a:xfrm rot="16200000">
            <a:off x="10542999" y="-456789"/>
            <a:ext cx="333373" cy="504000"/>
          </a:xfrm>
          <a:prstGeom prst="rect">
            <a:avLst/>
          </a:prstGeom>
          <a:solidFill>
            <a:srgbClr val="05080E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0C1DA9D7-2BFF-4882-BFB4-19DB95ED9B0C}"/>
              </a:ext>
            </a:extLst>
          </p:cNvPr>
          <p:cNvSpPr/>
          <p:nvPr userDrawn="1"/>
        </p:nvSpPr>
        <p:spPr>
          <a:xfrm rot="16200000">
            <a:off x="11158157" y="-456789"/>
            <a:ext cx="333373" cy="504000"/>
          </a:xfrm>
          <a:prstGeom prst="rect">
            <a:avLst/>
          </a:prstGeom>
          <a:solidFill>
            <a:srgbClr val="05080E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529A71B2-7155-4700-B9AD-63391A6CAE48}"/>
              </a:ext>
            </a:extLst>
          </p:cNvPr>
          <p:cNvSpPr/>
          <p:nvPr userDrawn="1"/>
        </p:nvSpPr>
        <p:spPr>
          <a:xfrm rot="16200000">
            <a:off x="11773313" y="-456789"/>
            <a:ext cx="333373" cy="504000"/>
          </a:xfrm>
          <a:prstGeom prst="rect">
            <a:avLst/>
          </a:prstGeom>
          <a:solidFill>
            <a:srgbClr val="0508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C96C393-737B-41F0-B346-B2ABC0D83F42}"/>
              </a:ext>
            </a:extLst>
          </p:cNvPr>
          <p:cNvSpPr/>
          <p:nvPr userDrawn="1"/>
        </p:nvSpPr>
        <p:spPr>
          <a:xfrm rot="5400000">
            <a:off x="5621735" y="-456789"/>
            <a:ext cx="333373" cy="504000"/>
          </a:xfrm>
          <a:prstGeom prst="rect">
            <a:avLst/>
          </a:prstGeom>
          <a:solidFill>
            <a:srgbClr val="3EF0A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6B1318B0-BB02-4019-89A3-75095BB01F00}"/>
              </a:ext>
            </a:extLst>
          </p:cNvPr>
          <p:cNvSpPr/>
          <p:nvPr userDrawn="1"/>
        </p:nvSpPr>
        <p:spPr>
          <a:xfrm rot="5400000">
            <a:off x="5006577" y="-456789"/>
            <a:ext cx="333373" cy="504000"/>
          </a:xfrm>
          <a:prstGeom prst="rect">
            <a:avLst/>
          </a:prstGeom>
          <a:solidFill>
            <a:srgbClr val="3EF0A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D5B9935E-3645-48CE-9881-73D6E9E6CDC8}"/>
              </a:ext>
            </a:extLst>
          </p:cNvPr>
          <p:cNvSpPr/>
          <p:nvPr userDrawn="1"/>
        </p:nvSpPr>
        <p:spPr>
          <a:xfrm rot="5400000">
            <a:off x="4391419" y="-456789"/>
            <a:ext cx="333373" cy="504000"/>
          </a:xfrm>
          <a:prstGeom prst="rect">
            <a:avLst/>
          </a:prstGeom>
          <a:solidFill>
            <a:srgbClr val="3EF0AF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2DD01A44-DC87-4D56-95E1-ADB7A247626C}"/>
              </a:ext>
            </a:extLst>
          </p:cNvPr>
          <p:cNvSpPr/>
          <p:nvPr userDrawn="1"/>
        </p:nvSpPr>
        <p:spPr>
          <a:xfrm rot="5400000">
            <a:off x="3776261" y="-456789"/>
            <a:ext cx="333373" cy="504000"/>
          </a:xfrm>
          <a:prstGeom prst="rect">
            <a:avLst/>
          </a:prstGeom>
          <a:solidFill>
            <a:srgbClr val="3EF0A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90F351D3-5190-4645-A3BF-A0B8585A7446}"/>
              </a:ext>
            </a:extLst>
          </p:cNvPr>
          <p:cNvSpPr/>
          <p:nvPr userDrawn="1"/>
        </p:nvSpPr>
        <p:spPr>
          <a:xfrm rot="5400000">
            <a:off x="3161103" y="-456789"/>
            <a:ext cx="333373" cy="504000"/>
          </a:xfrm>
          <a:prstGeom prst="rect">
            <a:avLst/>
          </a:prstGeom>
          <a:solidFill>
            <a:srgbClr val="3EF0A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5E038461-4DFC-4935-A9E2-E2E4E40DD2F8}"/>
              </a:ext>
            </a:extLst>
          </p:cNvPr>
          <p:cNvSpPr/>
          <p:nvPr userDrawn="1"/>
        </p:nvSpPr>
        <p:spPr>
          <a:xfrm rot="5400000">
            <a:off x="2545945" y="-456789"/>
            <a:ext cx="333373" cy="504000"/>
          </a:xfrm>
          <a:prstGeom prst="rect">
            <a:avLst/>
          </a:prstGeom>
          <a:solidFill>
            <a:srgbClr val="3EF0A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2EE85FFB-78B7-43A2-87AC-8664BFCBF67C}"/>
              </a:ext>
            </a:extLst>
          </p:cNvPr>
          <p:cNvSpPr/>
          <p:nvPr userDrawn="1"/>
        </p:nvSpPr>
        <p:spPr>
          <a:xfrm rot="5400000">
            <a:off x="1930787" y="-456789"/>
            <a:ext cx="333373" cy="504000"/>
          </a:xfrm>
          <a:prstGeom prst="rect">
            <a:avLst/>
          </a:prstGeom>
          <a:solidFill>
            <a:srgbClr val="3EF0AF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FA6C2CB7-43F9-4A90-B615-C0CBB5342376}"/>
              </a:ext>
            </a:extLst>
          </p:cNvPr>
          <p:cNvSpPr/>
          <p:nvPr userDrawn="1"/>
        </p:nvSpPr>
        <p:spPr>
          <a:xfrm rot="5400000">
            <a:off x="1315629" y="-456789"/>
            <a:ext cx="333373" cy="504000"/>
          </a:xfrm>
          <a:prstGeom prst="rect">
            <a:avLst/>
          </a:prstGeom>
          <a:solidFill>
            <a:srgbClr val="3EF0A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47655E81-F847-4C11-8031-44AE7D4F3294}"/>
              </a:ext>
            </a:extLst>
          </p:cNvPr>
          <p:cNvSpPr/>
          <p:nvPr userDrawn="1"/>
        </p:nvSpPr>
        <p:spPr>
          <a:xfrm rot="5400000">
            <a:off x="700471" y="-456789"/>
            <a:ext cx="333373" cy="504000"/>
          </a:xfrm>
          <a:prstGeom prst="rect">
            <a:avLst/>
          </a:prstGeom>
          <a:solidFill>
            <a:srgbClr val="3EF0AF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145AECB8-3745-42ED-A62B-5BC08BC58197}"/>
              </a:ext>
            </a:extLst>
          </p:cNvPr>
          <p:cNvSpPr/>
          <p:nvPr userDrawn="1"/>
        </p:nvSpPr>
        <p:spPr>
          <a:xfrm rot="5400000">
            <a:off x="85313" y="-456789"/>
            <a:ext cx="333373" cy="504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77569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2633472"/>
            <a:ext cx="5669280" cy="2953512"/>
          </a:xfrm>
        </p:spPr>
        <p:txBody>
          <a:bodyPr/>
          <a:lstStyle/>
          <a:p>
            <a:r>
              <a:rPr sz="4400"/>
              <a:t>SAP ТОРО</a:t>
            </a:r>
          </a:p>
          <a:p>
            <a:r>
              <a:rPr sz="4400"/>
              <a:t>для планировщика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>
          <a:xfrm>
            <a:off x="777240" y="5751576"/>
            <a:ext cx="5669280" cy="868680"/>
          </a:xfrm>
        </p:spPr>
        <p:txBody>
          <a:bodyPr/>
          <a:lstStyle/>
          <a:p>
            <a:r>
              <a:t>Учебная методичка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Как устроена методичка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261872"/>
            <a:ext cx="3520440" cy="201168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8096" y="1517904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2000" b="1" i="0">
                <a:solidFill>
                  <a:srgbClr val="3EF0AF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3936" y="1517904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700" b="1" i="0">
                <a:solidFill>
                  <a:srgbClr val="2A3138"/>
                </a:solidFill>
                <a:latin typeface="Arial"/>
              </a:rPr>
              <a:t>Основы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2496312"/>
            <a:ext cx="306324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5B6167"/>
                </a:solidFill>
                <a:latin typeface="Arial"/>
              </a:rPr>
              <a:t>Планирующий завод, оргструктура, кто за что отвечает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4256" y="1261872"/>
            <a:ext cx="3520440" cy="201168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62856" y="1517904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2000" b="1" i="0">
                <a:solidFill>
                  <a:srgbClr val="2A3138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68696" y="1517904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700" b="1" i="0">
                <a:solidFill>
                  <a:srgbClr val="2A3138"/>
                </a:solidFill>
                <a:latin typeface="Arial"/>
              </a:rPr>
              <a:t>Статусная схема заказа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62856" y="2496312"/>
            <a:ext cx="306324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5B6167"/>
                </a:solidFill>
                <a:latin typeface="Arial"/>
              </a:rPr>
              <a:t>Как устроен статус, профили, фазы ОТКР → ЗАКР, согласование, справочник кодов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261872"/>
            <a:ext cx="3520440" cy="201168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57616" y="1517904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2000" b="1" i="0">
                <a:solidFill>
                  <a:srgbClr val="3EF0AF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63456" y="1517904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700" b="1" i="0">
                <a:solidFill>
                  <a:srgbClr val="2A3138"/>
                </a:solidFill>
                <a:latin typeface="Arial"/>
              </a:rPr>
              <a:t>Выполнение и закрытие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7616" y="2496312"/>
            <a:ext cx="306324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5B6167"/>
                </a:solidFill>
                <a:latin typeface="Arial"/>
              </a:rPr>
              <a:t>Цепочка «Развития», контроль в IW38 и реальные заказы на каждой стадии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" y="3547872"/>
            <a:ext cx="3520440" cy="201168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8096" y="3803904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2000" b="1" i="0">
                <a:solidFill>
                  <a:srgbClr val="2A3138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73936" y="3803904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700" b="1" i="0">
                <a:solidFill>
                  <a:srgbClr val="2A3138"/>
                </a:solidFill>
                <a:latin typeface="Arial"/>
              </a:rPr>
              <a:t>Материалы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782312"/>
            <a:ext cx="306324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5B6167"/>
                </a:solidFill>
                <a:latin typeface="Arial"/>
              </a:rPr>
              <a:t>Признак «Резерв./заявка», срочность, невостребованные остатки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4256" y="3547872"/>
            <a:ext cx="3520440" cy="201168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62856" y="3803904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2000" b="1" i="0">
                <a:solidFill>
                  <a:srgbClr val="3EF0AF"/>
                </a:solidFill>
                <a:latin typeface="Arial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68696" y="3803904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700" b="1" i="0">
                <a:solidFill>
                  <a:srgbClr val="2A3138"/>
                </a:solidFill>
                <a:latin typeface="Arial"/>
              </a:rPr>
              <a:t>Перенос и отмена работ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2856" y="4782312"/>
            <a:ext cx="306324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5B6167"/>
                </a:solidFill>
                <a:latin typeface="Arial"/>
              </a:rPr>
              <a:t>Копии заказов в «Развитие», блокировки сроков, ЗНК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3547872"/>
            <a:ext cx="3520440" cy="201168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357616" y="3803904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2000" b="1" i="0">
                <a:solidFill>
                  <a:srgbClr val="2A3138"/>
                </a:solidFill>
                <a:latin typeface="Arial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3803904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700" b="1" i="0">
                <a:solidFill>
                  <a:srgbClr val="2A3138"/>
                </a:solidFill>
                <a:latin typeface="Arial"/>
              </a:rPr>
              <a:t>Практика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57616" y="4782312"/>
            <a:ext cx="306324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5B6167"/>
                </a:solidFill>
                <a:latin typeface="Arial"/>
              </a:rPr>
              <a:t>Чтение PM-06, типичные ошибки, чек-лист и самопроверка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" y="6053328"/>
            <a:ext cx="8778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Источники: КД ERP.13.9.2.x, регламенты ТОиР, памятки ТОиР-72…96, выгрузки BW PM-M06 2022–2027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Основы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На каком заводе создаётся заказ и кто за него отвечает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Главное правило: завод определяют ресурсы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70432"/>
            <a:ext cx="11109960" cy="868680"/>
          </a:xfrm>
          <a:prstGeom prst="roundRect">
            <a:avLst>
              <a:gd name="adj" fmla="val 1894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>
              <a:spcAft>
                <a:spcPts val="400"/>
              </a:spcAft>
              <a:buNone/>
            </a:pPr>
            <a:r>
              <a:rPr sz="2000" b="0" i="0">
                <a:solidFill>
                  <a:srgbClr val="FFFFFF"/>
                </a:solidFill>
                <a:latin typeface="Arial"/>
              </a:rPr>
              <a:t>Чьими ресурсами выполняются работы, </a:t>
            </a:r>
            <a:r>
              <a:rPr sz="2000" b="1" i="0">
                <a:solidFill>
                  <a:srgbClr val="3EF0AF"/>
                </a:solidFill>
                <a:latin typeface="Arial"/>
              </a:rPr>
              <a:t>тот планирующий завод и ставится</a:t>
            </a:r>
            <a:r>
              <a:rPr sz="2000" b="0" i="0">
                <a:solidFill>
                  <a:srgbClr val="FFFFFF"/>
                </a:solidFill>
                <a:latin typeface="Arial"/>
              </a:rPr>
              <a:t> в сообщении, ППР и заказе ТОРО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2313432"/>
            <a:ext cx="5417820" cy="777240"/>
          </a:xfrm>
          <a:prstGeom prst="roundRect">
            <a:avLst>
              <a:gd name="adj" fmla="val 18823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39496" y="2770632"/>
            <a:ext cx="5417820" cy="2057400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2313432"/>
            <a:ext cx="52349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Работы выполняет АО «Развитие»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898648"/>
            <a:ext cx="5052059" cy="18745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500"/>
              </a:spcAft>
              <a:buClr>
                <a:srgbClr val="3EF0AF"/>
              </a:buClr>
              <a:buFont typeface="Arial"/>
              <a:buChar char="•"/>
            </a:pPr>
            <a:r>
              <a:rPr sz="1400" b="0" i="0">
                <a:solidFill>
                  <a:srgbClr val="2A3138"/>
                </a:solidFill>
                <a:latin typeface="Arial"/>
              </a:rPr>
              <a:t>Сообщения и заказы — с планирующим заводом филиала «Развития»</a:t>
            </a:r>
          </a:p>
          <a:p>
            <a:pPr algn="l" marL="182880" indent="-182880">
              <a:spcAft>
                <a:spcPts val="500"/>
              </a:spcAft>
              <a:buClr>
                <a:srgbClr val="3EF0AF"/>
              </a:buClr>
              <a:buFont typeface="Arial"/>
              <a:buChar char="•"/>
            </a:pPr>
            <a:r>
              <a:rPr sz="1400" b="0" i="0">
                <a:solidFill>
                  <a:srgbClr val="2A3138"/>
                </a:solidFill>
                <a:latin typeface="Arial"/>
              </a:rPr>
              <a:t>ППР на обходы переносятся в «Развитие»: обходы делает ремонтный персонал</a:t>
            </a:r>
          </a:p>
          <a:p>
            <a:pPr algn="l" marL="182880" indent="-182880">
              <a:spcAft>
                <a:spcPts val="500"/>
              </a:spcAft>
              <a:buClr>
                <a:srgbClr val="3EF0AF"/>
              </a:buClr>
              <a:buFont typeface="Arial"/>
              <a:buChar char="•"/>
            </a:pPr>
            <a:r>
              <a:rPr sz="1400" b="0" i="0">
                <a:solidFill>
                  <a:srgbClr val="2A3138"/>
                </a:solidFill>
                <a:latin typeface="Arial"/>
              </a:rPr>
              <a:t>Давальческие МТР списываются со специального склада завода БЕ: в компонентах заказа меняют завод и склад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2313432"/>
            <a:ext cx="541782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31636" y="2770632"/>
            <a:ext cx="5417820" cy="2057400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3075" y="2313432"/>
            <a:ext cx="52349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Работы выполняет производственная БЕ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4516" y="2898648"/>
            <a:ext cx="5052059" cy="18745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500"/>
              </a:spcAft>
              <a:buClr>
                <a:srgbClr val="80868B"/>
              </a:buClr>
              <a:buFont typeface="Arial"/>
              <a:buChar char="•"/>
            </a:pPr>
            <a:r>
              <a:rPr sz="1400" b="0" i="0">
                <a:solidFill>
                  <a:srgbClr val="2A3138"/>
                </a:solidFill>
                <a:latin typeface="Arial"/>
              </a:rPr>
              <a:t>Документы остаются с планирующим заводом БЕ и в «Развитие» не переносятся</a:t>
            </a:r>
          </a:p>
          <a:p>
            <a:pPr algn="l" marL="182880" indent="-182880">
              <a:spcAft>
                <a:spcPts val="500"/>
              </a:spcAft>
              <a:buClr>
                <a:srgbClr val="80868B"/>
              </a:buClr>
              <a:buFont typeface="Arial"/>
              <a:buChar char="•"/>
            </a:pPr>
            <a:r>
              <a:rPr sz="1400" b="0" i="0">
                <a:solidFill>
                  <a:srgbClr val="2A3138"/>
                </a:solidFill>
                <a:latin typeface="Arial"/>
              </a:rPr>
              <a:t>ППР на ЕТО остаются в БЕ: ЕТО выполняет эксплуатация</a:t>
            </a:r>
          </a:p>
          <a:p>
            <a:pPr algn="l" marL="182880" indent="-182880">
              <a:spcAft>
                <a:spcPts val="500"/>
              </a:spcAft>
              <a:buClr>
                <a:srgbClr val="80868B"/>
              </a:buClr>
              <a:buFont typeface="Arial"/>
              <a:buChar char="•"/>
            </a:pPr>
            <a:r>
              <a:rPr sz="1400" b="0" i="0">
                <a:solidFill>
                  <a:srgbClr val="2A3138"/>
                </a:solidFill>
                <a:latin typeface="Arial"/>
              </a:rPr>
              <a:t>Технологические карты не переносятся: в ППР «Развития» используются карты БЕ, рабочие места подставляет настройка MEBOR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496" y="5056632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Недельный отзыв ППР. </a:t>
            </a:r>
            <a:r>
              <a:rPr sz="1300" b="0" i="0">
                <a:solidFill>
                  <a:srgbClr val="2A3138"/>
                </a:solidFill>
                <a:latin typeface="Arial"/>
              </a:rPr>
              <a:t>По группе «Механика», включая ЕТО, отзывы для АО «Полюс Вернинское» и АО «Развитие» выполняют планировщики «Развития»: ремонтный персонал механики переведён в «Развитие».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Оргструктура ТОРО в SAP</a:t>
            </a:r>
          </a:p>
        </p:txBody>
      </p:sp>
      <p:sp>
        <p:nvSpPr>
          <p:cNvPr id="3" name="Pentagon 2"/>
          <p:cNvSpPr/>
          <p:nvPr/>
        </p:nvSpPr>
        <p:spPr>
          <a:xfrm>
            <a:off x="539496" y="1261872"/>
            <a:ext cx="3642360" cy="868680"/>
          </a:xfrm>
          <a:prstGeom prst="homePlate">
            <a:avLst>
              <a:gd name="adj" fmla="val 32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rIns="260603" bIns="18288"/>
          <a:lstStyle/>
          <a:p>
            <a:pPr algn="ctr">
              <a:spcAft>
                <a:spcPts val="40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Завод расположения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313432"/>
            <a:ext cx="3185160" cy="1463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rgbClr val="2A3138"/>
                </a:solidFill>
                <a:latin typeface="Arial"/>
              </a:rPr>
              <a:t>Где физически стоит оборудование: ГТК, ЗИФ, управляющие офисы, перевалочные базы</a:t>
            </a:r>
          </a:p>
        </p:txBody>
      </p:sp>
      <p:sp>
        <p:nvSpPr>
          <p:cNvPr id="5" name="Chevron 4"/>
          <p:cNvSpPr/>
          <p:nvPr/>
        </p:nvSpPr>
        <p:spPr>
          <a:xfrm>
            <a:off x="4273296" y="1261872"/>
            <a:ext cx="3642360" cy="868680"/>
          </a:xfrm>
          <a:prstGeom prst="chevron">
            <a:avLst>
              <a:gd name="adj" fmla="val 32000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4845" tIns="18288" rIns="260603" bIns="18288"/>
          <a:lstStyle/>
          <a:p>
            <a:pPr algn="ctr">
              <a:spcAft>
                <a:spcPts val="40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Завод планирования ТОРО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10456" y="2313432"/>
            <a:ext cx="3185160" cy="1463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rgbClr val="2A3138"/>
                </a:solidFill>
                <a:latin typeface="Arial"/>
              </a:rPr>
              <a:t>Где планируют работы и потребность в МТР, ведут остатки и собирают затраты. Один к одному с логистическим заводом</a:t>
            </a:r>
          </a:p>
        </p:txBody>
      </p:sp>
      <p:sp>
        <p:nvSpPr>
          <p:cNvPr id="7" name="Chevron 6"/>
          <p:cNvSpPr/>
          <p:nvPr/>
        </p:nvSpPr>
        <p:spPr>
          <a:xfrm>
            <a:off x="8007096" y="1261872"/>
            <a:ext cx="3642360" cy="868680"/>
          </a:xfrm>
          <a:prstGeom prst="chevron">
            <a:avLst>
              <a:gd name="adj" fmla="val 32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4845" tIns="18288" rIns="260603" bIns="18288"/>
          <a:lstStyle/>
          <a:p>
            <a:pPr algn="ctr">
              <a:spcAft>
                <a:spcPts val="400"/>
              </a:spcAft>
              <a:buNone/>
            </a:pPr>
            <a:r>
              <a:rPr sz="1600" b="1" i="0">
                <a:solidFill>
                  <a:srgbClr val="2A3138"/>
                </a:solidFill>
                <a:latin typeface="Arial"/>
              </a:rPr>
              <a:t>Группа плановиков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44256" y="2313432"/>
            <a:ext cx="3185160" cy="1463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rgbClr val="2A3138"/>
                </a:solidFill>
                <a:latin typeface="Arial"/>
              </a:rPr>
              <a:t>Подразделение внутри завода: механика, энергетика, КИПиА. По ней разграничены полномочия на заказы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6" y="3840480"/>
            <a:ext cx="11109960" cy="1965960"/>
          </a:xfrm>
          <a:prstGeom prst="roundRect">
            <a:avLst>
              <a:gd name="adj" fmla="val 837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5" y="3977639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Откуда заказ берёт ответственных</a:t>
            </a:r>
          </a:p>
        </p:txBody>
      </p:sp>
      <p:sp>
        <p:nvSpPr>
          <p:cNvPr id="11" name="Pentagon 10"/>
          <p:cNvSpPr/>
          <p:nvPr/>
        </p:nvSpPr>
        <p:spPr>
          <a:xfrm>
            <a:off x="813815" y="4434840"/>
            <a:ext cx="2148840" cy="566928"/>
          </a:xfrm>
          <a:prstGeom prst="homePlate">
            <a:avLst>
              <a:gd name="adj" fmla="val 32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rIns="170078" bIns="18288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ТМ / ЕО</a:t>
            </a:r>
          </a:p>
        </p:txBody>
      </p:sp>
      <p:sp>
        <p:nvSpPr>
          <p:cNvPr id="12" name="Chevron 11"/>
          <p:cNvSpPr/>
          <p:nvPr/>
        </p:nvSpPr>
        <p:spPr>
          <a:xfrm>
            <a:off x="3008376" y="4434840"/>
            <a:ext cx="2148840" cy="566928"/>
          </a:xfrm>
          <a:prstGeom prst="chevron">
            <a:avLst>
              <a:gd name="adj" fmla="val 32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8109" tIns="18288" rIns="170078" bIns="18288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План ППР</a:t>
            </a:r>
          </a:p>
        </p:txBody>
      </p:sp>
      <p:sp>
        <p:nvSpPr>
          <p:cNvPr id="13" name="Chevron 12"/>
          <p:cNvSpPr/>
          <p:nvPr/>
        </p:nvSpPr>
        <p:spPr>
          <a:xfrm>
            <a:off x="5202936" y="4434840"/>
            <a:ext cx="2148840" cy="566928"/>
          </a:xfrm>
          <a:prstGeom prst="chevron">
            <a:avLst>
              <a:gd name="adj" fmla="val 32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8109" tIns="18288" rIns="170078" bIns="18288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Сообщение</a:t>
            </a:r>
          </a:p>
        </p:txBody>
      </p:sp>
      <p:sp>
        <p:nvSpPr>
          <p:cNvPr id="14" name="Chevron 13"/>
          <p:cNvSpPr/>
          <p:nvPr/>
        </p:nvSpPr>
        <p:spPr>
          <a:xfrm>
            <a:off x="7397496" y="4434840"/>
            <a:ext cx="2148840" cy="566928"/>
          </a:xfrm>
          <a:prstGeom prst="chevron">
            <a:avLst>
              <a:gd name="adj" fmla="val 32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8109" tIns="18288" rIns="170078" bIns="18288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Заказ ТОРО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" y="5138928"/>
            <a:ext cx="1056132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После отзыва ППР ответственных в заказе изменить нельзя. </a:t>
            </a:r>
            <a:r>
              <a:rPr sz="1300" b="0" i="0">
                <a:solidFill>
                  <a:srgbClr val="2A3138"/>
                </a:solidFill>
                <a:latin typeface="Arial"/>
              </a:rPr>
              <a:t>Массово сменить ответственных можно заранее: в ТМ — IL05, в ЕО — IE05, в позициях ППР — IP17.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Статусная схема заказа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Как устроен статус, профили, фазы, согласование и справочник кодов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Как устроен статус заказа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1109960" cy="1325880"/>
          </a:xfrm>
          <a:prstGeom prst="roundRect">
            <a:avLst>
              <a:gd name="adj" fmla="val 1241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5" y="1188719"/>
            <a:ext cx="105613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3EF0AF"/>
                </a:solidFill>
                <a:latin typeface="Arial"/>
              </a:rPr>
              <a:t>Заказ 1102309352</a:t>
            </a:r>
            <a:r>
              <a:rPr sz="1300" b="0" i="0">
                <a:solidFill>
                  <a:srgbClr val="D8D8D8"/>
                </a:solidFill>
                <a:latin typeface="Arial"/>
              </a:rPr>
              <a:t>  ·  APP1 «ТОРО по ППР»  ·  как в выгрузке PM-06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5" y="1554480"/>
            <a:ext cx="1056132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D8D8D8"/>
                </a:solidFill>
                <a:latin typeface="Arial"/>
              </a:rPr>
              <a:t>Системный статус      </a:t>
            </a:r>
            <a:r>
              <a:rPr sz="1300" b="1" i="0">
                <a:solidFill>
                  <a:srgbClr val="FFFFFF"/>
                </a:solidFill>
                <a:latin typeface="Arial"/>
              </a:rPr>
              <a:t>ДЕБЛ ДМНП ОБСЗ ПКАЛ ПРВВ ЧПДТ ЧПЕЧ</a:t>
            </a:r>
          </a:p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D8D8D8"/>
                </a:solidFill>
                <a:latin typeface="Arial"/>
              </a:rPr>
              <a:t>Пользовательский      </a:t>
            </a:r>
            <a:r>
              <a:rPr sz="1300" b="1" i="0">
                <a:solidFill>
                  <a:srgbClr val="FFFFFF"/>
                </a:solidFill>
                <a:latin typeface="Arial"/>
              </a:rPr>
              <a:t>ГИП ГОД КОРБ МЕС МТРЦ НЕД ПЗТГ ПТОГ ПТОМ СГГС СГЛБ СРОЧ УТВГ УТВМ УТВН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496" y="2633472"/>
            <a:ext cx="5417820" cy="2514600"/>
          </a:xfrm>
          <a:prstGeom prst="roundRect">
            <a:avLst>
              <a:gd name="adj" fmla="val 654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724912"/>
            <a:ext cx="49606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Системный — ставит SAP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3182111"/>
            <a:ext cx="1600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Фаза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68296" y="3182111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ДЕБЛ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566159"/>
            <a:ext cx="1600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Исполнение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68296" y="3566159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rial"/>
              </a:rPr>
              <a:t>ЧПДТ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950207"/>
            <a:ext cx="1600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Служебные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68296" y="3950207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ДМНП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26663" y="3950207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ОБСЗ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85031" y="3950207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ПКАЛ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399" y="3950207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ПРВВ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01767" y="3950207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ЧПЕЧ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1636" y="2633472"/>
            <a:ext cx="5417820" cy="2514600"/>
          </a:xfrm>
          <a:prstGeom prst="roundRect">
            <a:avLst>
              <a:gd name="adj" fmla="val 654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0236" y="2724912"/>
            <a:ext cx="49606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Пользовательский — задаёт профиль статусов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0236" y="3182111"/>
            <a:ext cx="1600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Согласование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0436" y="3182111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СГГС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0236" y="3566159"/>
            <a:ext cx="1600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Годовой план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0436" y="3566159"/>
            <a:ext cx="493776" cy="310896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rial"/>
              </a:rPr>
              <a:t>ГОД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27363" y="3566159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rial"/>
              </a:rPr>
              <a:t>ПТОГ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85732" y="3566159"/>
            <a:ext cx="493776" cy="310896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rial"/>
              </a:rPr>
              <a:t>ГИП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52659" y="3566159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rial"/>
              </a:rPr>
              <a:t>УТВГ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0236" y="3950207"/>
            <a:ext cx="1600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Месяц и неделя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0436" y="3950207"/>
            <a:ext cx="493776" cy="310896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rial"/>
              </a:rPr>
              <a:t>МЕС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27363" y="3950207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rial"/>
              </a:rPr>
              <a:t>ПТОМ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285732" y="3950207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rial"/>
              </a:rPr>
              <a:t>УТВМ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44100" y="3950207"/>
            <a:ext cx="493776" cy="310896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rial"/>
              </a:rPr>
              <a:t>НЕД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511028" y="3950207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rial"/>
              </a:rPr>
              <a:t>УТВН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0236" y="4334255"/>
            <a:ext cx="1600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Бюджет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60436" y="4334255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rial"/>
              </a:rPr>
              <a:t>КОРБ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718804" y="4334255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rial"/>
              </a:rPr>
              <a:t>СГЛБ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77172" y="4334255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rial"/>
              </a:rPr>
              <a:t>ПЗТГ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60236" y="4718303"/>
            <a:ext cx="1600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Материалы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60436" y="4718303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МТРЦ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18804" y="4718303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СРОЧ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9496" y="5303520"/>
            <a:ext cx="11109960" cy="566928"/>
          </a:xfrm>
          <a:prstGeom prst="roundRect">
            <a:avLst>
              <a:gd name="adj" fmla="val 22580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36576" rIns="228600" bIns="36576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Читаем: </a:t>
            </a:r>
            <a:r>
              <a:rPr sz="1300" b="0" i="0">
                <a:solidFill>
                  <a:srgbClr val="2A3138"/>
                </a:solidFill>
                <a:latin typeface="Arial"/>
              </a:rPr>
              <a:t>деблокирован, работы подтверждены частично; согласован главным специалистом; утверждён в годовом, месячном и недельном плане; бюджет скорректирован; МТР оценены, есть срочная закупка.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Профиль статусов зависит от вида заказа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70432"/>
            <a:ext cx="11109960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76656" y="1344168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PM_ORDER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6856" y="1207008"/>
            <a:ext cx="63093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APP1</a:t>
            </a:r>
            <a:r>
              <a:rPr sz="1200" b="0" i="0">
                <a:solidFill>
                  <a:srgbClr val="5B6167"/>
                </a:solidFill>
                <a:latin typeface="Arial"/>
              </a:rPr>
              <a:t> ТОРО по ППР</a:t>
            </a:r>
            <a:r>
              <a:rPr sz="1200" b="0" i="0">
                <a:solidFill>
                  <a:srgbClr val="2A3138"/>
                </a:solidFill>
                <a:latin typeface="Arial"/>
              </a:rPr>
              <a:t>    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AVS1</a:t>
            </a:r>
            <a:r>
              <a:rPr sz="1200" b="0" i="0">
                <a:solidFill>
                  <a:srgbClr val="5B6167"/>
                </a:solidFill>
                <a:latin typeface="Arial"/>
              </a:rPr>
              <a:t> Внеплановое ТОРО</a:t>
            </a:r>
            <a:r>
              <a:rPr sz="1200" b="0" i="0">
                <a:solidFill>
                  <a:srgbClr val="2A3138"/>
                </a:solidFill>
                <a:latin typeface="Arial"/>
              </a:rPr>
              <a:t>    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ATS1</a:t>
            </a:r>
            <a:r>
              <a:rPr sz="1200" b="0" i="0">
                <a:solidFill>
                  <a:srgbClr val="5B6167"/>
                </a:solidFill>
                <a:latin typeface="Arial"/>
              </a:rPr>
              <a:t> ТОРО по состоянию</a:t>
            </a:r>
            <a:r>
              <a:rPr sz="1200" b="0" i="0">
                <a:solidFill>
                  <a:srgbClr val="2A3138"/>
                </a:solidFill>
                <a:latin typeface="Arial"/>
              </a:rPr>
              <a:t>    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ADI1</a:t>
            </a:r>
            <a:r>
              <a:rPr sz="1200" b="0" i="0">
                <a:solidFill>
                  <a:srgbClr val="5B6167"/>
                </a:solidFill>
                <a:latin typeface="Arial"/>
              </a:rPr>
              <a:t> Диагностика</a:t>
            </a:r>
            <a:r>
              <a:rPr sz="1200" b="0" i="0">
                <a:solidFill>
                  <a:srgbClr val="2A3138"/>
                </a:solidFill>
                <a:latin typeface="Arial"/>
              </a:rPr>
              <a:t>    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APB1</a:t>
            </a:r>
            <a:r>
              <a:rPr sz="1200" b="0" i="0">
                <a:solidFill>
                  <a:srgbClr val="5B6167"/>
                </a:solidFill>
                <a:latin typeface="Arial"/>
              </a:rPr>
              <a:t> Выполнение ЭПБ</a:t>
            </a:r>
            <a:r>
              <a:rPr sz="1200" b="0" i="0">
                <a:solidFill>
                  <a:srgbClr val="2A3138"/>
                </a:solidFill>
                <a:latin typeface="Arial"/>
              </a:rPr>
              <a:t>    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ATU1</a:t>
            </a:r>
            <a:r>
              <a:rPr sz="1200" b="0" i="0">
                <a:solidFill>
                  <a:srgbClr val="5B6167"/>
                </a:solidFill>
                <a:latin typeface="Arial"/>
              </a:rPr>
              <a:t> Технический заказ ТО</a:t>
            </a:r>
            <a:r>
              <a:rPr sz="1200" b="0" i="0">
                <a:solidFill>
                  <a:srgbClr val="2A3138"/>
                </a:solidFill>
                <a:latin typeface="Arial"/>
              </a:rPr>
              <a:t>   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23376" y="1207008"/>
            <a:ext cx="27889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Основная схема: ПЛАН → СГПЛ → ССПЛ → СГГС, планы, бюджет, приёмка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" y="1956816"/>
            <a:ext cx="11109960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6656" y="2130552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200" b="1" i="0">
                <a:solidFill>
                  <a:srgbClr val="3EF0AF"/>
                </a:solidFill>
                <a:latin typeface="Arial"/>
              </a:rPr>
              <a:t>PM_ORD01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76856" y="1993392"/>
            <a:ext cx="63093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ARP1</a:t>
            </a:r>
            <a:r>
              <a:rPr sz="1200" b="0" i="0">
                <a:solidFill>
                  <a:srgbClr val="5B6167"/>
                </a:solidFill>
                <a:latin typeface="Arial"/>
              </a:rPr>
              <a:t> Заказ на РПМ</a:t>
            </a:r>
            <a:r>
              <a:rPr sz="1200" b="0" i="0">
                <a:solidFill>
                  <a:srgbClr val="2A3138"/>
                </a:solidFill>
                <a:latin typeface="Arial"/>
              </a:rPr>
              <a:t>    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ASR1</a:t>
            </a:r>
            <a:r>
              <a:rPr sz="1200" b="0" i="0">
                <a:solidFill>
                  <a:srgbClr val="5B6167"/>
                </a:solidFill>
                <a:latin typeface="Arial"/>
              </a:rPr>
              <a:t> Заказ на сервис</a:t>
            </a:r>
            <a:r>
              <a:rPr sz="1200" b="0" i="0">
                <a:solidFill>
                  <a:srgbClr val="2A3138"/>
                </a:solidFill>
                <a:latin typeface="Arial"/>
              </a:rPr>
              <a:t>    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AV01</a:t>
            </a:r>
            <a:r>
              <a:rPr sz="1200" b="0" i="0">
                <a:solidFill>
                  <a:srgbClr val="5B6167"/>
                </a:solidFill>
                <a:latin typeface="Arial"/>
              </a:rPr>
              <a:t> Восстановление узлов</a:t>
            </a:r>
            <a:r>
              <a:rPr sz="1200" b="0" i="0">
                <a:solidFill>
                  <a:srgbClr val="2A3138"/>
                </a:solidFill>
                <a:latin typeface="Arial"/>
              </a:rPr>
              <a:t>    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AV02</a:t>
            </a:r>
            <a:r>
              <a:rPr sz="1200" b="0" i="0">
                <a:solidFill>
                  <a:srgbClr val="5B6167"/>
                </a:solidFill>
                <a:latin typeface="Arial"/>
              </a:rPr>
              <a:t> Восстановление узлов и запчастей</a:t>
            </a:r>
            <a:r>
              <a:rPr sz="1200" b="0" i="0">
                <a:solidFill>
                  <a:srgbClr val="2A3138"/>
                </a:solidFill>
                <a:latin typeface="Arial"/>
              </a:rPr>
              <a:t>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23376" y="1993392"/>
            <a:ext cx="27889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Ремонт и восстановление узлов, сервис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" y="2743200"/>
            <a:ext cx="11109960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6656" y="2916936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200" b="1" i="0">
                <a:solidFill>
                  <a:srgbClr val="3EF0AF"/>
                </a:solidFill>
                <a:latin typeface="Arial"/>
              </a:rPr>
              <a:t>PM_ORD02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76856" y="2779776"/>
            <a:ext cx="63093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AVR1</a:t>
            </a:r>
            <a:r>
              <a:rPr sz="1200" b="0" i="0">
                <a:solidFill>
                  <a:srgbClr val="5B6167"/>
                </a:solidFill>
                <a:latin typeface="Arial"/>
              </a:rPr>
              <a:t> Аварийное ТОРО</a:t>
            </a:r>
            <a:r>
              <a:rPr sz="1200" b="0" i="0">
                <a:solidFill>
                  <a:srgbClr val="2A3138"/>
                </a:solidFill>
                <a:latin typeface="Arial"/>
              </a:rPr>
              <a:t>   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23376" y="2779776"/>
            <a:ext cx="27889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Аварийный заказ деблокируют сразу после создания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" y="3529584"/>
            <a:ext cx="11109960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656" y="370332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200" b="1" i="0">
                <a:solidFill>
                  <a:srgbClr val="3EF0AF"/>
                </a:solidFill>
                <a:latin typeface="Arial"/>
              </a:rPr>
              <a:t>PM_ORD03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3566160"/>
            <a:ext cx="63093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APRO</a:t>
            </a:r>
            <a:r>
              <a:rPr sz="1200" b="0" i="0">
                <a:solidFill>
                  <a:srgbClr val="5B6167"/>
                </a:solidFill>
                <a:latin typeface="Arial"/>
              </a:rPr>
              <a:t> Прочие работы</a:t>
            </a:r>
            <a:r>
              <a:rPr sz="1200" b="0" i="0">
                <a:solidFill>
                  <a:srgbClr val="2A3138"/>
                </a:solidFill>
                <a:latin typeface="Arial"/>
              </a:rPr>
              <a:t>    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23376" y="3566160"/>
            <a:ext cx="27889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Работы, не относящиеся к ТОиР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9496" y="4315968"/>
            <a:ext cx="11109960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656" y="4489704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200" b="1" i="0">
                <a:solidFill>
                  <a:srgbClr val="3EF0AF"/>
                </a:solidFill>
                <a:latin typeface="Arial"/>
              </a:rPr>
              <a:t>PM_ETO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76856" y="4352544"/>
            <a:ext cx="63093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AETG</a:t>
            </a:r>
            <a:r>
              <a:rPr sz="1200" b="0" i="0">
                <a:solidFill>
                  <a:srgbClr val="5B6167"/>
                </a:solidFill>
                <a:latin typeface="Arial"/>
              </a:rPr>
              <a:t> ЕТО на ГТК</a:t>
            </a:r>
            <a:r>
              <a:rPr sz="1200" b="0" i="0">
                <a:solidFill>
                  <a:srgbClr val="2A3138"/>
                </a:solidFill>
                <a:latin typeface="Arial"/>
              </a:rPr>
              <a:t>    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AETZ</a:t>
            </a:r>
            <a:r>
              <a:rPr sz="1200" b="0" i="0">
                <a:solidFill>
                  <a:srgbClr val="5B6167"/>
                </a:solidFill>
                <a:latin typeface="Arial"/>
              </a:rPr>
              <a:t> Обходы и осмотры</a:t>
            </a:r>
            <a:r>
              <a:rPr sz="1200" b="0" i="0">
                <a:solidFill>
                  <a:srgbClr val="2A3138"/>
                </a:solidFill>
                <a:latin typeface="Arial"/>
              </a:rPr>
              <a:t>   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3376" y="4352544"/>
            <a:ext cx="27889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Начальный статус ЗАПЛ, без цепочки согласования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9496" y="5102352"/>
            <a:ext cx="11109960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76656" y="5276088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200" b="1" i="0">
                <a:solidFill>
                  <a:srgbClr val="3EF0AF"/>
                </a:solidFill>
                <a:latin typeface="Arial"/>
              </a:rPr>
              <a:t>PM_CRMM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76856" y="5138928"/>
            <a:ext cx="63093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ACR1</a:t>
            </a:r>
            <a:r>
              <a:rPr sz="1200" b="0" i="0">
                <a:solidFill>
                  <a:srgbClr val="5B6167"/>
                </a:solidFill>
                <a:latin typeface="Arial"/>
              </a:rPr>
              <a:t/>
            </a:r>
            <a:r>
              <a:rPr sz="1200" b="0" i="0">
                <a:solidFill>
                  <a:srgbClr val="2A3138"/>
                </a:solidFill>
                <a:latin typeface="Arial"/>
              </a:rPr>
              <a:t>   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23376" y="5138928"/>
            <a:ext cx="27889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В выгрузках PM-06 не встречается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Фаза заказа — один системный статус</a:t>
            </a:r>
          </a:p>
        </p:txBody>
      </p:sp>
      <p:sp>
        <p:nvSpPr>
          <p:cNvPr id="3" name="Pentagon 2"/>
          <p:cNvSpPr/>
          <p:nvPr/>
        </p:nvSpPr>
        <p:spPr>
          <a:xfrm>
            <a:off x="539496" y="1307592"/>
            <a:ext cx="2148840" cy="914400"/>
          </a:xfrm>
          <a:prstGeom prst="homePlate">
            <a:avLst>
              <a:gd name="adj" fmla="val 32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rIns="274320" bIns="18288"/>
          <a:lstStyle/>
          <a:p>
            <a:pPr algn="ctr">
              <a:spcAft>
                <a:spcPts val="400"/>
              </a:spcAft>
              <a:buNone/>
            </a:pPr>
            <a:r>
              <a:rPr sz="1700" b="1" i="0">
                <a:solidFill>
                  <a:srgbClr val="2A3138"/>
                </a:solidFill>
                <a:latin typeface="Arial"/>
              </a:rPr>
              <a:t>нет статуса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2404872"/>
            <a:ext cx="1828800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6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Позиция ППР</a:t>
            </a:r>
          </a:p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2A3138"/>
                </a:solidFill>
                <a:latin typeface="Arial"/>
              </a:rPr>
              <a:t>Заказа ещё нет. Не план и не потребность</a:t>
            </a:r>
          </a:p>
        </p:txBody>
      </p:sp>
      <p:sp>
        <p:nvSpPr>
          <p:cNvPr id="5" name="Chevron 4"/>
          <p:cNvSpPr/>
          <p:nvPr/>
        </p:nvSpPr>
        <p:spPr>
          <a:xfrm>
            <a:off x="2779776" y="1307592"/>
            <a:ext cx="2148840" cy="914400"/>
          </a:xfrm>
          <a:prstGeom prst="chevron">
            <a:avLst>
              <a:gd name="adj" fmla="val 32000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tIns="18288" rIns="274320" bIns="18288"/>
          <a:lstStyle/>
          <a:p>
            <a:pPr algn="ctr">
              <a:spcAft>
                <a:spcPts val="4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ОТКР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9504" y="2404872"/>
            <a:ext cx="1828800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6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Открыт</a:t>
            </a:r>
          </a:p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2A3138"/>
                </a:solidFill>
                <a:latin typeface="Arial"/>
              </a:rPr>
              <a:t>Планирование и согласование</a:t>
            </a:r>
          </a:p>
        </p:txBody>
      </p:sp>
      <p:sp>
        <p:nvSpPr>
          <p:cNvPr id="7" name="Chevron 6"/>
          <p:cNvSpPr/>
          <p:nvPr/>
        </p:nvSpPr>
        <p:spPr>
          <a:xfrm>
            <a:off x="5020056" y="1307592"/>
            <a:ext cx="2148840" cy="914400"/>
          </a:xfrm>
          <a:prstGeom prst="chevron">
            <a:avLst>
              <a:gd name="adj" fmla="val 32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tIns="18288" rIns="274320" bIns="18288"/>
          <a:lstStyle/>
          <a:p>
            <a:pPr algn="ctr">
              <a:spcAft>
                <a:spcPts val="4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ДЕБЛ · ЧДЕБ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9784" y="2404872"/>
            <a:ext cx="1828800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6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Деблокирован</a:t>
            </a:r>
          </a:p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2A3138"/>
                </a:solidFill>
                <a:latin typeface="Arial"/>
              </a:rPr>
              <a:t>Разрешены проводки: подтверждения, списание МТР, счета</a:t>
            </a:r>
          </a:p>
        </p:txBody>
      </p:sp>
      <p:sp>
        <p:nvSpPr>
          <p:cNvPr id="9" name="Chevron 8"/>
          <p:cNvSpPr/>
          <p:nvPr/>
        </p:nvSpPr>
        <p:spPr>
          <a:xfrm>
            <a:off x="7260336" y="1307592"/>
            <a:ext cx="2148840" cy="914400"/>
          </a:xfrm>
          <a:prstGeom prst="chevron">
            <a:avLst>
              <a:gd name="adj" fmla="val 32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tIns="18288" rIns="274320" bIns="18288"/>
          <a:lstStyle/>
          <a:p>
            <a:pPr algn="ctr">
              <a:spcAft>
                <a:spcPts val="400"/>
              </a:spcAft>
              <a:buNone/>
            </a:pPr>
            <a:r>
              <a:rPr sz="1700" b="1" i="0">
                <a:solidFill>
                  <a:srgbClr val="2A3138"/>
                </a:solidFill>
                <a:latin typeface="Arial"/>
              </a:rPr>
              <a:t>ТЗКР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0064" y="2404872"/>
            <a:ext cx="1828800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6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Технически закрыт</a:t>
            </a:r>
          </a:p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2A3138"/>
                </a:solidFill>
                <a:latin typeface="Arial"/>
              </a:rPr>
              <a:t>Только из ДЕБЛ. Работы завершены</a:t>
            </a:r>
          </a:p>
        </p:txBody>
      </p:sp>
      <p:sp>
        <p:nvSpPr>
          <p:cNvPr id="11" name="Chevron 10"/>
          <p:cNvSpPr/>
          <p:nvPr/>
        </p:nvSpPr>
        <p:spPr>
          <a:xfrm>
            <a:off x="9500616" y="1307592"/>
            <a:ext cx="2148840" cy="914400"/>
          </a:xfrm>
          <a:prstGeom prst="chevron">
            <a:avLst>
              <a:gd name="adj" fmla="val 32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 tIns="18288" rIns="274320" bIns="18288"/>
          <a:lstStyle/>
          <a:p>
            <a:pPr algn="ctr">
              <a:spcAft>
                <a:spcPts val="400"/>
              </a:spcAft>
              <a:buNone/>
            </a:pPr>
            <a:r>
              <a:rPr sz="1700" b="1" i="0">
                <a:solidFill>
                  <a:srgbClr val="2A3138"/>
                </a:solidFill>
                <a:latin typeface="Arial"/>
              </a:rPr>
              <a:t>ЗАКР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10344" y="2404872"/>
            <a:ext cx="1828800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6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Закрыт коммерчески</a:t>
            </a:r>
          </a:p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2A3138"/>
                </a:solidFill>
                <a:latin typeface="Arial"/>
              </a:rPr>
              <a:t>Только из ТЗКР при нулевом сальдо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" y="3977639"/>
            <a:ext cx="6766560" cy="1783080"/>
          </a:xfrm>
          <a:prstGeom prst="roundRect">
            <a:avLst>
              <a:gd name="adj" fmla="val 923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4114800"/>
            <a:ext cx="6217920" cy="1554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800"/>
              </a:spcAft>
              <a:buNone/>
            </a:pPr>
            <a:r>
              <a:rPr sz="2200" b="1" i="0">
                <a:solidFill>
                  <a:srgbClr val="3EF0AF"/>
                </a:solidFill>
                <a:latin typeface="Arial"/>
              </a:rPr>
              <a:t>Заказ закрыт, если стоит ТЗКР или ЗАКР</a:t>
            </a:r>
          </a:p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rgbClr val="FFFFFF"/>
                </a:solidFill>
                <a:latin typeface="Arial"/>
              </a:rPr>
              <a:t>Остаток «план − факт» у закрытого заказа — не потребность. Заказ, закрытый без факта, — это отменённая или перенесённая работа.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0376" y="3977639"/>
            <a:ext cx="4069080" cy="1783080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 marL="182880" indent="-182880">
              <a:spcAft>
                <a:spcPts val="8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Удалённые заказы (МТКУ) в отчёты BW не попадают</a:t>
            </a:r>
          </a:p>
          <a:p>
            <a:pPr algn="l" marL="182880" indent="-182880">
              <a:spcAft>
                <a:spcPts val="8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Позиции ППР — номера 1ХХХХХХХХХХХ из диапазона планов ТОРО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Согласование заказа: кто ставит статус</a:t>
            </a:r>
          </a:p>
        </p:txBody>
      </p:sp>
      <p:sp>
        <p:nvSpPr>
          <p:cNvPr id="3" name="Pentagon 2"/>
          <p:cNvSpPr/>
          <p:nvPr/>
        </p:nvSpPr>
        <p:spPr>
          <a:xfrm>
            <a:off x="539496" y="1261872"/>
            <a:ext cx="2148840" cy="777240"/>
          </a:xfrm>
          <a:prstGeom prst="homePlate">
            <a:avLst>
              <a:gd name="adj" fmla="val 32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rIns="233172" bIns="18288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ПЛАН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2221991"/>
            <a:ext cx="2039112" cy="2148840"/>
          </a:xfrm>
          <a:prstGeom prst="roundRect">
            <a:avLst>
              <a:gd name="adj" fmla="val 717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2340863"/>
            <a:ext cx="1737360" cy="1965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6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Система</a:t>
            </a:r>
          </a:p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5B6167"/>
                </a:solidFill>
                <a:latin typeface="Arial"/>
              </a:rPr>
              <a:t>Ставится автоматически при создании заказа</a:t>
            </a:r>
          </a:p>
        </p:txBody>
      </p:sp>
      <p:sp>
        <p:nvSpPr>
          <p:cNvPr id="6" name="Chevron 5"/>
          <p:cNvSpPr/>
          <p:nvPr/>
        </p:nvSpPr>
        <p:spPr>
          <a:xfrm>
            <a:off x="2779776" y="1261872"/>
            <a:ext cx="2148840" cy="777240"/>
          </a:xfrm>
          <a:prstGeom prst="chevron">
            <a:avLst>
              <a:gd name="adj" fmla="val 32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6440" tIns="18288" rIns="233172" bIns="18288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СГПЛ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79776" y="2221991"/>
            <a:ext cx="2039112" cy="2148840"/>
          </a:xfrm>
          <a:prstGeom prst="roundRect">
            <a:avLst>
              <a:gd name="adj" fmla="val 7174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44368" y="2340863"/>
            <a:ext cx="1737360" cy="1965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6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Планировщик ТОиР</a:t>
            </a:r>
          </a:p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5B6167"/>
                </a:solidFill>
                <a:latin typeface="Arial"/>
              </a:rPr>
              <a:t>Проверил лимиты, присвоил СПП-элемент, отправил на согласование</a:t>
            </a:r>
          </a:p>
        </p:txBody>
      </p:sp>
      <p:sp>
        <p:nvSpPr>
          <p:cNvPr id="9" name="Chevron 8"/>
          <p:cNvSpPr/>
          <p:nvPr/>
        </p:nvSpPr>
        <p:spPr>
          <a:xfrm>
            <a:off x="5020056" y="1261872"/>
            <a:ext cx="2148840" cy="777240"/>
          </a:xfrm>
          <a:prstGeom prst="chevron">
            <a:avLst>
              <a:gd name="adj" fmla="val 32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6440" tIns="18288" rIns="233172" bIns="18288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ССПЛ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0056" y="2221991"/>
            <a:ext cx="2039112" cy="2148840"/>
          </a:xfrm>
          <a:prstGeom prst="roundRect">
            <a:avLst>
              <a:gd name="adj" fmla="val 717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84648" y="2340863"/>
            <a:ext cx="1737360" cy="1965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6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Старший планировщик</a:t>
            </a:r>
          </a:p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5B6167"/>
                </a:solidFill>
                <a:latin typeface="Arial"/>
              </a:rPr>
              <a:t>Проанализировал в ZPM_PLAN и согласовал. Заказ блокируется для изменений</a:t>
            </a:r>
          </a:p>
        </p:txBody>
      </p:sp>
      <p:sp>
        <p:nvSpPr>
          <p:cNvPr id="12" name="Chevron 11"/>
          <p:cNvSpPr/>
          <p:nvPr/>
        </p:nvSpPr>
        <p:spPr>
          <a:xfrm>
            <a:off x="7260336" y="1261872"/>
            <a:ext cx="2148840" cy="777240"/>
          </a:xfrm>
          <a:prstGeom prst="chevron">
            <a:avLst>
              <a:gd name="adj" fmla="val 32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6440" tIns="18288" rIns="233172" bIns="18288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СГГС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60336" y="2221991"/>
            <a:ext cx="2039112" cy="2148840"/>
          </a:xfrm>
          <a:prstGeom prst="roundRect">
            <a:avLst>
              <a:gd name="adj" fmla="val 717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24928" y="2340863"/>
            <a:ext cx="1737360" cy="1965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6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Главный специалист ТОиР</a:t>
            </a:r>
          </a:p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5B6167"/>
                </a:solidFill>
                <a:latin typeface="Arial"/>
              </a:rPr>
              <a:t>Проверил корректность планирования и согласовал</a:t>
            </a:r>
          </a:p>
        </p:txBody>
      </p:sp>
      <p:sp>
        <p:nvSpPr>
          <p:cNvPr id="15" name="Chevron 14"/>
          <p:cNvSpPr/>
          <p:nvPr/>
        </p:nvSpPr>
        <p:spPr>
          <a:xfrm>
            <a:off x="9500616" y="1261872"/>
            <a:ext cx="2148840" cy="777240"/>
          </a:xfrm>
          <a:prstGeom prst="chevron">
            <a:avLst>
              <a:gd name="adj" fmla="val 32000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6440" tIns="18288" rIns="233172" bIns="18288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ДЕБЛ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0616" y="2221991"/>
            <a:ext cx="2039112" cy="2148840"/>
          </a:xfrm>
          <a:prstGeom prst="roundRect">
            <a:avLst>
              <a:gd name="adj" fmla="val 717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65208" y="2340863"/>
            <a:ext cx="1737360" cy="1965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6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Старший планировщик</a:t>
            </a:r>
          </a:p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5B6167"/>
                </a:solidFill>
                <a:latin typeface="Arial"/>
              </a:rPr>
              <a:t>Деблокирует согласованные заказы: можно отражать факт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9496" y="4617720"/>
            <a:ext cx="3520440" cy="1234440"/>
          </a:xfrm>
          <a:prstGeom prst="roundRect">
            <a:avLst>
              <a:gd name="adj" fmla="val 11851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4709160"/>
            <a:ext cx="3118104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3EF0AF"/>
                </a:solidFill>
                <a:latin typeface="Arial"/>
              </a:rPr>
              <a:t>Один активный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Порядковый статус всегда один. Два сразу — заказ был согласован и сброшен обратно в план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4256" y="4617720"/>
            <a:ext cx="3520440" cy="1234440"/>
          </a:xfrm>
          <a:prstGeom prst="roundRect">
            <a:avLst>
              <a:gd name="adj" fmla="val 11851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35424" y="4709160"/>
            <a:ext cx="3118104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3EF0AF"/>
                </a:solidFill>
                <a:latin typeface="Arial"/>
              </a:rPr>
              <a:t>Упрощённая схема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Заказ в пределах настроечных условий деблокируют без согласования старшим и главным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9016" y="4617720"/>
            <a:ext cx="3520440" cy="1234440"/>
          </a:xfrm>
          <a:prstGeom prst="roundRect">
            <a:avLst>
              <a:gd name="adj" fmla="val 11851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0184" y="4709160"/>
            <a:ext cx="3118104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3EF0AF"/>
                </a:solidFill>
                <a:latin typeface="Arial"/>
              </a:rPr>
              <a:t>Активный ЗНК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Пока есть необработанный запрос на корректировку, сроки и статусы согласования не меняются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Статусы планов, бюджета и материалов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216151"/>
            <a:ext cx="2606040" cy="777240"/>
          </a:xfrm>
          <a:prstGeom prst="roundRect">
            <a:avLst>
              <a:gd name="adj" fmla="val 18823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9496" y="1673352"/>
            <a:ext cx="2606040" cy="416052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21615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Годовой план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856231"/>
            <a:ext cx="987552" cy="384048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tIns="0" rIns="9144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ГОД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1819655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включён в годовой план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642615"/>
            <a:ext cx="987552" cy="384048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tIns="0" rIns="9144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ПТОГ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28216" y="2606039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согласован ПТО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3429000"/>
            <a:ext cx="987552" cy="384048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tIns="0" rIns="9144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ГИП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28216" y="3392424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согласован главным инженером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4215383"/>
            <a:ext cx="987552" cy="384048"/>
          </a:xfrm>
          <a:prstGeom prst="roundRect">
            <a:avLst>
              <a:gd name="adj" fmla="val 50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tIns="0" rIns="9144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УТВГ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28216" y="4178807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утверждён в программе ремонтов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5001768"/>
            <a:ext cx="987552" cy="384048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tIns="0" rIns="9144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УТВП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28216" y="496519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в программе и бюджете (авто из MCB)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74136" y="1216151"/>
            <a:ext cx="260604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74136" y="1673352"/>
            <a:ext cx="2606040" cy="416052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74136" y="121615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Месяц и неделя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02152" y="1856231"/>
            <a:ext cx="987552" cy="384048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tIns="0" rIns="9144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МЕС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856" y="1819655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включён в месячный план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02152" y="2642615"/>
            <a:ext cx="987552" cy="384048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tIns="0" rIns="9144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ПТОМ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2856" y="2606039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согласован ПТО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02152" y="3429000"/>
            <a:ext cx="987552" cy="384048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tIns="0" rIns="9144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УТВМ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2856" y="3392424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утверждён в месячном плане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02152" y="4215383"/>
            <a:ext cx="987552" cy="384048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tIns="0" rIns="9144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НЕД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2856" y="4178807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включён в недельный план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02152" y="5001768"/>
            <a:ext cx="987552" cy="384048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tIns="0" rIns="9144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УТВН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62856" y="496519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утверждён в недельном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08776" y="1216151"/>
            <a:ext cx="260604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08776" y="1673352"/>
            <a:ext cx="2606040" cy="416052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08776" y="121615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Бюджет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36792" y="1856231"/>
            <a:ext cx="987552" cy="384048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tIns="0" rIns="9144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ТКБЕ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7496" y="1819655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бюджет утверждён ТК БЕ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2642615"/>
            <a:ext cx="987552" cy="384048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tIns="0" rIns="9144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ТРКБ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97496" y="2606039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нужна корректировка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36792" y="3429000"/>
            <a:ext cx="987552" cy="384048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tIns="0" rIns="9144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КОРБ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97496" y="3392424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выделен и скорректирован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36792" y="4215383"/>
            <a:ext cx="987552" cy="384048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tIns="0" rIns="9144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ОТКБ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97496" y="4178807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корректировка отклонена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36792" y="5001768"/>
            <a:ext cx="987552" cy="384048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tIns="0" rIns="9144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ПЗТГ · ПЗТМ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97496" y="496519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прогноз завершения года / месяца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43416" y="1216151"/>
            <a:ext cx="2606040" cy="777240"/>
          </a:xfrm>
          <a:prstGeom prst="roundRect">
            <a:avLst>
              <a:gd name="adj" fmla="val 18823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043416" y="1673352"/>
            <a:ext cx="2606040" cy="416052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43416" y="121615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Материалы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71432" y="1856231"/>
            <a:ext cx="987552" cy="384048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tIns="0" rIns="9144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МТРЦ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32136" y="1819655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МТР оценены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71432" y="2642615"/>
            <a:ext cx="987552" cy="384048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tIns="0" rIns="9144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МТРН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32136" y="2606039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есть МТР без цены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71432" y="3429000"/>
            <a:ext cx="987552" cy="384048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tIns="0" rIns="9144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СРОЧ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32136" y="3392424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срочная закупка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171432" y="4215383"/>
            <a:ext cx="987552" cy="384048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tIns="0" rIns="9144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ТОПЗ · СОПЗ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32136" y="4178807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опережающая закупка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71432" y="5001768"/>
            <a:ext cx="987552" cy="384048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tIns="0" rIns="9144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НВСО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32136" y="496519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невостребованные остатки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Системные статусы: справочник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5417820" cy="731520"/>
          </a:xfrm>
          <a:prstGeom prst="roundRect">
            <a:avLst>
              <a:gd name="adj" fmla="val 20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9496" y="1536192"/>
            <a:ext cx="5417820" cy="1920239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124712"/>
            <a:ext cx="49606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Фаза — только эти коды решают, закрыт ли заказ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1709928"/>
            <a:ext cx="551965" cy="274320"/>
          </a:xfrm>
          <a:prstGeom prst="roundRect">
            <a:avLst>
              <a:gd name="adj" fmla="val 50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ОТКР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53896" y="1655064"/>
            <a:ext cx="174878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открыт, ставится при создании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" y="2276856"/>
            <a:ext cx="551965" cy="274320"/>
          </a:xfrm>
          <a:prstGeom prst="roundRect">
            <a:avLst>
              <a:gd name="adj" fmla="val 50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ДЕБЛ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6" y="2221992"/>
            <a:ext cx="174878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деблокирован: проводки разрешены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2843784"/>
            <a:ext cx="551965" cy="274320"/>
          </a:xfrm>
          <a:prstGeom prst="roundRect">
            <a:avLst>
              <a:gd name="adj" fmla="val 50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ЧДЕБ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6" y="2788920"/>
            <a:ext cx="174878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частично деблокирован (сетевые графики)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5566" y="1709928"/>
            <a:ext cx="551965" cy="274320"/>
          </a:xfrm>
          <a:prstGeom prst="roundRect">
            <a:avLst>
              <a:gd name="adj" fmla="val 50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ТЗКР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7086" y="1655064"/>
            <a:ext cx="174878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технически закрыт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5566" y="2276856"/>
            <a:ext cx="551965" cy="274320"/>
          </a:xfrm>
          <a:prstGeom prst="roundRect">
            <a:avLst>
              <a:gd name="adj" fmla="val 50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ЗАКР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7086" y="2221992"/>
            <a:ext cx="174878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закрыт коммерчески, сальдо = 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5566" y="2843784"/>
            <a:ext cx="551965" cy="274320"/>
          </a:xfrm>
          <a:prstGeom prst="roundRect">
            <a:avLst>
              <a:gd name="adj" fmla="val 50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МТКУ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7086" y="2788920"/>
            <a:ext cx="174878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помечен на удаление, в выгрузку не попадает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1636" y="1124712"/>
            <a:ext cx="5417820" cy="731520"/>
          </a:xfrm>
          <a:prstGeom prst="roundRect">
            <a:avLst>
              <a:gd name="adj" fmla="val 2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31636" y="1536192"/>
            <a:ext cx="5417820" cy="1920239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0236" y="1124712"/>
            <a:ext cx="49606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Исполнение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14516" y="1709928"/>
            <a:ext cx="551965" cy="274320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ПДТВ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6036" y="1655064"/>
            <a:ext cx="174878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подтверждены все операции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14516" y="2276856"/>
            <a:ext cx="551965" cy="274320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ЧПДТ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6036" y="2221992"/>
            <a:ext cx="174878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подтверждена часть операций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14516" y="2843784"/>
            <a:ext cx="551965" cy="274320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ДВМА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6036" y="2788920"/>
            <a:ext cx="174878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было движение материала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7706" y="1709928"/>
            <a:ext cx="551965" cy="274320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ПЕЧТ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09226" y="1655064"/>
            <a:ext cx="174878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напечатан; ЧПЕЧ — частично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77706" y="2276856"/>
            <a:ext cx="551965" cy="274320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COCE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09226" y="2221992"/>
            <a:ext cx="174878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завершение подтверждено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9496" y="3639312"/>
            <a:ext cx="5417820" cy="731520"/>
          </a:xfrm>
          <a:prstGeom prst="roundRect">
            <a:avLst>
              <a:gd name="adj" fmla="val 20000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9496" y="4050791"/>
            <a:ext cx="5417820" cy="1920239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39312"/>
            <a:ext cx="49606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Служебные — ставит SAP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" y="4224528"/>
            <a:ext cx="551965" cy="274320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ПКАЛ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53896" y="4169664"/>
            <a:ext cx="174878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плановые затраты рассчитаны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2376" y="4791456"/>
            <a:ext cx="551965" cy="274320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ДМНП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53896" y="4736592"/>
            <a:ext cx="174878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доступность МТР не проверялась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2376" y="5358384"/>
            <a:ext cx="551965" cy="274320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ПРВВ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53896" y="5303520"/>
            <a:ext cx="174878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правило расчёта введено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5566" y="4224528"/>
            <a:ext cx="551965" cy="274320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KKMP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7086" y="4169664"/>
            <a:ext cx="174878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в заказе нет материалов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385566" y="4791456"/>
            <a:ext cx="551965" cy="274320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СРНА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7086" y="4736592"/>
            <a:ext cx="174878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сроки не актуальны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385566" y="5358384"/>
            <a:ext cx="551965" cy="274320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ОШОЗ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7086" y="5303520"/>
            <a:ext cx="174878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ошибка при определении затрат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31636" y="3639312"/>
            <a:ext cx="5417820" cy="731520"/>
          </a:xfrm>
          <a:prstGeom prst="roundRect">
            <a:avLst>
              <a:gd name="adj" fmla="val 2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231636" y="4050791"/>
            <a:ext cx="5417820" cy="1920239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60236" y="3639312"/>
            <a:ext cx="49606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При закрытии (с 2024 года)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14516" y="4224528"/>
            <a:ext cx="551965" cy="274320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JBFI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46036" y="4169664"/>
            <a:ext cx="174878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задача завершена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14516" y="4791456"/>
            <a:ext cx="551965" cy="274320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РБЗК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46036" y="4736592"/>
            <a:ext cx="174878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работа закрыта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414516" y="5358384"/>
            <a:ext cx="551965" cy="274320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АНРЕ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46036" y="5303520"/>
            <a:ext cx="174878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анализ результатов проведён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077706" y="4224528"/>
            <a:ext cx="551965" cy="274320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АРВО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09226" y="4169664"/>
            <a:ext cx="174878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расшифровки нет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77706" y="4791456"/>
            <a:ext cx="551965" cy="274320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ОБСЗ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09226" y="4736592"/>
            <a:ext cx="174878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на всех заказах, расшифровки нет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Пользовательские статусы исполнения и прочие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9496" y="1581912"/>
            <a:ext cx="3520440" cy="4297680"/>
          </a:xfrm>
          <a:prstGeom prst="roundRect">
            <a:avLst>
              <a:gd name="adj" fmla="val 415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124712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Приёмка и закрытие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" y="1883664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ПРНТ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45336" y="1810512"/>
            <a:ext cx="233172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работы приняты; НПРН — не приняты, блокирует ТЗКР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" y="2688336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ФХСМ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45336" y="2615184"/>
            <a:ext cx="233172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факт ХС, РП и МТР проведён полностью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" y="3493008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ПРСЗ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5336" y="3419856"/>
            <a:ext cx="233172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принято службой заказчика; НПСЗ — не принято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4297680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ВСБЕ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45336" y="4224528"/>
            <a:ext cx="233172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выставлен в БЕ, ставится при регистрации выручки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" y="5102352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ПРЭК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45336" y="5029200"/>
            <a:ext cx="233172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принято эксплуатацией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4256" y="11247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34256" y="1581912"/>
            <a:ext cx="3520440" cy="4297680"/>
          </a:xfrm>
          <a:prstGeom prst="roundRect">
            <a:avLst>
              <a:gd name="adj" fmla="val 415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4256" y="1124712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Подрядчик и наполнение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35424" y="1883664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РЗПР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0096" y="1810512"/>
            <a:ext cx="233172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работы запланированы подрядчиком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35424" y="2688336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РИПР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0096" y="2615184"/>
            <a:ext cx="233172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работы исполнены подрядчиком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35424" y="3493008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ПУСТ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0096" y="3419856"/>
            <a:ext cx="233172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создан без техкарты, нужно наполнить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35424" y="4297680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ПОЛН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0096" y="4224528"/>
            <a:ext cx="233172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заказ наполнен вручную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35424" y="5102352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КОРР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0096" y="5029200"/>
            <a:ext cx="233172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требует корректировки по замечаниям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29016" y="11247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29016" y="1581912"/>
            <a:ext cx="3520440" cy="4297680"/>
          </a:xfrm>
          <a:prstGeom prst="roundRect">
            <a:avLst>
              <a:gd name="adj" fmla="val 415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29016" y="1124712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Прочие признаки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30184" y="1883664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ПЛЗК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4856" y="1810512"/>
            <a:ext cx="233172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плановый заказ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30184" y="2688336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КРМТ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4856" y="2615184"/>
            <a:ext cx="233172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капитализируемый ремонт (CAPEX)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30184" y="3493008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ЗАПЛ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34856" y="3419856"/>
            <a:ext cx="233172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запланирован — начальный статус ЕТО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30184" y="4297680"/>
            <a:ext cx="493776" cy="310896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ОСТ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34856" y="4224528"/>
            <a:ext cx="233172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утверждён в графике остановочного ремонта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330184" y="5102352"/>
            <a:ext cx="585216" cy="310896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МПРО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34856" y="5029200"/>
            <a:ext cx="233172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планирование остановочного ремонта выполнено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Выполнение и закрытие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Цепочка закрытия АО «Развитие», контроль в IW38 и примеры заказов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Цепочка закрытия заказа в АО «Развитие»</a:t>
            </a:r>
          </a:p>
        </p:txBody>
      </p:sp>
      <p:sp>
        <p:nvSpPr>
          <p:cNvPr id="3" name="Pentagon 2"/>
          <p:cNvSpPr/>
          <p:nvPr/>
        </p:nvSpPr>
        <p:spPr>
          <a:xfrm>
            <a:off x="539496" y="1216151"/>
            <a:ext cx="2708910" cy="822960"/>
          </a:xfrm>
          <a:prstGeom prst="homePlate">
            <a:avLst>
              <a:gd name="adj" fmla="val 32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rIns="246888" bIns="18288"/>
          <a:lstStyle/>
          <a:p>
            <a:pPr algn="ctr">
              <a:spcAft>
                <a:spcPts val="4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ДЕБЛ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176272"/>
            <a:ext cx="2297429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Деблокирован</a:t>
            </a:r>
          </a:p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5B6167"/>
                </a:solidFill>
                <a:latin typeface="Arial"/>
              </a:rPr>
              <a:t>Проводки разрешены</a:t>
            </a:r>
          </a:p>
        </p:txBody>
      </p:sp>
      <p:sp>
        <p:nvSpPr>
          <p:cNvPr id="5" name="Chevron 4"/>
          <p:cNvSpPr/>
          <p:nvPr/>
        </p:nvSpPr>
        <p:spPr>
          <a:xfrm>
            <a:off x="3339846" y="1216151"/>
            <a:ext cx="2708910" cy="822960"/>
          </a:xfrm>
          <a:prstGeom prst="chevron">
            <a:avLst>
              <a:gd name="adj" fmla="val 32000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5643" tIns="18288" rIns="246888" bIns="18288"/>
          <a:lstStyle/>
          <a:p>
            <a:pPr algn="ctr">
              <a:spcAft>
                <a:spcPts val="4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ПДТВ · ЧПДТ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7006" y="2176272"/>
            <a:ext cx="2297429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Подтверждения</a:t>
            </a:r>
          </a:p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5B6167"/>
                </a:solidFill>
                <a:latin typeface="Arial"/>
              </a:rPr>
              <a:t>Трудозатраты ХС подтверждены полностью или частично</a:t>
            </a:r>
          </a:p>
        </p:txBody>
      </p:sp>
      <p:sp>
        <p:nvSpPr>
          <p:cNvPr id="7" name="Chevron 6"/>
          <p:cNvSpPr/>
          <p:nvPr/>
        </p:nvSpPr>
        <p:spPr>
          <a:xfrm>
            <a:off x="6140196" y="1216151"/>
            <a:ext cx="2708910" cy="822960"/>
          </a:xfrm>
          <a:prstGeom prst="chevron">
            <a:avLst>
              <a:gd name="adj" fmla="val 32000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5643" tIns="18288" rIns="246888" bIns="18288"/>
          <a:lstStyle/>
          <a:p>
            <a:pPr algn="ctr">
              <a:spcAft>
                <a:spcPts val="4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ПРНТ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7356" y="2176272"/>
            <a:ext cx="2297429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Работы приняты</a:t>
            </a:r>
          </a:p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5B6167"/>
                </a:solidFill>
                <a:latin typeface="Arial"/>
              </a:rPr>
              <a:t>Для заказов с УСО. НПРН — не приняты</a:t>
            </a:r>
          </a:p>
        </p:txBody>
      </p:sp>
      <p:sp>
        <p:nvSpPr>
          <p:cNvPr id="9" name="Chevron 8"/>
          <p:cNvSpPr/>
          <p:nvPr/>
        </p:nvSpPr>
        <p:spPr>
          <a:xfrm>
            <a:off x="8940546" y="1216151"/>
            <a:ext cx="2708910" cy="822960"/>
          </a:xfrm>
          <a:prstGeom prst="chevron">
            <a:avLst>
              <a:gd name="adj" fmla="val 32000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5643" tIns="18288" rIns="246888" bIns="18288"/>
          <a:lstStyle/>
          <a:p>
            <a:pPr algn="ctr">
              <a:spcAft>
                <a:spcPts val="4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ФХСМ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77706" y="2176272"/>
            <a:ext cx="2297429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Факт проведён</a:t>
            </a:r>
          </a:p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5B6167"/>
                </a:solidFill>
                <a:latin typeface="Arial"/>
              </a:rPr>
              <a:t>ХС, работы подрядчика, МТР — затрат больше не будет</a:t>
            </a:r>
          </a:p>
        </p:txBody>
      </p:sp>
      <p:sp>
        <p:nvSpPr>
          <p:cNvPr id="11" name="Pentagon 10"/>
          <p:cNvSpPr/>
          <p:nvPr/>
        </p:nvSpPr>
        <p:spPr>
          <a:xfrm>
            <a:off x="539496" y="3593591"/>
            <a:ext cx="2708910" cy="822960"/>
          </a:xfrm>
          <a:prstGeom prst="homePlate">
            <a:avLst>
              <a:gd name="adj" fmla="val 32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rIns="246888" bIns="18288"/>
          <a:lstStyle/>
          <a:p>
            <a:pPr algn="ctr">
              <a:spcAft>
                <a:spcPts val="400"/>
              </a:spcAft>
              <a:buNone/>
            </a:pPr>
            <a:r>
              <a:rPr sz="1700" b="1" i="0">
                <a:solidFill>
                  <a:srgbClr val="2A3138"/>
                </a:solidFill>
                <a:latin typeface="Arial"/>
              </a:rPr>
              <a:t>ТЗКР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4553712"/>
            <a:ext cx="2297429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Тех. закрытие</a:t>
            </a:r>
          </a:p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5B6167"/>
                </a:solidFill>
                <a:latin typeface="Arial"/>
              </a:rPr>
              <a:t>Работы завершены, заказ закрыт технически</a:t>
            </a:r>
          </a:p>
        </p:txBody>
      </p:sp>
      <p:sp>
        <p:nvSpPr>
          <p:cNvPr id="13" name="Chevron 12"/>
          <p:cNvSpPr/>
          <p:nvPr/>
        </p:nvSpPr>
        <p:spPr>
          <a:xfrm>
            <a:off x="3339846" y="3593591"/>
            <a:ext cx="2708910" cy="822960"/>
          </a:xfrm>
          <a:prstGeom prst="chevron">
            <a:avLst>
              <a:gd name="adj" fmla="val 32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5643" tIns="18288" rIns="246888" bIns="18288"/>
          <a:lstStyle/>
          <a:p>
            <a:pPr algn="ctr">
              <a:spcAft>
                <a:spcPts val="4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ПРСЗ · НПСЗ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7006" y="4553712"/>
            <a:ext cx="2297429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Приёмка СЗ</a:t>
            </a:r>
          </a:p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5B6167"/>
                </a:solidFill>
                <a:latin typeface="Arial"/>
              </a:rPr>
              <a:t>Служба заказчика БЕ приняла или не приняла работы</a:t>
            </a:r>
          </a:p>
        </p:txBody>
      </p:sp>
      <p:sp>
        <p:nvSpPr>
          <p:cNvPr id="15" name="Chevron 14"/>
          <p:cNvSpPr/>
          <p:nvPr/>
        </p:nvSpPr>
        <p:spPr>
          <a:xfrm>
            <a:off x="6140196" y="3593591"/>
            <a:ext cx="2708910" cy="822960"/>
          </a:xfrm>
          <a:prstGeom prst="chevron">
            <a:avLst>
              <a:gd name="adj" fmla="val 32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5643" tIns="18288" rIns="246888" bIns="18288"/>
          <a:lstStyle/>
          <a:p>
            <a:pPr algn="ctr">
              <a:spcAft>
                <a:spcPts val="4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ВСБЕ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7356" y="4553712"/>
            <a:ext cx="2297429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Выставлен в БЕ</a:t>
            </a:r>
          </a:p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5B6167"/>
                </a:solidFill>
                <a:latin typeface="Arial"/>
              </a:rPr>
              <a:t>Автоматически при регистрации выручки (ZMM_370)</a:t>
            </a:r>
          </a:p>
        </p:txBody>
      </p:sp>
      <p:sp>
        <p:nvSpPr>
          <p:cNvPr id="17" name="Chevron 16"/>
          <p:cNvSpPr/>
          <p:nvPr/>
        </p:nvSpPr>
        <p:spPr>
          <a:xfrm>
            <a:off x="8940546" y="3593591"/>
            <a:ext cx="2708910" cy="822960"/>
          </a:xfrm>
          <a:prstGeom prst="chevron">
            <a:avLst>
              <a:gd name="adj" fmla="val 32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5643" tIns="18288" rIns="246888" bIns="18288"/>
          <a:lstStyle/>
          <a:p>
            <a:pPr algn="ctr">
              <a:spcAft>
                <a:spcPts val="400"/>
              </a:spcAft>
              <a:buNone/>
            </a:pPr>
            <a:r>
              <a:rPr sz="1700" b="1" i="0">
                <a:solidFill>
                  <a:srgbClr val="2A3138"/>
                </a:solidFill>
                <a:latin typeface="Arial"/>
              </a:rPr>
              <a:t>ЗАКР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7706" y="4553712"/>
            <a:ext cx="2297429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Закрыт</a:t>
            </a:r>
          </a:p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5B6167"/>
                </a:solidFill>
                <a:latin typeface="Arial"/>
              </a:rPr>
              <a:t>Коммерческое закрытие, сальдо = 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9496" y="3319272"/>
            <a:ext cx="11109960" cy="18288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Что проверяет система на каждом шаге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70432"/>
            <a:ext cx="11109960" cy="502920"/>
          </a:xfrm>
          <a:prstGeom prst="roundRect">
            <a:avLst>
              <a:gd name="adj" fmla="val 4909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170432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3EF0AF"/>
                </a:solidFill>
                <a:latin typeface="Arial"/>
              </a:rPr>
              <a:t>Действие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2736" y="1170432"/>
            <a:ext cx="553212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Условие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0616" y="1170432"/>
            <a:ext cx="210312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Если нарушено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" y="1792224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92224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Поставить ПРНТ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2736" y="1792224"/>
            <a:ext cx="553212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Заказ деблокирован (ДЕБЛ)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54896" y="1938528"/>
            <a:ext cx="2011679" cy="365760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Статус не ставится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" y="2523744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523744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Технически закрыть (ТЗКР)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2736" y="2523744"/>
            <a:ext cx="553212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Есть ПРНТ — для заказов с УСО, или ПДТВ/ЧПДТ — для заказов с ФОТ. Нет НПРН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54896" y="2670048"/>
            <a:ext cx="2011679" cy="365760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Закрыть нельзя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" y="3255263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55263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Поставить ПРСЗ или НПСЗ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3255263"/>
            <a:ext cx="553212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Заказ в ТЗКР, у сотрудника роль «Специалист службы заказчика БЕ»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54896" y="3401568"/>
            <a:ext cx="2011679" cy="365760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Статус не ставится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9496" y="3986783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3986783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После ПРСЗ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2736" y="3986783"/>
            <a:ext cx="553212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Запрещены счета (RMRP), подтверждения (RMRU, RMPH), списание МТР (RMWA), акты подрядчика (RMWE)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54896" y="4133087"/>
            <a:ext cx="2011679" cy="365760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Проводка отклоняется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9496" y="4718304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4718304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Снять ПРСЗ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2736" y="4718304"/>
            <a:ext cx="553212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Только роль «Руководитель службы заказчика БЕ» и только до ВСБЕ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54896" y="4864608"/>
            <a:ext cx="2011679" cy="365760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После ВСБЕ — ошибка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" y="5440680"/>
            <a:ext cx="1110996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5B6167"/>
                </a:solidFill>
                <a:latin typeface="Arial"/>
              </a:rPr>
              <a:t>При сохранении — предупреждения: </a:t>
            </a:r>
            <a:r>
              <a:rPr sz="1200" b="0" i="0">
                <a:solidFill>
                  <a:srgbClr val="5B6167"/>
                </a:solidFill>
                <a:latin typeface="Arial"/>
              </a:rPr>
              <a:t>МТР подрядчика не сходятся с услугой по плану или факту; при ТЗКР счета по УСО проведены не полностью; ОС заказа не совпадает с ОС единицы оборудования; дата списания ОС раньше базисного начала.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Контроль закрытия в IW38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70432"/>
            <a:ext cx="6675120" cy="374903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5" y="1280160"/>
            <a:ext cx="612648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600" b="1" i="0">
                <a:solidFill>
                  <a:srgbClr val="2A3138"/>
                </a:solidFill>
                <a:latin typeface="Arial"/>
              </a:rPr>
              <a:t>Статус отражения факта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5" y="1645919"/>
            <a:ext cx="612648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Код = полнота + категория затрат, например 1Н-СМ — списание МТР не проведено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5" y="2130552"/>
            <a:ext cx="1097280" cy="685800"/>
          </a:xfrm>
          <a:prstGeom prst="roundRect">
            <a:avLst>
              <a:gd name="adj" fmla="val 18666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1Н</a:t>
            </a:r>
          </a:p>
          <a:p>
            <a:pPr algn="ctr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не проведено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02536" y="2130552"/>
            <a:ext cx="1097280" cy="685800"/>
          </a:xfrm>
          <a:prstGeom prst="roundRect">
            <a:avLst>
              <a:gd name="adj" fmla="val 18666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2Ч</a:t>
            </a:r>
          </a:p>
          <a:p>
            <a:pPr algn="ctr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частично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91256" y="2130552"/>
            <a:ext cx="1097280" cy="685800"/>
          </a:xfrm>
          <a:prstGeom prst="roundRect">
            <a:avLst>
              <a:gd name="adj" fmla="val 18666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600" b="1" i="0">
                <a:solidFill>
                  <a:srgbClr val="2A3138"/>
                </a:solidFill>
                <a:latin typeface="Arial"/>
              </a:rPr>
              <a:t>3П</a:t>
            </a:r>
          </a:p>
          <a:p>
            <a:pPr algn="ctr">
              <a:spcAft>
                <a:spcPts val="400"/>
              </a:spcAft>
              <a:buNone/>
            </a:pPr>
            <a:r>
              <a:rPr sz="1000" b="0" i="0">
                <a:solidFill>
                  <a:srgbClr val="2A3138"/>
                </a:solidFill>
                <a:latin typeface="Arial"/>
              </a:rPr>
              <a:t>проведено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3017520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ХС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5" y="2999232"/>
            <a:ext cx="50292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подтверждение работ ХС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" y="3383279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РП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5" y="3364991"/>
            <a:ext cx="50292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подтверждение работ подрядчика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" y="3749039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СМ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5" y="3730752"/>
            <a:ext cx="50292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списание МТР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5" y="4114800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СФ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82495" y="4096512"/>
            <a:ext cx="50292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счёт-фактура по УСО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" y="4480560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СФП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82495" y="4462272"/>
            <a:ext cx="50292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счёт-фактура по МТР подрядчика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1416" y="2130552"/>
            <a:ext cx="25146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× 5 категорий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на каждый уровень полноты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88936" y="1170432"/>
            <a:ext cx="4160520" cy="1143000"/>
          </a:xfrm>
          <a:prstGeom prst="roundRect">
            <a:avLst>
              <a:gd name="adj" fmla="val 1439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17536" y="1261872"/>
            <a:ext cx="370332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Статус периода проводок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Проводки вне базисных сроков заказа — по каждой категории затрат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88936" y="2496312"/>
            <a:ext cx="4160520" cy="2423160"/>
          </a:xfrm>
          <a:prstGeom prst="roundRect">
            <a:avLst>
              <a:gd name="adj" fmla="val 6792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17536" y="2587752"/>
            <a:ext cx="370332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3EF0AF"/>
                </a:solidFill>
                <a:latin typeface="Arial"/>
              </a:rPr>
              <a:t>Статус приёмки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17536" y="3044952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#ТЗКР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69096" y="3026664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всё проведено — пора закрыть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17536" y="349300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#ПРСЗ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69096" y="3474720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пора принять службой заказчика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17536" y="3941064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#НПСЗ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69096" y="3922776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заказ блокирует выручку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17536" y="438912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#ВСБЕ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9096" y="4370832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выставлен вне периода приёмки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39496" y="5029200"/>
            <a:ext cx="11109960" cy="777240"/>
          </a:xfrm>
          <a:prstGeom prst="roundRect">
            <a:avLst>
              <a:gd name="adj" fmla="val 18823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Раз в неделю: </a:t>
            </a:r>
            <a:r>
              <a:rPr sz="1300" b="0" i="0">
                <a:solidFill>
                  <a:srgbClr val="2A3138"/>
                </a:solidFill>
                <a:latin typeface="Arial"/>
              </a:rPr>
              <a:t>IW38 → формат «CONTROL — контроль заказов» → своё ТМ, базисное окончание = вчера → фильтры «Нет подтверждения работ» и «Нет списания МТР». Отменили работу — закройте заказ и пометьте на удаление или перенесите сроки.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Примеры: от плана до деблокирования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1109960" cy="420624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124712"/>
            <a:ext cx="228600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3EF0AF"/>
                </a:solidFill>
                <a:latin typeface="Arial"/>
              </a:rPr>
              <a:t>Стадия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8416" y="1124712"/>
            <a:ext cx="141732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rial"/>
              </a:rPr>
              <a:t>Заказ · вид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65776" y="1124712"/>
            <a:ext cx="283464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rial"/>
              </a:rPr>
              <a:t>Системный статус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0455" y="1124712"/>
            <a:ext cx="338328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rial"/>
              </a:rPr>
              <a:t>Пользовательский статус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" y="1627631"/>
            <a:ext cx="1110996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1627631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Позиция ППР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не заказ, в план не входит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28416" y="1627631"/>
            <a:ext cx="14173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заказа нет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1ХХХХХХХХХХХ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65776" y="1627631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5" y="1627631"/>
            <a:ext cx="33375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#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" y="2322576"/>
            <a:ext cx="1110996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2322576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В годовом плане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согласование не начато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8416" y="2322576"/>
            <a:ext cx="14173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1101947493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APP1 · ТОРО по ППР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5776" y="2322576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KKMP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ДМНП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ОБСЗ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ОТКР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ПКАЛ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0455" y="2322576"/>
            <a:ext cx="33375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ГИП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ГОД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МЕС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ПЗТГ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ПЛАН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ПТОГ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СГЛБ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УТВГ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9496" y="3017520"/>
            <a:ext cx="1110996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301752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Отправлен старшему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СГПЛ: ждёт согласования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28416" y="3017520"/>
            <a:ext cx="14173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1102601154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APP1 · ТОРО по ППР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5776" y="3017520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ДМНП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ОБСЗ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ОТКР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ПКАЛ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5" y="3017520"/>
            <a:ext cx="33375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МТРЦ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ПЗТГ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СГПЛ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9496" y="3712464"/>
            <a:ext cx="1110996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3712464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Согласован старшим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изменения заблокированы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28416" y="3712464"/>
            <a:ext cx="14173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910100045475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ASR1 · заказ на сервис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65776" y="371246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ДМНП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ОБСЗ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ОТКР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ПКАЛ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0455" y="3712464"/>
            <a:ext cx="33375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ГИП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ГОД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МТРЦ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СГЛБ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ССПЛ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9496" y="4407408"/>
            <a:ext cx="1110996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4407408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Согласован главным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ждёт деблокирования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28416" y="4407408"/>
            <a:ext cx="14173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1101981327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APP1 · ТОРО по ППР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65776" y="4407408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ДМНП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ОБСЗ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ОТКР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ПКАЛ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5" y="4407408"/>
            <a:ext cx="33375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ГИП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ГОД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МТРЦ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СГГС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СГЛБ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УТВГ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9496" y="5102352"/>
            <a:ext cx="1110996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5102352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Деблокирован, факта нет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напечатан, подтверждений нет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28416" y="5102352"/>
            <a:ext cx="14173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1200426279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AVS1 · внеплановое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65776" y="510235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KKMP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ДЕБЛ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ДМНП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ОБСЗ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ПЕЧТ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ПКАЛ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ПРВВ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0455" y="5102352"/>
            <a:ext cx="33375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СГГС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9496" y="5870448"/>
            <a:ext cx="93268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1" i="0">
                <a:solidFill>
                  <a:srgbClr val="5B6167"/>
                </a:solidFill>
                <a:latin typeface="Arial"/>
              </a:rPr>
              <a:t>Жирным</a:t>
            </a:r>
            <a:r>
              <a:rPr sz="1000" b="0" i="0">
                <a:solidFill>
                  <a:srgbClr val="5B6167"/>
                </a:solidFill>
                <a:latin typeface="Arial"/>
              </a:rPr>
              <a:t> — коды фазы, согласования и закрытия; остальные служебные. Заказы — из выгрузок PM-06 2026 года, откройте любой в IW33 и сравните.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Примеры: от работ до закрытия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1109960" cy="420624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124712"/>
            <a:ext cx="228600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3EF0AF"/>
                </a:solidFill>
                <a:latin typeface="Arial"/>
              </a:rPr>
              <a:t>Стадия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28416" y="1124712"/>
            <a:ext cx="141732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rial"/>
              </a:rPr>
              <a:t>Заказ · вид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65776" y="1124712"/>
            <a:ext cx="283464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rial"/>
              </a:rPr>
              <a:t>Системный статус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0455" y="1124712"/>
            <a:ext cx="338328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rial"/>
              </a:rPr>
              <a:t>Пользовательский статус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" y="1627631"/>
            <a:ext cx="1110996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1627631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Работы идут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подтверждена часть операций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28416" y="1627631"/>
            <a:ext cx="14173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1102309352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APP1 · ТОРО по ППР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65776" y="1627631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ДЕБЛ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ДМНП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ОБСЗ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ПКАЛ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ПРВВ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ЧПДТ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ЧПЕЧ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5" y="1627631"/>
            <a:ext cx="33375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ГИП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ГОД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КОРБ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МЕС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МТРЦ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НЕД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ПЗТГ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ПТОГ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ПТОМ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СГГС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СГЛБ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СРОЧ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УТВГ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УТВМ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УТВН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" y="2322576"/>
            <a:ext cx="1110996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2322576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Работы приняты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все операции подтверждены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8416" y="2322576"/>
            <a:ext cx="14173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1200458493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AVS1 · внеплановое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5776" y="2322576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JBFI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KKMP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ДЕБЛ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ДМНП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ОБСЗ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ПДТВ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ПКАЛ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ПРВВ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0455" y="2322576"/>
            <a:ext cx="33375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ПРНТ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СГГС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9496" y="3017520"/>
            <a:ext cx="1110996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301752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Факт проведён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затрат больше не будет — к ТЗКР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28416" y="3017520"/>
            <a:ext cx="14173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1200456824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AVS1 · внеплановое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5776" y="3017520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JBFI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KKMP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ДЕБЛ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ДМНП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ОБСЗ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ПДТВ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ПКАЛ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ПРВВ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5" y="3017520"/>
            <a:ext cx="33375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ПРНТ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СГГС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ФХСМ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9496" y="3712464"/>
            <a:ext cx="1110996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3712464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Принят заказчиком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ТЗКР + ПРСЗ, проводки запрещены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28416" y="3712464"/>
            <a:ext cx="14173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1200447538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AVS1 · внеплановое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65776" y="371246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JBFI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KKMP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ДМНП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ОБСЗ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ПДТВ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ПЕЧТ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ПКАЛ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ПРВВ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ТЗКР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0455" y="3712464"/>
            <a:ext cx="33375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ПРНТ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ПРСЗ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СГГС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9496" y="4407408"/>
            <a:ext cx="1110996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4407408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Выставлен в БЕ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выручка зарегистрирована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28416" y="4407408"/>
            <a:ext cx="14173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1200432676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AVS1 · внеплановое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65776" y="4407408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JBFI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KKMP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АНРЕ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АРВО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ДМНП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ОБСЗ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ПДТВ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ПЕЧТ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ПКАЛ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ПРВВ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РБЗК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ТЗКР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5" y="4407408"/>
            <a:ext cx="33375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ВСБЕ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ПРНТ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ПРСЗ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СГГС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9496" y="5102352"/>
            <a:ext cx="1110996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5102352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Закрыт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коммерческое закрытие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28416" y="5102352"/>
            <a:ext cx="14173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1200380899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AVS1 · внеплановое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65776" y="510235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JBFI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KKMP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АНРЕ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АРВО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ДМНП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ЗАКР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ОБСЗ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ПДТВ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ПЕЧТ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ПКАЛ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ПРВВ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РБЗК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0455" y="5102352"/>
            <a:ext cx="33375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ВСБЕ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ПРНТ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ПРСЗ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СГГС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9496" y="5870448"/>
            <a:ext cx="93268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1" i="0">
                <a:solidFill>
                  <a:srgbClr val="5B6167"/>
                </a:solidFill>
                <a:latin typeface="Arial"/>
              </a:rPr>
              <a:t>Жирным</a:t>
            </a:r>
            <a:r>
              <a:rPr sz="1000" b="0" i="0">
                <a:solidFill>
                  <a:srgbClr val="5B6167"/>
                </a:solidFill>
                <a:latin typeface="Arial"/>
              </a:rPr>
              <a:t> — коды фазы, согласования и закрытия; остальные служебные. Заказы — из выгрузок PM-06 2026 года, откройте любой в IW33 и сравните.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Особые случаи: как не ошибиться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5417820" cy="2286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61872"/>
            <a:ext cx="322326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Два порядковых статуса сразу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37075" y="1289304"/>
            <a:ext cx="1691640" cy="365760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200" b="1" i="0">
                <a:solidFill>
                  <a:srgbClr val="3EF0AF"/>
                </a:solidFill>
                <a:latin typeface="Arial"/>
              </a:rPr>
              <a:t>1102157075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783080"/>
            <a:ext cx="4960620" cy="658368"/>
          </a:xfrm>
          <a:prstGeom prst="roundRect">
            <a:avLst>
              <a:gd name="adj" fmla="val 16666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27432" rIns="164592" bIns="27432"/>
          <a:lstStyle/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Сист. 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ЗАКР …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Польз. 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ПЛАН СГГС ВСБЕ ПРСЗ 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542032"/>
            <a:ext cx="496062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Заказ был согласован и сброшен обратно в план. В выгрузках таких 18 — сверяйтесь с последним активным статусом в SAP.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1124712"/>
            <a:ext cx="5417820" cy="2286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0236" y="1261872"/>
            <a:ext cx="322326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Оригинал, перенесённый копией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29215" y="1289304"/>
            <a:ext cx="1691640" cy="365760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200" b="1" i="0">
                <a:solidFill>
                  <a:srgbClr val="3EF0AF"/>
                </a:solidFill>
                <a:latin typeface="Arial"/>
              </a:rPr>
              <a:t>1101974687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0236" y="1783080"/>
            <a:ext cx="4960620" cy="658368"/>
          </a:xfrm>
          <a:prstGeom prst="roundRect">
            <a:avLst>
              <a:gd name="adj" fmla="val 16666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27432" rIns="164592" bIns="27432"/>
          <a:lstStyle/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Сист. 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ОТКР …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Польз. 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СГГС ГОД УТВГ 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0236" y="2542032"/>
            <a:ext cx="496062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У заказа БЕ есть копия в «Развитии» с той же ЕО, видом работ и датой. Факт — с обеих сторон, план — только по копии.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" y="3639312"/>
            <a:ext cx="5417820" cy="2286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3776472"/>
            <a:ext cx="322326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ЕТО: своя схема статусов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37075" y="3803904"/>
            <a:ext cx="1691640" cy="365760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200" b="1" i="0">
                <a:solidFill>
                  <a:srgbClr val="3EF0AF"/>
                </a:solidFill>
                <a:latin typeface="Arial"/>
              </a:rPr>
              <a:t>1601068874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" y="4297680"/>
            <a:ext cx="4960620" cy="658368"/>
          </a:xfrm>
          <a:prstGeom prst="roundRect">
            <a:avLst>
              <a:gd name="adj" fmla="val 16666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27432" rIns="164592" bIns="27432"/>
          <a:lstStyle/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Сист. 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ТЗКР ПДТВ MOBI …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Польз. 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ЗАПЛ МТРЦ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5056632"/>
            <a:ext cx="496062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Профиль PM_ETO: начальный статус ЗАПЛ, нет согласования и приёмки службой заказчика. Работы выполняет БЕ.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1636" y="3639312"/>
            <a:ext cx="5417820" cy="2286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0236" y="3776472"/>
            <a:ext cx="322326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НВСО на открытом заказе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29215" y="3803904"/>
            <a:ext cx="1691640" cy="365760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200" b="1" i="0">
                <a:solidFill>
                  <a:srgbClr val="3EF0AF"/>
                </a:solidFill>
                <a:latin typeface="Arial"/>
              </a:rPr>
              <a:t>1102144093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60236" y="4297680"/>
            <a:ext cx="4960620" cy="658368"/>
          </a:xfrm>
          <a:prstGeom prst="roundRect">
            <a:avLst>
              <a:gd name="adj" fmla="val 16666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27432" rIns="164592" bIns="27432"/>
          <a:lstStyle/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Сист. 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ОТКР …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Польз. 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ПЛАН НВСО СРОЧ УТВГ 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0236" y="5056632"/>
            <a:ext cx="496062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Из заказа удалили законтрактованную потребность — остались невостребованные остатки. Статус НВСО не снимается.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Материалы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Когда закупка увидит потребность заказа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«Резерв./заявка»: когда закупка видит потребность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216151"/>
            <a:ext cx="2514600" cy="1005840"/>
          </a:xfrm>
          <a:prstGeom prst="roundRect">
            <a:avLst>
              <a:gd name="adj" fmla="val 14545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9496" y="1901952"/>
            <a:ext cx="2514600" cy="2331720"/>
          </a:xfrm>
          <a:prstGeom prst="roundRect">
            <a:avLst>
              <a:gd name="adj" fmla="val 627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216151"/>
            <a:ext cx="233172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Немедленно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29968"/>
            <a:ext cx="2148840" cy="21488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400" b="0" i="0">
                <a:solidFill>
                  <a:srgbClr val="2A3138"/>
                </a:solidFill>
                <a:latin typeface="Arial"/>
              </a:rPr>
              <a:t>Потребность уходит в ППМ сразу при сохранении заказа. Значение по умолчанию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82696" y="1216151"/>
            <a:ext cx="2514600" cy="1005840"/>
          </a:xfrm>
          <a:prstGeom prst="roundRect">
            <a:avLst>
              <a:gd name="adj" fmla="val 14545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82696" y="1901952"/>
            <a:ext cx="2514600" cy="2331720"/>
          </a:xfrm>
          <a:prstGeom prst="roundRect">
            <a:avLst>
              <a:gd name="adj" fmla="val 627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74136" y="1216151"/>
            <a:ext cx="233172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Начиная с деблокирования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5576" y="2029968"/>
            <a:ext cx="2148840" cy="21488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400" b="0" i="0">
                <a:solidFill>
                  <a:srgbClr val="2A3138"/>
                </a:solidFill>
                <a:latin typeface="Arial"/>
              </a:rPr>
              <a:t>В ППМ только после ДЕБЛ. До деблокирования закупка потребность не видит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25896" y="1216151"/>
            <a:ext cx="2514600" cy="1005840"/>
          </a:xfrm>
          <a:prstGeom prst="roundRect">
            <a:avLst>
              <a:gd name="adj" fmla="val 14545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025896" y="1901952"/>
            <a:ext cx="2514600" cy="2331720"/>
          </a:xfrm>
          <a:prstGeom prst="roundRect">
            <a:avLst>
              <a:gd name="adj" fmla="val 627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17336" y="1216151"/>
            <a:ext cx="233172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Никогда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8776" y="2029968"/>
            <a:ext cx="2148840" cy="21488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400" b="0" i="0">
                <a:solidFill>
                  <a:srgbClr val="2A3138"/>
                </a:solidFill>
                <a:latin typeface="Arial"/>
              </a:rPr>
              <a:t>В ППМ и закупочную заявку не попадает. Покрыть можно только со склада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" y="4462272"/>
            <a:ext cx="800100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800"/>
              </a:spcAft>
              <a:buClr>
                <a:srgbClr val="3EF0AF"/>
              </a:buClr>
              <a:buFont typeface="Arial"/>
              <a:buChar char="•"/>
            </a:pPr>
            <a:r>
              <a:rPr sz="1300" b="1" i="0">
                <a:solidFill>
                  <a:srgbClr val="2A3138"/>
                </a:solidFill>
                <a:latin typeface="Arial"/>
              </a:rPr>
              <a:t>«Никогда» ставится автоматически </a:t>
            </a:r>
            <a:r>
              <a:rPr sz="1300" b="0" i="0">
                <a:solidFill>
                  <a:srgbClr val="2A3138"/>
                </a:solidFill>
                <a:latin typeface="Arial"/>
              </a:rPr>
              <a:t>справочным позициям (S) вместе с «Калькуляция: не релевантно» и движениям оборотного фонда с неисправной партией.</a:t>
            </a:r>
          </a:p>
          <a:p>
            <a:pPr algn="l" marL="182880" indent="-182880">
              <a:spcAft>
                <a:spcPts val="800"/>
              </a:spcAft>
              <a:buClr>
                <a:srgbClr val="3EF0AF"/>
              </a:buClr>
              <a:buFont typeface="Arial"/>
              <a:buChar char="•"/>
            </a:pPr>
            <a:r>
              <a:rPr sz="1300" b="1" i="0">
                <a:solidFill>
                  <a:srgbClr val="2A3138"/>
                </a:solidFill>
                <a:latin typeface="Arial"/>
              </a:rPr>
              <a:t>Поздний деблок = поздняя закупка. </a:t>
            </a:r>
            <a:r>
              <a:rPr sz="1300" b="0" i="0">
                <a:solidFill>
                  <a:srgbClr val="2A3138"/>
                </a:solidFill>
                <a:latin typeface="Arial"/>
              </a:rPr>
              <a:t>Планируйте деблокирование с запасом на срок поставки МТР.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9096" y="1216151"/>
            <a:ext cx="2880360" cy="4663440"/>
          </a:xfrm>
          <a:prstGeom prst="roundRect">
            <a:avLst>
              <a:gd name="adj" fmla="val 6349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43416" y="1444752"/>
            <a:ext cx="233172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1000"/>
              </a:spcAft>
              <a:buNone/>
            </a:pPr>
            <a:r>
              <a:rPr sz="1300" b="0" i="0">
                <a:solidFill>
                  <a:srgbClr val="D8D8D8"/>
                </a:solidFill>
                <a:latin typeface="Arial"/>
              </a:rPr>
              <a:t>Пример: WK, план 2027</a:t>
            </a:r>
          </a:p>
          <a:p>
            <a:pPr algn="l">
              <a:spcAft>
                <a:spcPts val="200"/>
              </a:spcAft>
              <a:buNone/>
            </a:pPr>
            <a:r>
              <a:rPr sz="3000" b="1" i="0">
                <a:solidFill>
                  <a:srgbClr val="3EF0AF"/>
                </a:solidFill>
                <a:latin typeface="Arial"/>
              </a:rPr>
              <a:t>393 млн ₽</a:t>
            </a:r>
          </a:p>
          <a:p>
            <a:pPr algn="l">
              <a:spcAft>
                <a:spcPts val="1600"/>
              </a:spcAft>
              <a:buNone/>
            </a:pPr>
            <a:r>
              <a:rPr sz="1300" b="0" i="0">
                <a:solidFill>
                  <a:srgbClr val="FFFFFF"/>
                </a:solidFill>
                <a:latin typeface="Arial"/>
              </a:rPr>
              <a:t>из 525 млн ₽ дефицита — строки «Начиная с деблокирования»: закупка их пока не видит</a:t>
            </a:r>
          </a:p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FFFFFF"/>
                </a:solidFill>
                <a:latin typeface="Arial"/>
              </a:rPr>
              <a:t>81 млн ₽</a:t>
            </a:r>
          </a:p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D8D8D8"/>
                </a:solidFill>
                <a:latin typeface="Arial"/>
              </a:rPr>
              <a:t>строки «Никогда»: в заявку не попадут совсем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" y="6053328"/>
            <a:ext cx="8778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Источник: выгрузка BW PM-M06 на 14.09.2026, расчёт обеспеченности WK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Срочность (СРОЧ) и невостребованные остатки (НВСО)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70432"/>
            <a:ext cx="5417820" cy="822960"/>
          </a:xfrm>
          <a:prstGeom prst="roundRect">
            <a:avLst>
              <a:gd name="adj" fmla="val 17777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9496" y="1627631"/>
            <a:ext cx="5417820" cy="4251960"/>
          </a:xfrm>
          <a:prstGeom prst="roundRect">
            <a:avLst>
              <a:gd name="adj" fmla="val 344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170432"/>
            <a:ext cx="54178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600" b="1" i="0">
                <a:solidFill>
                  <a:srgbClr val="2A3138"/>
                </a:solidFill>
                <a:latin typeface="Arial"/>
              </a:rPr>
              <a:t>СРОЧ — срочная потребность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1636" y="1170432"/>
            <a:ext cx="5417820" cy="822960"/>
          </a:xfrm>
          <a:prstGeom prst="roundRect">
            <a:avLst>
              <a:gd name="adj" fmla="val 1777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31636" y="1627631"/>
            <a:ext cx="5417820" cy="4251960"/>
          </a:xfrm>
          <a:prstGeom prst="roundRect">
            <a:avLst>
              <a:gd name="adj" fmla="val 344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1636" y="1170432"/>
            <a:ext cx="54178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НВСО — невостребованные остатки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856231"/>
            <a:ext cx="4869180" cy="1143000"/>
          </a:xfrm>
          <a:prstGeom prst="roundRect">
            <a:avLst>
              <a:gd name="adj" fmla="val 11200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5B6167"/>
                </a:solidFill>
                <a:latin typeface="Arial"/>
              </a:rPr>
              <a:t>Позиция срочная, если</a:t>
            </a:r>
          </a:p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сегодня + срок поставки + срок согласования &gt; дата потребности</a:t>
            </a:r>
          </a:p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и свободных остатков не хватает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" y="3182111"/>
            <a:ext cx="4869180" cy="2651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8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Остатки считаются с перевалочной базой и прямыми аналогами МТО, без запасов проектов</a:t>
            </a:r>
          </a:p>
          <a:p>
            <a:pPr algn="l" marL="182880" indent="-182880">
              <a:spcAft>
                <a:spcPts val="800"/>
              </a:spcAft>
              <a:buClr>
                <a:srgbClr val="3EF0AF"/>
              </a:buClr>
              <a:buFont typeface="Arial"/>
              <a:buChar char="•"/>
            </a:pPr>
            <a:r>
              <a:rPr sz="1300" b="1" i="0">
                <a:solidFill>
                  <a:srgbClr val="2A3138"/>
                </a:solidFill>
                <a:latin typeface="Arial"/>
              </a:rPr>
              <a:t>Не передана в ППМ: </a:t>
            </a:r>
            <a:r>
              <a:rPr sz="1300" b="0" i="0">
                <a:solidFill>
                  <a:srgbClr val="2A3138"/>
                </a:solidFill>
                <a:latin typeface="Arial"/>
              </a:rPr>
              <a:t>признак снимается, когда остатков стало хватать</a:t>
            </a:r>
          </a:p>
          <a:p>
            <a:pPr algn="l" marL="182880" indent="-182880">
              <a:spcAft>
                <a:spcPts val="800"/>
              </a:spcAft>
              <a:buClr>
                <a:srgbClr val="3EF0AF"/>
              </a:buClr>
              <a:buFont typeface="Arial"/>
              <a:buChar char="•"/>
            </a:pPr>
            <a:r>
              <a:rPr sz="1300" b="1" i="0">
                <a:solidFill>
                  <a:srgbClr val="2A3138"/>
                </a:solidFill>
                <a:latin typeface="Arial"/>
              </a:rPr>
              <a:t>Передана в ППМ («Немедленно»): </a:t>
            </a:r>
            <a:r>
              <a:rPr sz="1300" b="0" i="0">
                <a:solidFill>
                  <a:srgbClr val="2A3138"/>
                </a:solidFill>
                <a:latin typeface="Arial"/>
              </a:rPr>
              <a:t>снимается только по сроку — когда дата вышла за срок поставки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5955" y="1856231"/>
            <a:ext cx="4869180" cy="2468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600"/>
              </a:spcAft>
              <a:buNone/>
            </a:pPr>
            <a:r>
              <a:rPr sz="1300" b="0" i="0">
                <a:solidFill>
                  <a:srgbClr val="2A3138"/>
                </a:solidFill>
                <a:latin typeface="Arial"/>
              </a:rPr>
              <a:t>При удалении, сокращении или переносе потребности система сравнивает:</a:t>
            </a:r>
          </a:p>
          <a:p>
            <a:pPr algn="l" marL="182880" indent="-182880">
              <a:spcAft>
                <a:spcPts val="2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заявленную потребность на 2 года</a:t>
            </a:r>
          </a:p>
          <a:p>
            <a:pPr algn="l" marL="182880" indent="-182880">
              <a:spcAft>
                <a:spcPts val="8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запас на складе + спецификации к договору</a:t>
            </a:r>
          </a:p>
          <a:p>
            <a:pPr algn="l" marL="182880" indent="-182880">
              <a:spcAft>
                <a:spcPts val="200"/>
              </a:spcAft>
              <a:buClr>
                <a:srgbClr val="80868B"/>
              </a:buClr>
              <a:buFont typeface="Arial"/>
              <a:buChar char="•"/>
            </a:pPr>
            <a:r>
              <a:rPr sz="1300" b="1" i="0">
                <a:solidFill>
                  <a:srgbClr val="2A3138"/>
                </a:solidFill>
                <a:latin typeface="Arial"/>
              </a:rPr>
              <a:t>Профицит в текущем году — </a:t>
            </a:r>
            <a:r>
              <a:rPr sz="1300" b="0" i="0">
                <a:solidFill>
                  <a:srgbClr val="2A3138"/>
                </a:solidFill>
                <a:latin typeface="Arial"/>
              </a:rPr>
              <a:t>предупреждение</a:t>
            </a:r>
          </a:p>
          <a:p>
            <a:pPr algn="l" marL="182880" indent="-182880">
              <a:spcAft>
                <a:spcPts val="400"/>
              </a:spcAft>
              <a:buClr>
                <a:srgbClr val="80868B"/>
              </a:buClr>
              <a:buFont typeface="Arial"/>
              <a:buChar char="•"/>
            </a:pPr>
            <a:r>
              <a:rPr sz="1300" b="1" i="0">
                <a:solidFill>
                  <a:srgbClr val="2A3138"/>
                </a:solidFill>
                <a:latin typeface="Arial"/>
              </a:rPr>
              <a:t>Профицит в следующем году — </a:t>
            </a:r>
            <a:r>
              <a:rPr sz="1300" b="0" i="0">
                <a:solidFill>
                  <a:srgbClr val="2A3138"/>
                </a:solidFill>
                <a:latin typeface="Arial"/>
              </a:rPr>
              <a:t>ошибка: удалить может главный специалист ТОиР УК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05955" y="4462272"/>
            <a:ext cx="4869180" cy="1280160"/>
          </a:xfrm>
          <a:prstGeom prst="roundRect">
            <a:avLst>
              <a:gd name="adj" fmla="val 1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3EF0AF"/>
                </a:solidFill>
                <a:latin typeface="Arial"/>
              </a:rPr>
              <a:t>Перед сокращением проверьте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ZMM_MRP_MAINT: варианты NVSO_SVERKA и NVSO_ZNPSKL, склад — MB52. После удаления или ТЗКР с отказом ставится НВСО, его не снять.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Перенос и отмена работ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Копии заказов, блокировки сроков, запросы на корректировку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Перенос в «Развитие» — это копия, а не переназначение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353312"/>
            <a:ext cx="3291840" cy="155448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587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444752"/>
            <a:ext cx="2834640" cy="1371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700" b="1" i="0">
                <a:solidFill>
                  <a:srgbClr val="2A3138"/>
                </a:solidFill>
                <a:latin typeface="Arial"/>
              </a:rPr>
              <a:t>Заказ БЕ</a:t>
            </a:r>
          </a:p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5B6167"/>
                </a:solidFill>
                <a:latin typeface="Arial"/>
              </a:rPr>
              <a:t>Оригинал на планирующем заводе производственной БЕ</a:t>
            </a:r>
          </a:p>
        </p:txBody>
      </p:sp>
      <p:sp>
        <p:nvSpPr>
          <p:cNvPr id="5" name="Pentagon 4"/>
          <p:cNvSpPr/>
          <p:nvPr/>
        </p:nvSpPr>
        <p:spPr>
          <a:xfrm>
            <a:off x="4014216" y="1673352"/>
            <a:ext cx="4160520" cy="914400"/>
          </a:xfrm>
          <a:prstGeom prst="homePlate">
            <a:avLst>
              <a:gd name="adj" fmla="val 32000"/>
            </a:avLst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rIns="274320" bIns="18288"/>
          <a:lstStyle/>
          <a:p>
            <a:pPr algn="ctr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Массовое копирование</a:t>
            </a:r>
          </a:p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A3138"/>
                </a:solidFill>
                <a:latin typeface="Arial"/>
              </a:rPr>
              <a:t>заказов/сообщений в IW38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57616" y="1353312"/>
            <a:ext cx="3291840" cy="1554480"/>
          </a:xfrm>
          <a:prstGeom prst="roundRect">
            <a:avLst>
              <a:gd name="adj" fmla="val 10588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86216" y="1444752"/>
            <a:ext cx="2834640" cy="1371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700" b="1" i="0">
                <a:solidFill>
                  <a:srgbClr val="3EF0AF"/>
                </a:solidFill>
                <a:latin typeface="Arial"/>
              </a:rPr>
              <a:t>Заказ «Развития»</a:t>
            </a:r>
          </a:p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FFFFFF"/>
                </a:solidFill>
                <a:latin typeface="Arial"/>
              </a:rPr>
              <a:t>Копия с заводом филиала и копиями сообщений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" y="3246120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39496" y="3703320"/>
            <a:ext cx="3520440" cy="1874519"/>
          </a:xfrm>
          <a:prstGeom prst="roundRect">
            <a:avLst>
              <a:gd name="adj" fmla="val 78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3246120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Переназначить нельзя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831335"/>
            <a:ext cx="3154680" cy="16916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500" b="0" i="0">
                <a:solidFill>
                  <a:srgbClr val="2A3138"/>
                </a:solidFill>
                <a:latin typeface="Arial"/>
              </a:rPr>
              <a:t>Заказ, созданный не на тот завод, удаляют и создают заново. В IW31 и IW34 завод выбирают на первом экране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6" y="3246120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34256" y="3703320"/>
            <a:ext cx="3520440" cy="1874519"/>
          </a:xfrm>
          <a:prstGeom prst="roundRect">
            <a:avLst>
              <a:gd name="adj" fmla="val 78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5696" y="3246120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Сообщение с заказом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136" y="3831335"/>
            <a:ext cx="3154680" cy="16916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500" b="0" i="0">
                <a:solidFill>
                  <a:srgbClr val="2A3138"/>
                </a:solidFill>
                <a:latin typeface="Arial"/>
              </a:rPr>
              <a:t>Отвязать заказ → переназначить сообщение между БЕ → удалить ошибочный заказ → получатель создаёт новый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29016" y="3246120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29016" y="3703320"/>
            <a:ext cx="3520440" cy="1874519"/>
          </a:xfrm>
          <a:prstGeom prst="roundRect">
            <a:avLst>
              <a:gd name="adj" fmla="val 78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0456" y="3246120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600" b="1" i="0">
                <a:solidFill>
                  <a:srgbClr val="2A3138"/>
                </a:solidFill>
                <a:latin typeface="Arial"/>
              </a:rPr>
              <a:t>Как считать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3831335"/>
            <a:ext cx="3154680" cy="16916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500" b="0" i="0">
                <a:solidFill>
                  <a:srgbClr val="2A3138"/>
                </a:solidFill>
                <a:latin typeface="Arial"/>
              </a:rPr>
              <a:t>Факт — с обеих сторон. Неисполненный план — только по копии «Развития», иначе он задваивается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Отмена, перенос сроков и блокировки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216151"/>
            <a:ext cx="3520440" cy="960119"/>
          </a:xfrm>
          <a:prstGeom prst="roundRect">
            <a:avLst>
              <a:gd name="adj" fmla="val 15238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9496" y="1856231"/>
            <a:ext cx="3520440" cy="2788920"/>
          </a:xfrm>
          <a:prstGeom prst="roundRect">
            <a:avLst>
              <a:gd name="adj" fmla="val 524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216151"/>
            <a:ext cx="33375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Работу отменили или перенесли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84248"/>
            <a:ext cx="3154680" cy="26060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1000"/>
              </a:spcAft>
              <a:buClr>
                <a:srgbClr val="3EF0AF"/>
              </a:buClr>
              <a:buFont typeface="Arial"/>
              <a:buChar char="•"/>
            </a:pPr>
            <a:r>
              <a:rPr sz="1400" b="0" i="0">
                <a:solidFill>
                  <a:srgbClr val="2A3138"/>
                </a:solidFill>
                <a:latin typeface="Arial"/>
              </a:rPr>
              <a:t>Закрыть заказ и пометить на удаление — или перенести сроки</a:t>
            </a:r>
          </a:p>
          <a:p>
            <a:pPr algn="l" marL="182880" indent="-182880">
              <a:spcAft>
                <a:spcPts val="1000"/>
              </a:spcAft>
              <a:buClr>
                <a:srgbClr val="3EF0AF"/>
              </a:buClr>
              <a:buFont typeface="Arial"/>
              <a:buChar char="•"/>
            </a:pPr>
            <a:r>
              <a:rPr sz="1400" b="0" i="0">
                <a:solidFill>
                  <a:srgbClr val="2A3138"/>
                </a:solidFill>
                <a:latin typeface="Arial"/>
              </a:rPr>
              <a:t>Не оставлять деблокированный заказ без факта: он искажает исполнение программы</a:t>
            </a:r>
          </a:p>
          <a:p>
            <a:pPr algn="l" marL="182880" indent="-182880">
              <a:spcAft>
                <a:spcPts val="1000"/>
              </a:spcAft>
              <a:buClr>
                <a:srgbClr val="3EF0AF"/>
              </a:buClr>
              <a:buFont typeface="Arial"/>
              <a:buChar char="•"/>
            </a:pPr>
            <a:r>
              <a:rPr sz="1400" b="0" i="0">
                <a:solidFill>
                  <a:srgbClr val="2A3138"/>
                </a:solidFill>
                <a:latin typeface="Arial"/>
              </a:rPr>
              <a:t>Удаляя законтрактованные МТР, проверить НВСО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4256" y="1216151"/>
            <a:ext cx="3520440" cy="960119"/>
          </a:xfrm>
          <a:prstGeom prst="roundRect">
            <a:avLst>
              <a:gd name="adj" fmla="val 15238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34256" y="1856231"/>
            <a:ext cx="3520440" cy="2788920"/>
          </a:xfrm>
          <a:prstGeom prst="roundRect">
            <a:avLst>
              <a:gd name="adj" fmla="val 524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5696" y="1216151"/>
            <a:ext cx="33375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Блокировка сроков · ZPM_DATE_BLOCK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1984248"/>
            <a:ext cx="3154680" cy="26060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1000"/>
              </a:spcAft>
              <a:buClr>
                <a:srgbClr val="3EF0AF"/>
              </a:buClr>
              <a:buFont typeface="Arial"/>
              <a:buChar char="•"/>
            </a:pPr>
            <a:r>
              <a:rPr sz="1400" b="0" i="0">
                <a:solidFill>
                  <a:srgbClr val="2A3138"/>
                </a:solidFill>
                <a:latin typeface="Arial"/>
              </a:rPr>
              <a:t>Задаётся по БЕ, заводу, группе плановиков, ТМ и ЕО на период</a:t>
            </a:r>
          </a:p>
          <a:p>
            <a:pPr algn="l" marL="182880" indent="-182880">
              <a:spcAft>
                <a:spcPts val="1000"/>
              </a:spcAft>
              <a:buClr>
                <a:srgbClr val="3EF0AF"/>
              </a:buClr>
              <a:buFont typeface="Arial"/>
              <a:buChar char="•"/>
            </a:pPr>
            <a:r>
              <a:rPr sz="1400" b="0" i="0">
                <a:solidFill>
                  <a:srgbClr val="2A3138"/>
                </a:solidFill>
                <a:latin typeface="Arial"/>
              </a:rPr>
              <a:t>Заказ попадает под блокировку по базисной дате начала</a:t>
            </a:r>
          </a:p>
          <a:p>
            <a:pPr algn="l" marL="182880" indent="-182880">
              <a:spcAft>
                <a:spcPts val="1000"/>
              </a:spcAft>
              <a:buClr>
                <a:srgbClr val="3EF0AF"/>
              </a:buClr>
              <a:buFont typeface="Arial"/>
              <a:buChar char="•"/>
            </a:pPr>
            <a:r>
              <a:rPr sz="1400" b="0" i="0">
                <a:solidFill>
                  <a:srgbClr val="2A3138"/>
                </a:solidFill>
                <a:latin typeface="Arial"/>
              </a:rPr>
              <a:t>Запрещает менять сроки и простой, а также закрывать заказ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216151"/>
            <a:ext cx="3520440" cy="960119"/>
          </a:xfrm>
          <a:prstGeom prst="roundRect">
            <a:avLst>
              <a:gd name="adj" fmla="val 15238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29016" y="1856231"/>
            <a:ext cx="3520440" cy="2788920"/>
          </a:xfrm>
          <a:prstGeom prst="roundRect">
            <a:avLst>
              <a:gd name="adj" fmla="val 524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0456" y="1216151"/>
            <a:ext cx="33375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Активный ЗНК к заказу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1896" y="1984248"/>
            <a:ext cx="3154680" cy="26060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1000"/>
              </a:spcAft>
              <a:buClr>
                <a:srgbClr val="3EF0AF"/>
              </a:buClr>
              <a:buFont typeface="Arial"/>
              <a:buChar char="•"/>
            </a:pPr>
            <a:r>
              <a:rPr sz="1400" b="0" i="0">
                <a:solidFill>
                  <a:srgbClr val="2A3138"/>
                </a:solidFill>
                <a:latin typeface="Arial"/>
              </a:rPr>
              <a:t>Сроки и статусы согласования (СГПЛ, ССПЛ, СГГС) не меняются</a:t>
            </a:r>
          </a:p>
          <a:p>
            <a:pPr algn="l" marL="182880" indent="-182880">
              <a:spcAft>
                <a:spcPts val="1000"/>
              </a:spcAft>
              <a:buClr>
                <a:srgbClr val="3EF0AF"/>
              </a:buClr>
              <a:buFont typeface="Arial"/>
              <a:buChar char="•"/>
            </a:pPr>
            <a:r>
              <a:rPr sz="1400" b="0" i="0">
                <a:solidFill>
                  <a:srgbClr val="2A3138"/>
                </a:solidFill>
                <a:latin typeface="Arial"/>
              </a:rPr>
              <a:t>ZMM_CHREQ_MAINT: номер заказа с двумя ведущими нулями, поле «Автор ЗНК» очистить</a:t>
            </a:r>
          </a:p>
          <a:p>
            <a:pPr algn="l" marL="182880" indent="-182880">
              <a:spcAft>
                <a:spcPts val="1000"/>
              </a:spcAft>
              <a:buClr>
                <a:srgbClr val="3EF0AF"/>
              </a:buClr>
              <a:buFont typeface="Arial"/>
              <a:buChar char="•"/>
            </a:pPr>
            <a:r>
              <a:rPr sz="1400" b="0" i="0">
                <a:solidFill>
                  <a:srgbClr val="2A3138"/>
                </a:solidFill>
                <a:latin typeface="Arial"/>
              </a:rPr>
              <a:t>Каждый ЗНК согласовать полностью или отменить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" y="4846320"/>
            <a:ext cx="11109960" cy="960120"/>
          </a:xfrm>
          <a:prstGeom prst="roundRect">
            <a:avLst>
              <a:gd name="adj" fmla="val 17142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846320"/>
            <a:ext cx="219456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67 заказов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9815" y="4846320"/>
            <a:ext cx="827532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FFFFFF"/>
                </a:solidFill>
                <a:latin typeface="Arial"/>
              </a:rPr>
              <a:t>WK за 2026 год закрыты без факта: это отменённые или перенесённые работы. Связи старого и нового заказа при переносе в PM-06 нет, поэтому новый заказ ищут по ЕО и виду работ.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Практика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Чтение PM-06, типичные ошибки, чек-лист, самопроверка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Как читать PM-06: состояние заказа за 5 шагов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70432"/>
            <a:ext cx="4892040" cy="841248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04088" y="1344168"/>
            <a:ext cx="493776" cy="493776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3EF0A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62456" y="1225296"/>
            <a:ext cx="393192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Нет статусов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позиция ППР — не заказ, в план и потребность не включать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496" y="2121408"/>
            <a:ext cx="4892040" cy="841248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04088" y="2295144"/>
            <a:ext cx="493776" cy="493776"/>
          </a:xfrm>
          <a:prstGeom prst="roundRect">
            <a:avLst>
              <a:gd name="adj" fmla="val 50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62456" y="2176272"/>
            <a:ext cx="393192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ТЗКР или ЗАКР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заказ закрыт: остаток «план − факт» не потребность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6" y="3072384"/>
            <a:ext cx="4892040" cy="841248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04088" y="3246120"/>
            <a:ext cx="493776" cy="493776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3EF0A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62456" y="3127248"/>
            <a:ext cx="393192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ДЕБЛ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в работе: смотрим ПДТВ/ЧПДТ, ПРНТ, ФХСМ и факт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496" y="4023360"/>
            <a:ext cx="4892040" cy="841248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04088" y="4197096"/>
            <a:ext cx="493776" cy="493776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3EF0A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4078224"/>
            <a:ext cx="393192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ОТКР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на согласовании (ПЛАН–ССПЛ) или согласован (СГГС)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" y="4974336"/>
            <a:ext cx="4892040" cy="841248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04088" y="5148072"/>
            <a:ext cx="493776" cy="493776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3EF0A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62456" y="5029200"/>
            <a:ext cx="393192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Пара БЕ + «Развитие»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та же ЕО, вид работ и дата начала — план только по копии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05855" y="1170432"/>
            <a:ext cx="5943600" cy="4681728"/>
          </a:xfrm>
          <a:prstGeom prst="roundRect">
            <a:avLst>
              <a:gd name="adj" fmla="val 351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0175" y="1261872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WK, программа 2026: план по стадиям, млн ₽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5843016" y="1627631"/>
          <a:ext cx="562356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5980175" y="5513831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3EF0AF"/>
                </a:solidFill>
                <a:latin typeface="Arial"/>
              </a:rPr>
              <a:t>■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закрыто: ТЗКР и далее    </a:t>
            </a:r>
            <a:r>
              <a:rPr sz="1100" b="1" i="0">
                <a:solidFill>
                  <a:srgbClr val="80868B"/>
                </a:solidFill>
                <a:latin typeface="Arial"/>
              </a:rPr>
              <a:t>■ </a:t>
            </a:r>
            <a:r>
              <a:rPr sz="1100" b="0" i="0">
                <a:solidFill>
                  <a:srgbClr val="5B6167"/>
                </a:solidFill>
                <a:latin typeface="Arial"/>
              </a:rPr>
              <a:t>ещё не закрыто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Типичные ошибки и как их избежать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70432"/>
            <a:ext cx="3520440" cy="2240280"/>
          </a:xfrm>
          <a:prstGeom prst="roundRect">
            <a:avLst>
              <a:gd name="adj" fmla="val 73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22376" y="135331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3EF0A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1016" y="1325880"/>
            <a:ext cx="260604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Заказ не на том заводе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2024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Переназначить нельзя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468880"/>
            <a:ext cx="3154680" cy="804672"/>
          </a:xfrm>
          <a:prstGeom prst="roundRect">
            <a:avLst>
              <a:gd name="adj" fmla="val 13636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36576" rIns="128016" bIns="36576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Удалить и создать заново в IW31/IW34 с заводом того, чьи ресурсы работают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4256" y="1170432"/>
            <a:ext cx="3520440" cy="2240280"/>
          </a:xfrm>
          <a:prstGeom prst="roundRect">
            <a:avLst>
              <a:gd name="adj" fmla="val 73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17136" y="135331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3EF0A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5776" y="1325880"/>
            <a:ext cx="260604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Деблокирован, но пусто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192024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Нет факта и подтверждений — исполнение искажено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17136" y="2468880"/>
            <a:ext cx="3154680" cy="804672"/>
          </a:xfrm>
          <a:prstGeom prst="roundRect">
            <a:avLst>
              <a:gd name="adj" fmla="val 13636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36576" rIns="128016" bIns="36576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Еженедельный CONTROL в IW38; отменили — закрыть и пометить на удаление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9016" y="1170432"/>
            <a:ext cx="3520440" cy="2240280"/>
          </a:xfrm>
          <a:prstGeom prst="roundRect">
            <a:avLst>
              <a:gd name="adj" fmla="val 73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11896" y="135331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3EF0A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0536" y="1325880"/>
            <a:ext cx="260604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Поздний деблок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192024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«Начиная с деблокирования»: закупка не видит потребность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11896" y="2468880"/>
            <a:ext cx="3154680" cy="804672"/>
          </a:xfrm>
          <a:prstGeom prst="roundRect">
            <a:avLst>
              <a:gd name="adj" fmla="val 13636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36576" rIns="128016" bIns="36576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Деблокировать с запасом на срок поставки МТР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9496" y="3639312"/>
            <a:ext cx="3520440" cy="2240280"/>
          </a:xfrm>
          <a:prstGeom prst="roundRect">
            <a:avLst>
              <a:gd name="adj" fmla="val 73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22376" y="382219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3EF0A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1016" y="3794760"/>
            <a:ext cx="260604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Не даёт ТЗКР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" y="438912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Нет ПРНТ или подтверждений, либо стоит НПРН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2376" y="4937760"/>
            <a:ext cx="3154680" cy="804672"/>
          </a:xfrm>
          <a:prstGeom prst="roundRect">
            <a:avLst>
              <a:gd name="adj" fmla="val 13636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36576" rIns="128016" bIns="36576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Проверить «Статус отражения факта» в IW38 и довести факт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34256" y="3639312"/>
            <a:ext cx="3520440" cy="2240280"/>
          </a:xfrm>
          <a:prstGeom prst="roundRect">
            <a:avLst>
              <a:gd name="adj" fmla="val 73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17136" y="382219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3EF0AF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65776" y="3794760"/>
            <a:ext cx="260604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Сокращение МТР → ошибка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438912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Законтрактованная потребность даст профицит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17136" y="4937760"/>
            <a:ext cx="3154680" cy="804672"/>
          </a:xfrm>
          <a:prstGeom prst="roundRect">
            <a:avLst>
              <a:gd name="adj" fmla="val 13636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36576" rIns="128016" bIns="36576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До сокращения — ZMM_MRP_MAINT (NVSO_SVERKA, NVSO_ZNPSKL)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29016" y="3639312"/>
            <a:ext cx="3520440" cy="2240280"/>
          </a:xfrm>
          <a:prstGeom prst="roundRect">
            <a:avLst>
              <a:gd name="adj" fmla="val 73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311896" y="382219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3EF0AF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0536" y="3794760"/>
            <a:ext cx="260604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Оригинал после копии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1896" y="438912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План задваивается в отчётах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11896" y="4937760"/>
            <a:ext cx="3154680" cy="804672"/>
          </a:xfrm>
          <a:prstGeom prst="roundRect">
            <a:avLst>
              <a:gd name="adj" fmla="val 13636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36576" rIns="128016" bIns="36576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Проверять пары по ссылкам сообщений в IW28 и считать план по копии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Чек-лист планировщика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70432"/>
            <a:ext cx="3520440" cy="822960"/>
          </a:xfrm>
          <a:prstGeom prst="roundRect">
            <a:avLst>
              <a:gd name="adj" fmla="val 17777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9496" y="1627631"/>
            <a:ext cx="3520440" cy="4251960"/>
          </a:xfrm>
          <a:prstGeom prst="roundRect">
            <a:avLst>
              <a:gd name="adj" fmla="val 415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170432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600" b="1" i="0">
                <a:solidFill>
                  <a:srgbClr val="2A3138"/>
                </a:solidFill>
                <a:latin typeface="Arial"/>
              </a:rPr>
              <a:t>Каждую неделю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" y="1911095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3EF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" y="1856231"/>
            <a:ext cx="2743200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2A3138"/>
                </a:solidFill>
                <a:latin typeface="Arial"/>
              </a:rPr>
              <a:t>IW38 CONTROL: нет подтверждений, нет списаний МТР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" y="2697479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3EF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2642615"/>
            <a:ext cx="2743200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2A3138"/>
                </a:solidFill>
                <a:latin typeface="Arial"/>
              </a:rPr>
              <a:t>Деблокированные заказы без факта: провести, перенести или закрыть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" y="3483864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3EF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3429000"/>
            <a:ext cx="2743200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2A3138"/>
                </a:solidFill>
                <a:latin typeface="Arial"/>
              </a:rPr>
              <a:t>Заказы следующей недели отправлены на согласование (СГПЛ)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4270247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3EF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4215383"/>
            <a:ext cx="2743200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2A3138"/>
                </a:solidFill>
                <a:latin typeface="Arial"/>
              </a:rPr>
              <a:t>Активные ЗНК к своим заказам обработаны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" y="5056631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3EF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856" y="5001768"/>
            <a:ext cx="2743200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2A3138"/>
                </a:solidFill>
                <a:latin typeface="Arial"/>
              </a:rPr>
              <a:t>Срочные позиции (СРОЧ): есть ли покрытие к дате работ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4256" y="1170432"/>
            <a:ext cx="3520440" cy="822960"/>
          </a:xfrm>
          <a:prstGeom prst="roundRect">
            <a:avLst>
              <a:gd name="adj" fmla="val 1777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34256" y="1627631"/>
            <a:ext cx="3520440" cy="4251960"/>
          </a:xfrm>
          <a:prstGeom prst="roundRect">
            <a:avLst>
              <a:gd name="adj" fmla="val 415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4256" y="1170432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Каждый месяц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35424" y="1911095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8086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28616" y="1856231"/>
            <a:ext cx="2743200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2A3138"/>
                </a:solidFill>
                <a:latin typeface="Arial"/>
              </a:rPr>
              <a:t>Заказы с ФХСМ технически закрыты (ТЗКР)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35424" y="2697479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8086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28616" y="2642615"/>
            <a:ext cx="2743200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2A3138"/>
                </a:solidFill>
                <a:latin typeface="Arial"/>
              </a:rPr>
              <a:t>Статус приёмки: #ТЗКР и #ПРСЗ отработаны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35424" y="3483864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8086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28616" y="3429000"/>
            <a:ext cx="2743200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2A3138"/>
                </a:solidFill>
                <a:latin typeface="Arial"/>
              </a:rPr>
              <a:t>Прогноз завершения месяца (ПЗТМ) согласован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35424" y="4270247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8086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28616" y="4215383"/>
            <a:ext cx="2743200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2A3138"/>
                </a:solidFill>
                <a:latin typeface="Arial"/>
              </a:rPr>
              <a:t>План-график следующего месяца: МЕС → УТВМ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35424" y="5056631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8086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28616" y="5001768"/>
            <a:ext cx="2743200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2A3138"/>
                </a:solidFill>
                <a:latin typeface="Arial"/>
              </a:rPr>
              <a:t>Удаления МТР не создали лишних НВСО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29016" y="1170432"/>
            <a:ext cx="3520440" cy="822960"/>
          </a:xfrm>
          <a:prstGeom prst="roundRect">
            <a:avLst>
              <a:gd name="adj" fmla="val 17777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29016" y="1627631"/>
            <a:ext cx="3520440" cy="4251960"/>
          </a:xfrm>
          <a:prstGeom prst="roundRect">
            <a:avLst>
              <a:gd name="adj" fmla="val 415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29016" y="1170432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Перед годом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30184" y="1911095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8086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23376" y="1856231"/>
            <a:ext cx="2743200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2A3138"/>
                </a:solidFill>
                <a:latin typeface="Arial"/>
              </a:rPr>
              <a:t>Годовой план: ГОД → ПТОГ → ГИП → УТВГ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30184" y="2697479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8086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23376" y="2642615"/>
            <a:ext cx="2743200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2A3138"/>
                </a:solidFill>
                <a:latin typeface="Arial"/>
              </a:rPr>
              <a:t>ППР распределены по правилу ресурсов: обходы — «Развитие», ЕТО — БЕ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30184" y="3483864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8086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23376" y="3429000"/>
            <a:ext cx="2743200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2A3138"/>
                </a:solidFill>
                <a:latin typeface="Arial"/>
              </a:rPr>
              <a:t>Ответственные в ТМ, ЕО и ППР проверены до отзыва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30184" y="4270247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8086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23376" y="4215383"/>
            <a:ext cx="2743200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2A3138"/>
                </a:solidFill>
                <a:latin typeface="Arial"/>
              </a:rPr>
              <a:t>Деблокирование запланировано с учётом сроков поставки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Самопроверка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216151"/>
            <a:ext cx="541782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8096" y="1600199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91055" y="1307592"/>
            <a:ext cx="413766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rgbClr val="2A3138"/>
                </a:solidFill>
                <a:latin typeface="Arial"/>
              </a:rPr>
              <a:t>Заказ в ТЗКР, факт по нему нулевой. Это потребность в МТР?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1636" y="1216151"/>
            <a:ext cx="541782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60236" y="1600199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83196" y="1307592"/>
            <a:ext cx="413766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rgbClr val="2A3138"/>
                </a:solidFill>
                <a:latin typeface="Arial"/>
              </a:rPr>
              <a:t>Какой статус ставит старший планировщик и что он делает с заказом?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6" y="2788920"/>
            <a:ext cx="541782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" y="317296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91055" y="2880360"/>
            <a:ext cx="413766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rgbClr val="2A3138"/>
                </a:solidFill>
                <a:latin typeface="Arial"/>
              </a:rPr>
              <a:t>Заказ согласован (СГГС), а закупка не видит его МТР. Почему?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2788920"/>
            <a:ext cx="541782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60236" y="317296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3196" y="2880360"/>
            <a:ext cx="413766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rgbClr val="2A3138"/>
                </a:solidFill>
                <a:latin typeface="Arial"/>
              </a:rPr>
              <a:t>Заказ создан на завод БЕ, а работы выполняет «Развитие». Что делать?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" y="4361688"/>
            <a:ext cx="541782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8096" y="474573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91055" y="4453127"/>
            <a:ext cx="413766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rgbClr val="2A3138"/>
                </a:solidFill>
                <a:latin typeface="Arial"/>
              </a:rPr>
              <a:t>После какого статуса на заказ уже нельзя списать МТР?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1636" y="4361688"/>
            <a:ext cx="541782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60236" y="474573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3196" y="4453127"/>
            <a:ext cx="413766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rgbClr val="2A3138"/>
                </a:solidFill>
                <a:latin typeface="Arial"/>
              </a:rPr>
              <a:t>Почему не удаётся изменить сроки согласованного заказа?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Ответы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216151"/>
            <a:ext cx="541782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8096" y="1600199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3EF0A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91055" y="1307592"/>
            <a:ext cx="413766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  <a:buNone/>
            </a:pPr>
            <a:r>
              <a:rPr sz="1600" b="1" i="0">
                <a:solidFill>
                  <a:srgbClr val="2A3138"/>
                </a:solidFill>
                <a:latin typeface="Arial"/>
              </a:rPr>
              <a:t>Нет</a:t>
            </a:r>
          </a:p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5B6167"/>
                </a:solidFill>
                <a:latin typeface="Arial"/>
              </a:rPr>
              <a:t>Заказ закрыт: работу выполнили без факта или отменили. Остаток «план − факт» не потребность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1636" y="1216151"/>
            <a:ext cx="541782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60236" y="1600199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3EF0A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83196" y="1307592"/>
            <a:ext cx="413766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  <a:buNone/>
            </a:pPr>
            <a:r>
              <a:rPr sz="1600" b="1" i="0">
                <a:solidFill>
                  <a:srgbClr val="2A3138"/>
                </a:solidFill>
                <a:latin typeface="Arial"/>
              </a:rPr>
              <a:t>ССПЛ</a:t>
            </a:r>
          </a:p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5B6167"/>
                </a:solidFill>
                <a:latin typeface="Arial"/>
              </a:rPr>
              <a:t>Согласовано старшим планировщиком — заказ блокируется для изменений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6" y="2788920"/>
            <a:ext cx="541782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" y="317296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3EF0A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91055" y="2880360"/>
            <a:ext cx="413766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  <a:buNone/>
            </a:pPr>
            <a:r>
              <a:rPr sz="1600" b="1" i="0">
                <a:solidFill>
                  <a:srgbClr val="2A3138"/>
                </a:solidFill>
                <a:latin typeface="Arial"/>
              </a:rPr>
              <a:t>«Начиная с деблокирования»</a:t>
            </a:r>
          </a:p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5B6167"/>
                </a:solidFill>
                <a:latin typeface="Arial"/>
              </a:rPr>
              <a:t>Потребность уйдёт в ППМ только после ДЕБЛ — нужно деблокировать заказ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2788920"/>
            <a:ext cx="541782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60236" y="317296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3EF0A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3196" y="2880360"/>
            <a:ext cx="413766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  <a:buNone/>
            </a:pPr>
            <a:r>
              <a:rPr sz="1600" b="1" i="0">
                <a:solidFill>
                  <a:srgbClr val="2A3138"/>
                </a:solidFill>
                <a:latin typeface="Arial"/>
              </a:rPr>
              <a:t>Пересоздать</a:t>
            </a:r>
          </a:p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5B6167"/>
                </a:solidFill>
                <a:latin typeface="Arial"/>
              </a:rPr>
              <a:t>Переназначить нельзя: удалить и создать с заводом филиала «Развития» или перенести копированием в IW38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" y="4361688"/>
            <a:ext cx="541782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8096" y="474573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3EF0A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91055" y="4453127"/>
            <a:ext cx="413766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  <a:buNone/>
            </a:pPr>
            <a:r>
              <a:rPr sz="1600" b="1" i="0">
                <a:solidFill>
                  <a:srgbClr val="2A3138"/>
                </a:solidFill>
                <a:latin typeface="Arial"/>
              </a:rPr>
              <a:t>ПРСЗ</a:t>
            </a:r>
          </a:p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5B6167"/>
                </a:solidFill>
                <a:latin typeface="Arial"/>
              </a:rPr>
              <a:t>После приёмки службой заказчика запрещены списание МТР, подтверждения, счета и акты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1636" y="4361688"/>
            <a:ext cx="541782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60236" y="474573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3EF0AF"/>
                </a:solidFill>
                <a:latin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3196" y="4453127"/>
            <a:ext cx="413766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  <a:buNone/>
            </a:pPr>
            <a:r>
              <a:rPr sz="1600" b="1" i="0">
                <a:solidFill>
                  <a:srgbClr val="2A3138"/>
                </a:solidFill>
                <a:latin typeface="Arial"/>
              </a:rPr>
              <a:t>Блокировка</a:t>
            </a:r>
          </a:p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rgbClr val="5B6167"/>
                </a:solidFill>
                <a:latin typeface="Arial"/>
              </a:rPr>
              <a:t>Активный ЗНК, блокировка сроков ZPM_DATE_BLOCK или статус ССПЛ/СГГС, блокирующий изменения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Справочник транзакций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70432"/>
            <a:ext cx="5417820" cy="576072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9224" y="1271016"/>
            <a:ext cx="1874519" cy="374904"/>
          </a:xfrm>
          <a:prstGeom prst="roundRect">
            <a:avLst>
              <a:gd name="adj" fmla="val 4878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3EF0AF"/>
                </a:solidFill>
                <a:latin typeface="Arial"/>
              </a:rPr>
              <a:t>IW31 · IW34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88336" y="1170432"/>
            <a:ext cx="3131820" cy="5760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Создать заказ (без сообщения / к сообщению), выбор планирующего завода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496" y="1837943"/>
            <a:ext cx="5417820" cy="576072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938527"/>
            <a:ext cx="1874519" cy="374904"/>
          </a:xfrm>
          <a:prstGeom prst="roundRect">
            <a:avLst>
              <a:gd name="adj" fmla="val 4878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3EF0AF"/>
                </a:solidFill>
                <a:latin typeface="Arial"/>
              </a:rPr>
              <a:t>IW32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88336" y="1837943"/>
            <a:ext cx="3131820" cy="5760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Изменить заказ: статусы, деблокирование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6" y="2505456"/>
            <a:ext cx="5417820" cy="576072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9224" y="2606040"/>
            <a:ext cx="1874519" cy="374904"/>
          </a:xfrm>
          <a:prstGeom prst="roundRect">
            <a:avLst>
              <a:gd name="adj" fmla="val 4878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3EF0AF"/>
                </a:solidFill>
                <a:latin typeface="Arial"/>
              </a:rPr>
              <a:t>IW38 · IW39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88336" y="2505456"/>
            <a:ext cx="3131820" cy="5760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Список заказов: массовые статусы, копирование, контроль закрытия, фоновый пересчёт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496" y="3172968"/>
            <a:ext cx="5417820" cy="576072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3273551"/>
            <a:ext cx="1874519" cy="374904"/>
          </a:xfrm>
          <a:prstGeom prst="roundRect">
            <a:avLst>
              <a:gd name="adj" fmla="val 4878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3EF0AF"/>
                </a:solidFill>
                <a:latin typeface="Arial"/>
              </a:rPr>
              <a:t>IW28 · IW29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88336" y="3172968"/>
            <a:ext cx="3131820" cy="5760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Список сообщений: переназначение между БЕ, отвязка заказов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" y="3840480"/>
            <a:ext cx="5417820" cy="576072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9224" y="3941064"/>
            <a:ext cx="1874519" cy="374904"/>
          </a:xfrm>
          <a:prstGeom prst="roundRect">
            <a:avLst>
              <a:gd name="adj" fmla="val 4878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3EF0AF"/>
                </a:solidFill>
                <a:latin typeface="Arial"/>
              </a:rPr>
              <a:t>ZPM_PLAN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8336" y="3840480"/>
            <a:ext cx="3131820" cy="5760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АРМ планировщика: план-график, согласование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9496" y="4507992"/>
            <a:ext cx="5417820" cy="576072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9224" y="4608576"/>
            <a:ext cx="1874519" cy="374904"/>
          </a:xfrm>
          <a:prstGeom prst="roundRect">
            <a:avLst>
              <a:gd name="adj" fmla="val 4878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3EF0AF"/>
                </a:solidFill>
                <a:latin typeface="Arial"/>
              </a:rPr>
              <a:t>IP17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88336" y="4507992"/>
            <a:ext cx="3131820" cy="5760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Позиции ППР: массовая смена ответственных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9496" y="5175504"/>
            <a:ext cx="5417820" cy="576072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5276088"/>
            <a:ext cx="1874519" cy="374904"/>
          </a:xfrm>
          <a:prstGeom prst="roundRect">
            <a:avLst>
              <a:gd name="adj" fmla="val 4878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3EF0AF"/>
                </a:solidFill>
                <a:latin typeface="Arial"/>
              </a:rPr>
              <a:t>IL05 · IE05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88336" y="5175504"/>
            <a:ext cx="3131820" cy="5760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Массовая смена ответственных в ТМ и ЕО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1170432"/>
            <a:ext cx="5417820" cy="576072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41364" y="1271016"/>
            <a:ext cx="1874519" cy="374904"/>
          </a:xfrm>
          <a:prstGeom prst="roundRect">
            <a:avLst>
              <a:gd name="adj" fmla="val 4878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3EF0AF"/>
                </a:solidFill>
                <a:latin typeface="Arial"/>
              </a:rPr>
              <a:t>ZPM_DATE_BLOCK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0475" y="1170432"/>
            <a:ext cx="3131820" cy="5760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Блокировки сроков заказов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1636" y="1837943"/>
            <a:ext cx="5417820" cy="576072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41364" y="1938527"/>
            <a:ext cx="1874519" cy="374904"/>
          </a:xfrm>
          <a:prstGeom prst="roundRect">
            <a:avLst>
              <a:gd name="adj" fmla="val 4878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3EF0AF"/>
                </a:solidFill>
                <a:latin typeface="Arial"/>
              </a:rPr>
              <a:t>ZMM_CHREQ_MAINT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0475" y="1837943"/>
            <a:ext cx="3131820" cy="5760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Запросы на корректировку (ЗНК)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31636" y="2505456"/>
            <a:ext cx="5417820" cy="576072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41364" y="2606040"/>
            <a:ext cx="1874519" cy="374904"/>
          </a:xfrm>
          <a:prstGeom prst="roundRect">
            <a:avLst>
              <a:gd name="adj" fmla="val 4878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3EF0AF"/>
                </a:solidFill>
                <a:latin typeface="Arial"/>
              </a:rPr>
              <a:t>ZMM_MRP_MAINT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0475" y="2505456"/>
            <a:ext cx="3131820" cy="5760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Срез ППМ (offline), сверка НВСО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1636" y="3172968"/>
            <a:ext cx="5417820" cy="576072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41364" y="3273551"/>
            <a:ext cx="1874519" cy="374904"/>
          </a:xfrm>
          <a:prstGeom prst="roundRect">
            <a:avLst>
              <a:gd name="adj" fmla="val 4878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3EF0AF"/>
                </a:solidFill>
                <a:latin typeface="Arial"/>
              </a:rPr>
              <a:t>MD04 · MB52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0475" y="3172968"/>
            <a:ext cx="3131820" cy="5760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Ситуация ППМ онлайн · складские запасы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31636" y="3840480"/>
            <a:ext cx="5417820" cy="576072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341364" y="3941064"/>
            <a:ext cx="1874519" cy="374904"/>
          </a:xfrm>
          <a:prstGeom prst="roundRect">
            <a:avLst>
              <a:gd name="adj" fmla="val 4878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3EF0AF"/>
                </a:solidFill>
                <a:latin typeface="Arial"/>
              </a:rPr>
              <a:t>ZPM_MTR_UPD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0475" y="3840480"/>
            <a:ext cx="3131820" cy="5760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Массовое изменение и удаление МТР в заказах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31636" y="4507992"/>
            <a:ext cx="5417820" cy="576072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341364" y="4608576"/>
            <a:ext cx="1874519" cy="374904"/>
          </a:xfrm>
          <a:prstGeom prst="roundRect">
            <a:avLst>
              <a:gd name="adj" fmla="val 4878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3EF0AF"/>
                </a:solidFill>
                <a:latin typeface="Arial"/>
              </a:rPr>
              <a:t>ZPM_MTRP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0475" y="4507992"/>
            <a:ext cx="3131820" cy="5760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Массовая загрузка МТР подрядчика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31636" y="5175504"/>
            <a:ext cx="5417820" cy="576072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341364" y="5276088"/>
            <a:ext cx="1874519" cy="374904"/>
          </a:xfrm>
          <a:prstGeom prst="roundRect">
            <a:avLst>
              <a:gd name="adj" fmla="val 4878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>
              <a:spcAft>
                <a:spcPts val="400"/>
              </a:spcAft>
              <a:buNone/>
            </a:pPr>
            <a:r>
              <a:rPr sz="1100" b="1" i="0">
                <a:solidFill>
                  <a:srgbClr val="3EF0AF"/>
                </a:solidFill>
                <a:latin typeface="Arial"/>
              </a:rPr>
              <a:t>ZMM_370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0475" y="5175504"/>
            <a:ext cx="3131820" cy="5760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Пульт по выручке: ставит ВСБЕ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Вопросы и предложения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>
              <a:buNone/>
            </a:pPr>
            <a:r>
              <a:t>SAP ТОРО для планировщика · 2026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Тема Office">
  <a:themeElements>
    <a:clrScheme name="Другая 1">
      <a:dk1>
        <a:srgbClr val="2A3138"/>
      </a:dk1>
      <a:lt1>
        <a:srgbClr val="FFFFFF"/>
      </a:lt1>
      <a:dk2>
        <a:srgbClr val="2A3138"/>
      </a:dk2>
      <a:lt2>
        <a:srgbClr val="E7E6E6"/>
      </a:lt2>
      <a:accent1>
        <a:srgbClr val="3EF0AF"/>
      </a:accent1>
      <a:accent2>
        <a:srgbClr val="80868B"/>
      </a:accent2>
      <a:accent3>
        <a:srgbClr val="D8D8D8"/>
      </a:accent3>
      <a:accent4>
        <a:srgbClr val="F5F5F5"/>
      </a:accent4>
      <a:accent5>
        <a:srgbClr val="2A3138"/>
      </a:accent5>
      <a:accent6>
        <a:srgbClr val="B3BDDC"/>
      </a:accent6>
      <a:hlink>
        <a:srgbClr val="B668E4"/>
      </a:hlink>
      <a:folHlink>
        <a:srgbClr val="7E83FA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482</Words>
  <Application>Microsoft Office PowerPoint</Application>
  <PresentationFormat>Широкоэкранный</PresentationFormat>
  <Paragraphs>68</Paragraphs>
  <Slides>5</Slides>
  <Notes>2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11" baseType="lpstr">
      <vt:lpstr>Aeonik Pro TRIAL</vt:lpstr>
      <vt:lpstr>Arial</vt:lpstr>
      <vt:lpstr>Calibri</vt:lpstr>
      <vt:lpstr>Wingdings</vt:lpstr>
      <vt:lpstr>Тема Office</vt:lpstr>
      <vt:lpstr>Слайд think-cell</vt:lpstr>
      <vt:lpstr>Презентация PowerPoint</vt:lpstr>
      <vt:lpstr>Пример оформления текста</vt:lpstr>
      <vt:lpstr>Пример оформления таблиц и диаграмм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Зайцев Павел Юрьевич</dc:creator>
  <cp:lastModifiedBy>Кузнецов Виктор Евгеньевич</cp:lastModifiedBy>
  <cp:revision>9</cp:revision>
  <dcterms:created xsi:type="dcterms:W3CDTF">2024-06-03T08:05:05Z</dcterms:created>
  <dcterms:modified xsi:type="dcterms:W3CDTF">2026-07-20T07:52:25Z</dcterms:modified>
</cp:coreProperties>
</file>