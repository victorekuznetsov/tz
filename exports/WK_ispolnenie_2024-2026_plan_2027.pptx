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2962.409562</c:v>
                </c:pt>
                <c:pt idx="1">
                  <c:v>3583.138297</c:v>
                </c:pt>
                <c:pt idx="2">
                  <c:v>3961.827551</c:v>
                </c:pt>
                <c:pt idx="3">
                  <c:v>2783.124928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2779.13274</c:v>
                </c:pt>
                <c:pt idx="1">
                  <c:v>3744.168978</c:v>
                </c:pt>
                <c:pt idx="2">
                  <c:v>2133.723951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37.246857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2779.653655</c:v>
                </c:pt>
                <c:pt idx="2">
                  <c:v>2716.059001</c:v>
                </c:pt>
                <c:pt idx="3">
                  <c:v>1941.321306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2840.780119</c:v>
                </c:pt>
                <c:pt idx="2">
                  <c:v>1541.53386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79.9913128999997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592.89815</c:v>
                </c:pt>
                <c:pt idx="1">
                  <c:v>548.036576</c:v>
                </c:pt>
                <c:pt idx="2">
                  <c:v>869.265613</c:v>
                </c:pt>
                <c:pt idx="3">
                  <c:v>635.394998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541.516545</c:v>
                </c:pt>
                <c:pt idx="1">
                  <c:v>667.44976</c:v>
                </c:pt>
                <c:pt idx="2">
                  <c:v>363.833991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5.733423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318.71395</c:v>
                </c:pt>
                <c:pt idx="1">
                  <c:v>255.448066</c:v>
                </c:pt>
                <c:pt idx="2">
                  <c:v>376.502937</c:v>
                </c:pt>
                <c:pt idx="3">
                  <c:v>206.408624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270.910877</c:v>
                </c:pt>
                <c:pt idx="1">
                  <c:v>235.939099</c:v>
                </c:pt>
                <c:pt idx="2">
                  <c:v>228.3561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4.2734656599999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1882.158981</c:v>
                </c:pt>
                <c:pt idx="1">
                  <c:v>3050.543603</c:v>
                </c:pt>
                <c:pt idx="2">
                  <c:v>1171.038653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903.355888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174.495268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604.04894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1119.242219</c:v>
                </c:pt>
                <c:pt idx="3">
                  <c:v>2627.961875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833.803128</c:v>
                </c:pt>
                <c:pt idx="1">
                  <c:v>189.657707</c:v>
                </c:pt>
                <c:pt idx="2">
                  <c:v>147.577818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752.67908</c:v>
                </c:pt>
                <c:pt idx="1">
                  <c:v>101.669599</c:v>
                </c:pt>
                <c:pt idx="2">
                  <c:v>49.007209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29.94324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407.872616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857.028402</c:v>
                </c:pt>
                <c:pt idx="1">
                  <c:v>140.122451</c:v>
                </c:pt>
                <c:pt idx="2">
                  <c:v>122.091366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692.797095</c:v>
                </c:pt>
                <c:pt idx="1">
                  <c:v>676.727658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1080.704391</c:v>
                </c:pt>
                <c:pt idx="1">
                  <c:v>1052.160021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823.16863</c:v>
                </c:pt>
                <c:pt idx="1">
                  <c:v>348.773855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1244.425378</c:v>
                </c:pt>
                <c:pt idx="1">
                  <c:v>660.557405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384.348565</c:v>
                </c:pt>
                <c:pt idx="2">
                  <c:v>324.4751</c:v>
                </c:pt>
                <c:pt idx="3">
                  <c:v>270.910877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208.478434</c:v>
                </c:pt>
                <c:pt idx="8">
                  <c:v>230.535031</c:v>
                </c:pt>
                <c:pt idx="9">
                  <c:v>213.445094</c:v>
                </c:pt>
                <c:pt idx="10">
                  <c:v>45.78421</c:v>
                </c:pt>
                <c:pt idx="11">
                  <c:v>26.145609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2.636993</c:v>
                </c:pt>
                <c:pt idx="20">
                  <c:v>9.73163</c:v>
                </c:pt>
                <c:pt idx="21">
                  <c:v>0.0</c:v>
                </c:pt>
                <c:pt idx="22">
                  <c:v>4.716427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369.171874</c:v>
                </c:pt>
                <c:pt idx="2">
                  <c:v>398.33647</c:v>
                </c:pt>
                <c:pt idx="3">
                  <c:v>206.048997</c:v>
                </c:pt>
                <c:pt idx="4">
                  <c:v>110.435758</c:v>
                </c:pt>
                <c:pt idx="5">
                  <c:v>157.189047</c:v>
                </c:pt>
                <c:pt idx="6">
                  <c:v>210.984492</c:v>
                </c:pt>
                <c:pt idx="7">
                  <c:v>196.693004</c:v>
                </c:pt>
                <c:pt idx="8">
                  <c:v>108.426011</c:v>
                </c:pt>
                <c:pt idx="9">
                  <c:v>143.062223</c:v>
                </c:pt>
                <c:pt idx="10">
                  <c:v>130.023038</c:v>
                </c:pt>
                <c:pt idx="11">
                  <c:v>135.583947</c:v>
                </c:pt>
                <c:pt idx="12">
                  <c:v>137.436237</c:v>
                </c:pt>
                <c:pt idx="13">
                  <c:v>54.612137</c:v>
                </c:pt>
                <c:pt idx="14">
                  <c:v>114.473052</c:v>
                </c:pt>
                <c:pt idx="15">
                  <c:v>94.42685</c:v>
                </c:pt>
                <c:pt idx="16">
                  <c:v>80.342557</c:v>
                </c:pt>
                <c:pt idx="17">
                  <c:v>73.088286</c:v>
                </c:pt>
                <c:pt idx="18">
                  <c:v>34.768215</c:v>
                </c:pt>
                <c:pt idx="19">
                  <c:v>49.136547</c:v>
                </c:pt>
                <c:pt idx="20">
                  <c:v>38.358245</c:v>
                </c:pt>
                <c:pt idx="21">
                  <c:v>29.890102</c:v>
                </c:pt>
                <c:pt idx="22">
                  <c:v>36.711788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9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69.724631</c:v>
                </c:pt>
                <c:pt idx="2">
                  <c:v>69.223114</c:v>
                </c:pt>
                <c:pt idx="3">
                  <c:v>172.439607</c:v>
                </c:pt>
                <c:pt idx="4">
                  <c:v>340.843596</c:v>
                </c:pt>
                <c:pt idx="5">
                  <c:v>197.489287</c:v>
                </c:pt>
                <c:pt idx="6">
                  <c:v>127.09378</c:v>
                </c:pt>
                <c:pt idx="7">
                  <c:v>35.362358</c:v>
                </c:pt>
                <c:pt idx="8">
                  <c:v>98.219382</c:v>
                </c:pt>
                <c:pt idx="9">
                  <c:v>44.657801</c:v>
                </c:pt>
                <c:pt idx="10">
                  <c:v>75.103244</c:v>
                </c:pt>
                <c:pt idx="11">
                  <c:v>87.762315</c:v>
                </c:pt>
                <c:pt idx="12">
                  <c:v>49.058012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44.391808</c:v>
                </c:pt>
                <c:pt idx="19">
                  <c:v>35.878295</c:v>
                </c:pt>
                <c:pt idx="20">
                  <c:v>39.21913</c:v>
                </c:pt>
                <c:pt idx="21">
                  <c:v>55.916493</c:v>
                </c:pt>
                <c:pt idx="22">
                  <c:v>38.928385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1782.25688</c:v>
                </c:pt>
                <c:pt idx="1">
                  <c:v>635.394998</c:v>
                </c:pt>
                <c:pt idx="2">
                  <c:v>210.309997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420.881242</c:v>
                </c:pt>
                <c:pt idx="1">
                  <c:v>302.923765</c:v>
                </c:pt>
                <c:pt idx="2">
                  <c:v>251.586884</c:v>
                </c:pt>
                <c:pt idx="3">
                  <c:v>191.340502</c:v>
                </c:pt>
                <c:pt idx="4">
                  <c:v>183.873158</c:v>
                </c:pt>
                <c:pt idx="5">
                  <c:v>168.119024</c:v>
                </c:pt>
                <c:pt idx="6">
                  <c:v>130.029979</c:v>
                </c:pt>
                <c:pt idx="7">
                  <c:v>118.179302</c:v>
                </c:pt>
                <c:pt idx="8">
                  <c:v>111.176837</c:v>
                </c:pt>
                <c:pt idx="9">
                  <c:v>102.717377</c:v>
                </c:pt>
                <c:pt idx="10">
                  <c:v>95.349728</c:v>
                </c:pt>
                <c:pt idx="11">
                  <c:v>88.229322</c:v>
                </c:pt>
                <c:pt idx="12">
                  <c:v>79.020081</c:v>
                </c:pt>
                <c:pt idx="13">
                  <c:v>72.174312</c:v>
                </c:pt>
                <c:pt idx="14">
                  <c:v>72.327413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22.767446</c:v>
                </c:pt>
                <c:pt idx="23">
                  <c:v>22.221334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40.260009</c:v>
                </c:pt>
                <c:pt idx="8">
                  <c:v>45.287079</c:v>
                </c:pt>
                <c:pt idx="9">
                  <c:v>46.306918</c:v>
                </c:pt>
                <c:pt idx="10">
                  <c:v>41.258149</c:v>
                </c:pt>
                <c:pt idx="11">
                  <c:v>39.524011</c:v>
                </c:pt>
                <c:pt idx="12">
                  <c:v>41.741473</c:v>
                </c:pt>
                <c:pt idx="13">
                  <c:v>46.306918</c:v>
                </c:pt>
                <c:pt idx="14">
                  <c:v>41.087623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45.950967</c:v>
                </c:pt>
                <c:pt idx="23">
                  <c:v>41.087623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992.47949845</c:v>
                </c:pt>
                <c:pt idx="1">
                  <c:v>698.59773512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4.14444384</c:v>
                </c:pt>
                <c:pt idx="1">
                  <c:v>318.98647835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21.97458034</c:v>
                </c:pt>
                <c:pt idx="1">
                  <c:v>233.78009713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37.788309229999996</c:v>
                </c:pt>
                <c:pt idx="1">
                  <c:v>179.5099544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9.700972130000002</c:v>
                </c:pt>
                <c:pt idx="1">
                  <c:v>499.973463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657.6316298300001</c:v>
                </c:pt>
                <c:pt idx="1">
                  <c:v>623.3980975600001</c:v>
                </c:pt>
                <c:pt idx="2">
                  <c:v>293.77160132</c:v>
                </c:pt>
                <c:pt idx="3">
                  <c:v>56.1560907</c:v>
                </c:pt>
                <c:pt idx="4">
                  <c:v>41.076267310000006</c:v>
                </c:pt>
                <c:pt idx="5">
                  <c:v>19.04354688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0.139801</c:v>
                </c:pt>
                <c:pt idx="1">
                  <c:v>285.8004125499999</c:v>
                </c:pt>
                <c:pt idx="2">
                  <c:v>2.10952348</c:v>
                </c:pt>
                <c:pt idx="3">
                  <c:v>6.17265967</c:v>
                </c:pt>
                <c:pt idx="4">
                  <c:v>1.8951193599999998</c:v>
                </c:pt>
                <c:pt idx="5">
                  <c:v>27.01340612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0.3880045</c:v>
                </c:pt>
                <c:pt idx="1">
                  <c:v>215.11712185</c:v>
                </c:pt>
                <c:pt idx="2">
                  <c:v>11.279626519999999</c:v>
                </c:pt>
                <c:pt idx="3">
                  <c:v>0.86971833</c:v>
                </c:pt>
                <c:pt idx="4">
                  <c:v>6.37498577</c:v>
                </c:pt>
                <c:pt idx="5">
                  <c:v>17.79325695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1.277987</c:v>
                </c:pt>
                <c:pt idx="1">
                  <c:v>86.00004705999999</c:v>
                </c:pt>
                <c:pt idx="2">
                  <c:v>27.03978066</c:v>
                </c:pt>
                <c:pt idx="3">
                  <c:v>6.792037</c:v>
                </c:pt>
                <c:pt idx="4">
                  <c:v>9.47054157</c:v>
                </c:pt>
                <c:pt idx="5">
                  <c:v>86.71787035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1.32644367</c:v>
                </c:pt>
                <c:pt idx="1">
                  <c:v>458.82664797999996</c:v>
                </c:pt>
                <c:pt idx="2">
                  <c:v>12.306492030000005</c:v>
                </c:pt>
                <c:pt idx="3">
                  <c:v>24.9154333</c:v>
                </c:pt>
                <c:pt idx="4">
                  <c:v>0.0</c:v>
                </c:pt>
                <c:pt idx="5">
                  <c:v>16.231381700000018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4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36.416672</c:v>
                </c:pt>
                <c:pt idx="1">
                  <c:v>12.62642075</c:v>
                </c:pt>
                <c:pt idx="2">
                  <c:v>161.24822037</c:v>
                </c:pt>
                <c:pt idx="3">
                  <c:v>52.66069941</c:v>
                </c:pt>
                <c:pt idx="4">
                  <c:v>4.216297</c:v>
                </c:pt>
                <c:pt idx="5">
                  <c:v>16.68460838</c:v>
                </c:pt>
                <c:pt idx="6">
                  <c:v>53.39418503</c:v>
                </c:pt>
                <c:pt idx="7">
                  <c:v>2.3589385</c:v>
                </c:pt>
                <c:pt idx="8">
                  <c:v>6.7138255</c:v>
                </c:pt>
                <c:pt idx="9">
                  <c:v>141.067335</c:v>
                </c:pt>
                <c:pt idx="10">
                  <c:v>6.96065</c:v>
                </c:pt>
                <c:pt idx="11">
                  <c:v>24.202339</c:v>
                </c:pt>
                <c:pt idx="12">
                  <c:v>18.273345</c:v>
                </c:pt>
                <c:pt idx="13">
                  <c:v>62.30597978</c:v>
                </c:pt>
                <c:pt idx="14">
                  <c:v>7.028046560000001</c:v>
                </c:pt>
                <c:pt idx="15">
                  <c:v>15.66237733</c:v>
                </c:pt>
                <c:pt idx="16">
                  <c:v>7.7479057000000005</c:v>
                </c:pt>
                <c:pt idx="17">
                  <c:v>2.34527</c:v>
                </c:pt>
                <c:pt idx="18">
                  <c:v>7.620937</c:v>
                </c:pt>
                <c:pt idx="19">
                  <c:v>18.27643483</c:v>
                </c:pt>
                <c:pt idx="20">
                  <c:v>17.76913</c:v>
                </c:pt>
                <c:pt idx="21">
                  <c:v>6.796686</c:v>
                </c:pt>
                <c:pt idx="22">
                  <c:v>6.151829</c:v>
                </c:pt>
                <c:pt idx="23">
                  <c:v>10.069603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26.59907928</c:v>
                </c:pt>
                <c:pt idx="1">
                  <c:v>22.836861</c:v>
                </c:pt>
                <c:pt idx="2">
                  <c:v>55.412386</c:v>
                </c:pt>
                <c:pt idx="3">
                  <c:v>28.66516595</c:v>
                </c:pt>
                <c:pt idx="4">
                  <c:v>5.910438</c:v>
                </c:pt>
                <c:pt idx="5">
                  <c:v>11.267097620000001</c:v>
                </c:pt>
                <c:pt idx="6">
                  <c:v>2.71206539</c:v>
                </c:pt>
                <c:pt idx="7">
                  <c:v>15.7463085</c:v>
                </c:pt>
                <c:pt idx="8">
                  <c:v>15.198666</c:v>
                </c:pt>
                <c:pt idx="9">
                  <c:v>44.71711412</c:v>
                </c:pt>
                <c:pt idx="10">
                  <c:v>13.413982879999999</c:v>
                </c:pt>
                <c:pt idx="11">
                  <c:v>12.6705375</c:v>
                </c:pt>
                <c:pt idx="12">
                  <c:v>15.367986</c:v>
                </c:pt>
                <c:pt idx="13">
                  <c:v>15.15308243</c:v>
                </c:pt>
                <c:pt idx="14">
                  <c:v>13.253677</c:v>
                </c:pt>
                <c:pt idx="15">
                  <c:v>3.59807</c:v>
                </c:pt>
                <c:pt idx="16">
                  <c:v>3.1314806699999997</c:v>
                </c:pt>
                <c:pt idx="17">
                  <c:v>6.570881</c:v>
                </c:pt>
                <c:pt idx="18">
                  <c:v>2.346471</c:v>
                </c:pt>
                <c:pt idx="19">
                  <c:v>3.72042</c:v>
                </c:pt>
                <c:pt idx="20">
                  <c:v>0.173677</c:v>
                </c:pt>
                <c:pt idx="21">
                  <c:v>0.173677</c:v>
                </c:pt>
                <c:pt idx="22">
                  <c:v>0.173677</c:v>
                </c:pt>
                <c:pt idx="23">
                  <c:v>0.173677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61.7282815</c:v>
                </c:pt>
                <c:pt idx="1">
                  <c:v>47.60332775</c:v>
                </c:pt>
                <c:pt idx="2">
                  <c:v>9.6510935</c:v>
                </c:pt>
                <c:pt idx="3">
                  <c:v>61.381305</c:v>
                </c:pt>
                <c:pt idx="4">
                  <c:v>2.876969</c:v>
                </c:pt>
                <c:pt idx="5">
                  <c:v>14.2700383</c:v>
                </c:pt>
                <c:pt idx="6">
                  <c:v>5.09249</c:v>
                </c:pt>
                <c:pt idx="7">
                  <c:v>3.52321865</c:v>
                </c:pt>
                <c:pt idx="8">
                  <c:v>3.2023555</c:v>
                </c:pt>
                <c:pt idx="9">
                  <c:v>6.202015</c:v>
                </c:pt>
                <c:pt idx="10">
                  <c:v>2.628966</c:v>
                </c:pt>
                <c:pt idx="11">
                  <c:v>7.699785060000001</c:v>
                </c:pt>
                <c:pt idx="12">
                  <c:v>0.7900954299999999</c:v>
                </c:pt>
                <c:pt idx="13">
                  <c:v>2.326416</c:v>
                </c:pt>
                <c:pt idx="14">
                  <c:v>1.35310244</c:v>
                </c:pt>
                <c:pt idx="15">
                  <c:v>0.994784</c:v>
                </c:pt>
                <c:pt idx="16">
                  <c:v>0.23044033000000003</c:v>
                </c:pt>
                <c:pt idx="17">
                  <c:v>0.0</c:v>
                </c:pt>
                <c:pt idx="18">
                  <c:v>0.291924</c:v>
                </c:pt>
                <c:pt idx="19">
                  <c:v>1.58613567</c:v>
                </c:pt>
                <c:pt idx="20">
                  <c:v>0.173677</c:v>
                </c:pt>
                <c:pt idx="21">
                  <c:v>0.0</c:v>
                </c:pt>
                <c:pt idx="22">
                  <c:v>0.0</c:v>
                </c:pt>
                <c:pt idx="23">
                  <c:v>0.173677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2.801175</c:v>
                </c:pt>
                <c:pt idx="1">
                  <c:v>5.02778975</c:v>
                </c:pt>
                <c:pt idx="2">
                  <c:v>3.14412283</c:v>
                </c:pt>
                <c:pt idx="3">
                  <c:v>5.52138416</c:v>
                </c:pt>
                <c:pt idx="4">
                  <c:v>0.0</c:v>
                </c:pt>
                <c:pt idx="5">
                  <c:v>62.82927275</c:v>
                </c:pt>
                <c:pt idx="6">
                  <c:v>30.51108337</c:v>
                </c:pt>
                <c:pt idx="7">
                  <c:v>23.8885976</c:v>
                </c:pt>
                <c:pt idx="8">
                  <c:v>4.532346</c:v>
                </c:pt>
                <c:pt idx="9">
                  <c:v>5.60393938</c:v>
                </c:pt>
                <c:pt idx="10">
                  <c:v>5.16468212</c:v>
                </c:pt>
                <c:pt idx="11">
                  <c:v>3.087856</c:v>
                </c:pt>
                <c:pt idx="12">
                  <c:v>3.130511</c:v>
                </c:pt>
                <c:pt idx="13">
                  <c:v>3.4550891100000003</c:v>
                </c:pt>
                <c:pt idx="14">
                  <c:v>4.93189</c:v>
                </c:pt>
                <c:pt idx="15">
                  <c:v>6.56362267</c:v>
                </c:pt>
                <c:pt idx="16">
                  <c:v>3.7111158</c:v>
                </c:pt>
                <c:pt idx="17">
                  <c:v>0.0</c:v>
                </c:pt>
                <c:pt idx="18">
                  <c:v>3.0809212</c:v>
                </c:pt>
                <c:pt idx="19">
                  <c:v>2.52455567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№15 · Красноярск</c:v>
                </c:pt>
                <c:pt idx="4">
                  <c:v>WK-35 №18 · Красноярск</c:v>
                </c:pt>
                <c:pt idx="5">
                  <c:v>WK-20 №1220 · Сухой Лог</c:v>
                </c:pt>
                <c:pt idx="6">
                  <c:v>WK-20 №8 · Красноярск</c:v>
                </c:pt>
                <c:pt idx="7">
                  <c:v>WK-20C №1221 · Сухой Лог</c:v>
                </c:pt>
                <c:pt idx="8">
                  <c:v>WK-35 №12 · Красноярск</c:v>
                </c:pt>
                <c:pt idx="9">
                  <c:v>WK-35 №06 · Красноярск</c:v>
                </c:pt>
                <c:pt idx="10">
                  <c:v>WK-35 №05 · Красноярск</c:v>
                </c:pt>
                <c:pt idx="11">
                  <c:v>WK-35 №10 · Красноярск</c:v>
                </c:pt>
                <c:pt idx="12">
                  <c:v>WK-35 №11 · Красноярск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WK-20 №02 · Красноярск</c:v>
                </c:pt>
                <c:pt idx="16">
                  <c:v>WK-20 №1 · Магадан</c:v>
                </c:pt>
                <c:pt idx="17">
                  <c:v>WK-35 №13 · Красноярск</c:v>
                </c:pt>
                <c:pt idx="18">
                  <c:v>WK-20 №2 · Магадан</c:v>
                </c:pt>
                <c:pt idx="19">
                  <c:v>WK-20 №03 · Красноярск</c:v>
                </c:pt>
                <c:pt idx="20">
                  <c:v>WK-20C №3 · Магадан</c:v>
                </c:pt>
                <c:pt idx="21">
                  <c:v>WK-20C №6 · Магадан</c:v>
                </c:pt>
                <c:pt idx="22">
                  <c:v>WK-20C №5 · Магадан</c:v>
                </c:pt>
                <c:pt idx="23">
                  <c:v>WK-20C №4 · Магадан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56.96462522</c:v>
                </c:pt>
                <c:pt idx="1">
                  <c:v>68.81137775</c:v>
                </c:pt>
                <c:pt idx="2">
                  <c:v>98.8767483</c:v>
                </c:pt>
                <c:pt idx="3">
                  <c:v>25.54975748</c:v>
                </c:pt>
                <c:pt idx="4">
                  <c:v>88.168873</c:v>
                </c:pt>
                <c:pt idx="5">
                  <c:v>5.651712950000003</c:v>
                </c:pt>
                <c:pt idx="6">
                  <c:v>31.621012209999996</c:v>
                </c:pt>
                <c:pt idx="7">
                  <c:v>10.57966875</c:v>
                </c:pt>
                <c:pt idx="8">
                  <c:v>18.899755</c:v>
                </c:pt>
                <c:pt idx="9">
                  <c:v>9.0511035</c:v>
                </c:pt>
                <c:pt idx="10">
                  <c:v>11.466518</c:v>
                </c:pt>
                <c:pt idx="11">
                  <c:v>7.91825144</c:v>
                </c:pt>
                <c:pt idx="12">
                  <c:v>14.24680157</c:v>
                </c:pt>
                <c:pt idx="13">
                  <c:v>9.49147868</c:v>
                </c:pt>
                <c:pt idx="14">
                  <c:v>6.545769</c:v>
                </c:pt>
                <c:pt idx="15">
                  <c:v>1.540386</c:v>
                </c:pt>
                <c:pt idx="16">
                  <c:v>4.4076785</c:v>
                </c:pt>
                <c:pt idx="17">
                  <c:v>7.568487</c:v>
                </c:pt>
                <c:pt idx="18">
                  <c:v>3.6383438</c:v>
                </c:pt>
                <c:pt idx="19">
                  <c:v>2.10570383</c:v>
                </c:pt>
                <c:pt idx="20">
                  <c:v>4.576465</c:v>
                </c:pt>
                <c:pt idx="21">
                  <c:v>4.553956</c:v>
                </c:pt>
                <c:pt idx="22">
                  <c:v>4.471902</c:v>
                </c:pt>
                <c:pt idx="23">
                  <c:v>3.267088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298.03718496</c:v>
                </c:pt>
                <c:pt idx="1">
                  <c:v>399.87713717</c:v>
                </c:pt>
                <c:pt idx="2">
                  <c:v>0.683413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95.85592770999999</c:v>
                </c:pt>
                <c:pt idx="1">
                  <c:v>223.13055064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192.56805085</c:v>
                </c:pt>
                <c:pt idx="1">
                  <c:v>41.21204628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покрыто, есть на другой площадке*</c:v>
                </c:pt>
              </c:strCache>
            </c:strRef>
          </c:tx>
          <c:spPr>
            <a:solidFill>
              <a:srgbClr val="F2B8BD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34.29087171</c:v>
                </c:pt>
                <c:pt idx="1">
                  <c:v>145.21908269</c:v>
                </c:pt>
                <c:pt idx="2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44.620533779999995</c:v>
                </c:pt>
                <c:pt idx="1">
                  <c:v>374.21427922000004</c:v>
                </c:pt>
                <c:pt idx="2">
                  <c:v>81.13865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Красноярск · ПЛ ОХ КарьерОГОК · 7101</c:v>
                </c:pt>
                <c:pt idx="1">
                  <c:v>Красноярск · ПЛ ОХ КарьерОГОК · 1100</c:v>
                </c:pt>
                <c:pt idx="2">
                  <c:v>Красноярск · Стройматериалы · 7106 (ПБ)</c:v>
                </c:pt>
                <c:pt idx="3">
                  <c:v>Красноярск · Бывш. Вост. Техн · 1100</c:v>
                </c:pt>
                <c:pt idx="4">
                  <c:v>Магадан · ЗТК НаполХранУл · 7104</c:v>
                </c:pt>
                <c:pt idx="5">
                  <c:v>Магадан · Склад МТР · 7104</c:v>
                </c:pt>
                <c:pt idx="6">
                  <c:v>Магадан · Склад МТР · 1400</c:v>
                </c:pt>
                <c:pt idx="7">
                  <c:v>Магадан · ЗТК НаполХранУл · 1400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976.6489486000011</c:v>
                </c:pt>
                <c:pt idx="1">
                  <c:v>496.69226209000027</c:v>
                </c:pt>
                <c:pt idx="2">
                  <c:v>219.53054810999996</c:v>
                </c:pt>
                <c:pt idx="3">
                  <c:v>212.13395890000004</c:v>
                </c:pt>
                <c:pt idx="4">
                  <c:v>181.54301720000004</c:v>
                </c:pt>
                <c:pt idx="5">
                  <c:v>171.51889129999992</c:v>
                </c:pt>
                <c:pt idx="6">
                  <c:v>162.21455621000007</c:v>
                </c:pt>
                <c:pt idx="7">
                  <c:v>147.78517108999995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План, млн 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C3C8CE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ППР без заказа · 770</c:v>
                </c:pt>
                <c:pt idx="1">
                  <c:v>ПЛАН · 63</c:v>
                </c:pt>
                <c:pt idx="2">
                  <c:v>СГПЛ · 1</c:v>
                </c:pt>
                <c:pt idx="3">
                  <c:v>ССПЛ · 2</c:v>
                </c:pt>
                <c:pt idx="4">
                  <c:v>СГГС · 498</c:v>
                </c:pt>
                <c:pt idx="5">
                  <c:v>Деблокирован · 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1175.416361</c:v>
                </c:pt>
                <c:pt idx="1">
                  <c:v>453.842129</c:v>
                </c:pt>
                <c:pt idx="2">
                  <c:v>21.076172</c:v>
                </c:pt>
                <c:pt idx="3">
                  <c:v>30.906625</c:v>
                </c:pt>
                <c:pt idx="4">
                  <c:v>2113.730716</c:v>
                </c:pt>
                <c:pt idx="5">
                  <c:v>163.569286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Есть статус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0.8562738613348386</c:v>
                </c:pt>
                <c:pt idx="1">
                  <c:v>0.8555627845297162</c:v>
                </c:pt>
                <c:pt idx="2">
                  <c:v>0</c:v>
                </c:pt>
                <c:pt idx="3">
                  <c:v>0</c:v>
                </c:pt>
                <c:pt idx="4">
                  <c:v>0.0017255709209671236</c:v>
                </c:pt>
                <c:pt idx="5">
                  <c:v>0.6628763524187425</c:v>
                </c:pt>
                <c:pt idx="6">
                  <c:v>0.6467744280379889</c:v>
                </c:pt>
                <c:pt idx="7">
                  <c:v>0.007818175034637843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Нет статуса</c:v>
                </c:pt>
              </c:strCache>
            </c:strRef>
          </c:tx>
          <c:spPr>
            <a:solidFill>
              <a:srgbClr val="E5E7EA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1">
                    <a:solidFill>
                      <a:srgbClr val="5B6167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ГОД (год)</c:v>
                </c:pt>
                <c:pt idx="1">
                  <c:v>ПТОГ (год)</c:v>
                </c:pt>
                <c:pt idx="2">
                  <c:v>ГИП (год)</c:v>
                </c:pt>
                <c:pt idx="3">
                  <c:v>УТВГ (год)</c:v>
                </c:pt>
                <c:pt idx="4">
                  <c:v>УТВП (год)</c:v>
                </c:pt>
                <c:pt idx="5">
                  <c:v>МЕС (≤31 дн.)</c:v>
                </c:pt>
                <c:pt idx="6">
                  <c:v>УТВМ (≤31 дн.)</c:v>
                </c:pt>
                <c:pt idx="7">
                  <c:v>НЕД (≤31 дн.)</c:v>
                </c:pt>
                <c:pt idx="8">
                  <c:v>УТВН (≤31 дн.)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0.14372613866516137</c:v>
                </c:pt>
                <c:pt idx="1">
                  <c:v>0.14443721547028376</c:v>
                </c:pt>
                <c:pt idx="2">
                  <c:v>1</c:v>
                </c:pt>
                <c:pt idx="3">
                  <c:v>1</c:v>
                </c:pt>
                <c:pt idx="4">
                  <c:v>0.9982744290790329</c:v>
                </c:pt>
                <c:pt idx="5">
                  <c:v>0.33712364758125746</c:v>
                </c:pt>
                <c:pt idx="6">
                  <c:v>0.3532255719620111</c:v>
                </c:pt>
                <c:pt idx="7">
                  <c:v>0.9921818249653621</c:v>
                </c:pt>
                <c:pt idx="8">
                  <c:v>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5566C9"/>
              </a:solidFill>
            </c:spPr>
          </c:dPt>
          <c:dPt>
            <c:idx val="1"/>
            <c:spPr>
              <a:solidFill>
                <a:srgbClr val="5566C9"/>
              </a:solidFill>
            </c:spPr>
          </c:dPt>
          <c:dPt>
            <c:idx val="2"/>
            <c:spPr>
              <a:solidFill>
                <a:srgbClr val="E0A030"/>
              </a:solidFill>
            </c:spPr>
          </c:dPt>
          <c:dPt>
            <c:idx val="3"/>
            <c:spPr>
              <a:solidFill>
                <a:srgbClr val="7FD8B4"/>
              </a:solidFill>
            </c:spPr>
          </c:dPt>
          <c:dPt>
            <c:idx val="4"/>
            <c:spPr>
              <a:solidFill>
                <a:srgbClr val="7FD8B4"/>
              </a:solidFill>
            </c:spPr>
          </c:dPt>
          <c:dPt>
            <c:idx val="5"/>
            <c:spPr>
              <a:solidFill>
                <a:srgbClr val="12A06E"/>
              </a:solidFill>
            </c:spPr>
          </c:dPt>
          <c:dPt>
            <c:idx val="6"/>
            <c:spPr>
              <a:solidFill>
                <a:srgbClr val="12A06E"/>
              </a:solidFill>
            </c:spPr>
          </c:dPt>
          <c:dPt>
            <c:idx val="7"/>
            <c:spPr>
              <a:solidFill>
                <a:srgbClr val="12A06E"/>
              </a:solidFill>
            </c:spPr>
          </c:dPt>
          <c:dPt>
            <c:idx val="8"/>
            <c:spPr>
              <a:solidFill>
                <a:srgbClr val="12A06E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Открыт, на согласовании · 213</c:v>
                </c:pt>
                <c:pt idx="1">
                  <c:v>Открыт, согласован (СГГС) · 308</c:v>
                </c:pt>
                <c:pt idx="2">
                  <c:v>Деблокирован, без факта · 111</c:v>
                </c:pt>
                <c:pt idx="3">
                  <c:v>В работе · 17</c:v>
                </c:pt>
                <c:pt idx="4">
                  <c:v>Факт проведён (ФХСМ) · 99</c:v>
                </c:pt>
                <c:pt idx="5">
                  <c:v>Тех. закрыт (ТЗКР) · 69</c:v>
                </c:pt>
                <c:pt idx="6">
                  <c:v>Принят СЗ (ПРСЗ) · 137</c:v>
                </c:pt>
                <c:pt idx="7">
                  <c:v>Выставлен в БЕ (ВСБЕ) · 533</c:v>
                </c:pt>
                <c:pt idx="8">
                  <c:v>Закрыт (ЗАКР) · 1 304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503.334325</c:v>
                </c:pt>
                <c:pt idx="1">
                  <c:v>610.658105</c:v>
                </c:pt>
                <c:pt idx="2">
                  <c:v>601.180719</c:v>
                </c:pt>
                <c:pt idx="3">
                  <c:v>145.971482</c:v>
                </c:pt>
                <c:pt idx="4">
                  <c:v>28.523786</c:v>
                </c:pt>
                <c:pt idx="5">
                  <c:v>38.142971</c:v>
                </c:pt>
                <c:pt idx="6">
                  <c:v>135.468818</c:v>
                </c:pt>
                <c:pt idx="7">
                  <c:v>729.313955</c:v>
                </c:pt>
                <c:pt idx="8">
                  <c:v>1169.23339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нарастающим</c:v>
                </c:pt>
              </c:strCache>
            </c:strRef>
          </c:tx>
          <c:spPr>
            <a:ln w="34925">
              <a:solidFill>
                <a:srgbClr val="C3C8C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251.446284</c:v>
                </c:pt>
                <c:pt idx="1">
                  <c:v>502.929738</c:v>
                </c:pt>
                <c:pt idx="2">
                  <c:v>765.304704</c:v>
                </c:pt>
                <c:pt idx="3">
                  <c:v>1071.858559</c:v>
                </c:pt>
                <c:pt idx="4">
                  <c:v>1587.373752</c:v>
                </c:pt>
                <c:pt idx="5">
                  <c:v>1836.908608</c:v>
                </c:pt>
                <c:pt idx="6">
                  <c:v>2492.714179</c:v>
                </c:pt>
                <c:pt idx="7">
                  <c:v>2701.495243</c:v>
                </c:pt>
                <c:pt idx="8">
                  <c:v>3067.055218</c:v>
                </c:pt>
                <c:pt idx="9">
                  <c:v>3319.238854</c:v>
                </c:pt>
                <c:pt idx="10">
                  <c:v>3722.503794</c:v>
                </c:pt>
                <c:pt idx="11">
                  <c:v>3961.827551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нарастающим</c:v>
                </c:pt>
              </c:strCache>
            </c:strRef>
          </c:tx>
          <c:spPr>
            <a:ln w="3492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219.821788</c:v>
                </c:pt>
                <c:pt idx="1">
                  <c:v>459.35768</c:v>
                </c:pt>
                <c:pt idx="2">
                  <c:v>706.866143</c:v>
                </c:pt>
                <c:pt idx="3">
                  <c:v>1019.575299</c:v>
                </c:pt>
                <c:pt idx="4">
                  <c:v>1483.692839</c:v>
                </c:pt>
                <c:pt idx="5">
                  <c:v>1735.988317</c:v>
                </c:pt>
                <c:pt idx="6">
                  <c:v>2002.146274</c:v>
                </c:pt>
                <c:pt idx="7">
                  <c:v>2133.723951</c:v>
                </c:pt>
                <c:pt idx="8">
                  <c:v>2133.723951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МТР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2947.151371</c:v>
                </c:pt>
                <c:pt idx="1">
                  <c:v>3540.913398161753</c:v>
                </c:pt>
                <c:pt idx="2">
                  <c:v>3727.13577</c:v>
                </c:pt>
                <c:pt idx="3">
                  <c:v>2181.453464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2699.155842</c:v>
                </c:pt>
                <c:pt idx="1">
                  <c:v>3487.026684</c:v>
                </c:pt>
                <c:pt idx="2">
                  <c:v>1950.398776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План УСО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Факт УСО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85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0.009185390518930836</c:v>
                </c:pt>
                <c:pt idx="1">
                  <c:v>0.009185390518930836</c:v>
                </c:pt>
                <c:pt idx="2">
                  <c:v>0.7328099179163547</c:v>
                </c:pt>
                <c:pt idx="3">
                  <c:v>0.8176769572023115</c:v>
                </c:pt>
                <c:pt idx="4">
                  <c:v>0.46858442606082</c:v>
                </c:pt>
                <c:pt idx="5">
                  <c:v>0.10945128196419159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ТКБЕ</c:v>
                </c:pt>
                <c:pt idx="1">
                  <c:v>УТВП</c:v>
                </c:pt>
                <c:pt idx="2">
                  <c:v>СГЛБ</c:v>
                </c:pt>
                <c:pt idx="3">
                  <c:v>ПЗТГ</c:v>
                </c:pt>
                <c:pt idx="4">
                  <c:v>КОРБ</c:v>
                </c:pt>
                <c:pt idx="5">
                  <c:v>ТРКБ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0.0017255709209671236</c:v>
                </c:pt>
                <c:pt idx="2">
                  <c:v>0.3009816825591442</c:v>
                </c:pt>
                <c:pt idx="3">
                  <c:v>0.05759877895668879</c:v>
                </c:pt>
                <c:pt idx="4">
                  <c:v>0.03421350667018937</c:v>
                </c:pt>
                <c:pt idx="5">
                  <c:v>0</c:v>
                </c:pt>
              </c:numCache>
            </c:numRef>
          </c:val>
        </c:ser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Аналитика, Контроль отделов, Парк, График · план-факт, Обеспеченность, Запасы, Закупки, Кодификация, Взаимозаменяемость, Качество данных. Автовыводы и контроль отделов — тем же ядром расчётов, что вкладки отчёта.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48%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Площадка склада — по заводу строки выгрузки MM-M03: 11xx/7101/7106 — Красноярск, 14xx/7104 — Магадан, 12xx/24xx/7102/7108 — Сухой Лог (WK в Иркутской области работают только там, их заказы планирует завод 1200). Ограниченный запас вычтен на своём складе по его цене.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Перемещение запаса между площадками ограничено (логистика, согласование БЕ), поэтому в обеспеченность не входит. Здесь — верхняя оценка улучшения: сколько непокрытой к сроку потребности 2026–2027 мог бы закрыть запас другой площадки, оставшийся после её собственной потребности, млн ₽. Что из этого реально переместить, решает снабжение.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138 закрыто).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построен тем же ядром расчётов, что вкладки «Аналитика» и «Контроль отделов» интерактивного отчёта (lib/analytics_core.js): цифры слайдов совпадают с отчётом.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= условие с порогом (см. «Методика» отчёта). Например, «Темп текущего года» — критично, если освоение отстаёт от доли прошедшего года более чем на 15 п.п.; «Обеспеченность следующего года» — критично ниже 70 %.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Всего 25 выводов: 5 критичных, 9 — внимание, 5 — к сведению, 6 — норма. Ниже — критичные и крупнейшие по деньгам.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каждого правила для всего парка и для каждой площадки (фильтр «Площадка» отчёта).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ГОД — включён в годовой план, ПТОГ — согласован ПТО, ГИП — главным инженером, УТВГ — утверждён, УТВП — в программе и бюджете. МЕС/УТВМ, НЕД/УТВН — месячный и недельный план для заказов с началом в ближайшие 31 день.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— по статусам SAP на дату годовой выгрузки. Освоение наступивших работ — факт к плану заказов с базисным началом не позже 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111 заказов на 601 млн ₽ переданы в работу, но нет ни факта, ни подтверждений. Текст заказа — из выгрузки PM-06.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ТКБЕ — бюджет утверждён ТК БЕ; УТВП — в программе и бюджете (MCB); СГЛБ — согласован бюджетированием; ПЗТГ — прогноз завершения года; КОРБ — скорректирован; ТРКБ — нужна корректировка. План УСО в заказах заполнен не полностью — факт УСО прошлых лет выше плана.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Вкладка «Обновление данных»: новые выгрузки SAP BW пересобирают все витрины в браузере; файлы никуда не уходят.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цифра отчёта и презентации считается дважды и сверяется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2,78 из 2,96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3,74 из 3,58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2,13 из 3,96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2,78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913 млн ₽; 2026 — 93%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104%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604 млн ₽ деблокированы без факта, 1 119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№06, WK-35 №07 и ещё два — дали 48%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913 млн ₽; 1 184 млн ₽ закупка не видит до деблокирования. Перемещение между площадками ограничено: запасом других площадок можно улучшить ещё до 217 млн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1 382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2 797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52% плана · 2 791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МТР 2 181 · УСО 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1 798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604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111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1 119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1 740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6027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6523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3 715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591568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2064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3 027 млн ₽ · 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6490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39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из них 94%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602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528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69 млн ₽ · с перемещением* до 97%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913 млн ₽ · с перемещением* до 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511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11896" y="1124712"/>
          <a:ext cx="333755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5178"/>
                <a:gridCol w="497083"/>
                <a:gridCol w="497083"/>
                <a:gridCol w="568095"/>
                <a:gridCol w="710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83%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№07, WK-35 №15, WK-35 №18 — 538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 почти без своего запаса: обеспечено 39%; перемещением* можно улучшить ещё до 96 млн ₽.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561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82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1 545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27.11.2025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03.10.2025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19.10.2026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159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511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424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K1605.18.04.01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по площадкам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2,27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801 кодов · 65% запаса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1,08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459 кодов · 31% запаса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0,16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193 кодов · 5% запаса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ограничено 1,4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" y="2542032"/>
            <a:ext cx="603504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33472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30936" y="2953511"/>
          <a:ext cx="5852159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48855" y="2542032"/>
            <a:ext cx="4800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и потребность 2026–2027, млн ₽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48855" y="2907791"/>
          <a:ext cx="4800597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0878"/>
                <a:gridCol w="702526"/>
                <a:gridCol w="702526"/>
                <a:gridCol w="780585"/>
                <a:gridCol w="741556"/>
                <a:gridCol w="70252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Запас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Свой склад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2 274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2 330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1 281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1 076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848855" y="4690872"/>
            <a:ext cx="4800600" cy="1188720"/>
          </a:xfrm>
          <a:prstGeom prst="roundRect">
            <a:avLst>
              <a:gd name="adj" fmla="val 10769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Запас лежит не там, где работы.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Магадан держит 31% запаса при 15% потребности; Сухой Лог со своего склада закрывает 60 млн ₽ из 226.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Возможность перемещения между площадками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" y="594360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* Перемещение между площадками ограничено: в обеспеченность не входит, это возможность улучшения (запас другой площадки сверх её потребности).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5120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216151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Откуда → куда можно, млн 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" y="1627631"/>
          <a:ext cx="4754878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3628"/>
                <a:gridCol w="933994"/>
                <a:gridCol w="849085"/>
                <a:gridCol w="933994"/>
                <a:gridCol w="76417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всего из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83,8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30,6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всего в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87,3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33,8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96,2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217,3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" y="4325112"/>
            <a:ext cx="4754879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4416551"/>
            <a:ext cx="4389119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до 217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можно улучшить перемещением*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 обеспеченность не входит · 2027: 53% → до 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5" y="1124712"/>
            <a:ext cx="5715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позиции, которые есть на другой площадке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34455" y="1490472"/>
          <a:ext cx="5714998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4375"/>
                <a:gridCol w="2437279"/>
                <a:gridCol w="1933014"/>
                <a:gridCol w="63033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Маршрут, шт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498, СЛ → Красн.: 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28,1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1170659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Круг роликовый K1601.13.00,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переднее направляющее (натя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901765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Защита межзубьевая K1623.01.12,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869417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Клапан продувной в сборе SDU04A00H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1083952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K1602.03.10.03,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поворотный K1605.07.01.00,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310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 / 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5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528 млн ₽ из 602 — Магадан.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Автовыводы и контроль отделов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Схема автоматических выводов, выводы по площадкам, контроль планирования, исполнения и бюджетирования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Схема автоматических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Заказы PM-06: план, факт, сроки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556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Статусы SAP заказа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1636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Потребность, остатки, закупка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77705" y="1097280"/>
            <a:ext cx="2571750" cy="420624"/>
          </a:xfrm>
          <a:prstGeom prst="roundRect">
            <a:avLst>
              <a:gd name="adj" fmla="val 50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КТГ по бортам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536192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▼   источники → 5 групп проверок → 24 правила → вывод с цифрами-доказательствами   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Исполнение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Исполнение закрытых лет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2376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Просрочено закрытие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Хвосты прошлых лет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2376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Готовы к ТЗКР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98064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98064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Планирование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4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980944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Согласование текущего года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9504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80944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3824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Готовность плана следующего года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9504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80944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3824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Позиции ППР без заказа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9504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980944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63824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Начало прошло, не деблокирован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89504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80944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63824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Точность планирования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89504" y="462686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80944" y="4754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63824" y="462686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Внеплановые работы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89504" y="506577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980944" y="519379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63824" y="506577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МТР без цены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6632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56632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48072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39512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2392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48072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39512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22392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48072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39512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22392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Успеем, если заказать сейчас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48072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39512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2392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48072" y="4187952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39512" y="4315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22392" y="4187952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15200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Бюджет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06640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0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Перерасход по заказам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06640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98079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80960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Корректировки бюджета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06640" y="3310128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E3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98079" y="34381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0" y="3310128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Бюджет следующего года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06640" y="3749039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498079" y="387705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80960" y="3749039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73768" y="1865376"/>
            <a:ext cx="2075688" cy="3675887"/>
          </a:xfrm>
          <a:prstGeom prst="roundRect">
            <a:avLst>
              <a:gd name="adj" fmla="val 704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573768" y="1865376"/>
            <a:ext cx="2075688" cy="457200"/>
          </a:xfrm>
          <a:prstGeom prst="roundRect">
            <a:avLst>
              <a:gd name="adj" fmla="val 32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28016" bIns="73152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Техника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665208" y="2432304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756648" y="2560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939528" y="2432304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КТГ ниже плана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665208" y="2871216"/>
            <a:ext cx="1892807" cy="384048"/>
          </a:xfrm>
          <a:prstGeom prst="roundRect">
            <a:avLst>
              <a:gd name="adj" fmla="val 23809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756648" y="2999232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39528" y="2871216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950" b="0" i="0">
                <a:solidFill>
                  <a:srgbClr val="2A3138"/>
                </a:solidFill>
                <a:latin typeface="Arial"/>
              </a:rPr>
              <a:t>Концентрация затрат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94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5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Критично — 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396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957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Внимание — 9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398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9959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К сведению —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340096" y="55778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596128" y="54864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Норма — 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23176" y="546811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200" b="1" i="0">
                <a:solidFill>
                  <a:srgbClr val="0E7A54"/>
                </a:solidFill>
                <a:latin typeface="Arial"/>
              </a:rPr>
              <a:t>Сверка расчётов: 24 из 24 сходятся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Автовыводы: что требует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537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Темп текущего года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освоено 54% плана при 70% прошедшего года; по заказам с началом до 09.2026 — 70%.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3 962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441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2 134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факт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645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года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1713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Исполнение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Деблокировано без факта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111 заказов 2026 на 601 млн ₽ деблокированы, но без факта и подтверждений (15% плана).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601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0196" y="284378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15%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12471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11896" y="1289304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127101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6276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Обеспеченность следующего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1993391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обеспечено к сроку 53% потребности (1 018 млн ₽ из 1 931 млн ₽), не покрыто 913 млн ₽.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1 931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393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1 018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обеспечено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5976" y="284378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913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Закупка не видит потребность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2027: 1 184 млн ₽ потребности «Начиная с деблок.» закупка не видит до деблокирования; из них не покрыто 561 млн ₽.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потребность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5436" y="5266944"/>
            <a:ext cx="15316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561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не покрыто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425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B3303A"/>
                </a:solidFill>
                <a:latin typeface="Arial"/>
              </a:rPr>
              <a:t>Критично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013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Обеспеченность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Заказом уже не успеть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472 млн ₽ дефицита заказом уже не закрыть: опоздание до 3 мес. 113 млн ₽, больше 3 мес. 310 млн ₽, срок прошёл 48 млн ₽ — аналоги, перенос или ремонт узла.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113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 3 мес.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91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310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&gt; 3 мес.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121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48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срок прошёл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29016" y="3547872"/>
            <a:ext cx="3520440" cy="2240280"/>
          </a:xfrm>
          <a:prstGeom prst="roundRect">
            <a:avLst>
              <a:gd name="adj" fmla="val 65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11896" y="3712463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50" b="1" i="0">
                <a:solidFill>
                  <a:srgbClr val="8A5A00"/>
                </a:solidFill>
                <a:latin typeface="Arial"/>
              </a:rPr>
              <a:t>Внимание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54896" y="3694176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Бюджет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0507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Риск неосвоения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416552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50" b="0" i="0">
                <a:solidFill>
                  <a:srgbClr val="5B6167"/>
                </a:solidFill>
                <a:latin typeface="Arial"/>
              </a:rPr>
              <a:t>2026: 532 млн ₽ плана (13%, 131 заказ) — базисное начало наступило, а факта нет. Ещё 1 183 млн ₽ без факта приходится на заказы с началом до конца года.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532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наступило, без факта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393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13%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доля плана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5976" y="5266944"/>
            <a:ext cx="9905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1 183 млн ₽</a:t>
            </a:r>
          </a:p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впереди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Один набор правил — разные ответы по площадкам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97280"/>
          <a:ext cx="11109956" cy="47731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76975"/>
                <a:gridCol w="3773193"/>
                <a:gridCol w="1414947"/>
                <a:gridCol w="1414947"/>
                <a:gridCol w="1414947"/>
                <a:gridCol w="141494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Группа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Правило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Весь парк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 закрытых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Темп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Деблокировано без факта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Просрочено закрытие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Хвосты прошлых лет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Исполнение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Готовы к ТЗКР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Согласование текущего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Готовность плана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Позиции ППР без заказа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Начало прошло, не деблокирован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Точность планирования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Внеплановые работы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Планирование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МТР без цены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Закупка не видит потребность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Успеем, если заказать сейчас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Заказом уже не успеть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Обеспеченность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Возможность перемещения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Перерасход по заказам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Корректировки бюджета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 следующего года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F4FB0"/>
                          </a:solidFill>
                          <a:latin typeface="Arial"/>
                        </a:rPr>
                        <a:t>К сведению</a:t>
                      </a:r>
                    </a:p>
                  </a:txBody>
                  <a:tcPr marL="54864" marR="54864" marT="9144" marB="9144" anchor="ctr">
                    <a:solidFill>
                      <a:srgbClr val="E3E7F8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Риск неосвоения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B3303A"/>
                          </a:solidFill>
                          <a:latin typeface="Arial"/>
                        </a:rPr>
                        <a:t>Критично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КТГ ниже плана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Техника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Концентрация затрат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E7A54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8A5A00"/>
                          </a:solidFill>
                          <a:latin typeface="Arial"/>
                        </a:rPr>
                        <a:t>Внимание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планирования: план 2027 и оперативный план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3EF0AF"/>
                </a:solidFill>
                <a:latin typeface="Arial"/>
              </a:rPr>
              <a:t>82%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плана 2027 согласовано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2 277 из 2 783 млн 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утверждено в годовом (УТВГ)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плановые заказы APP1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770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1 175 млн ₽ вне плана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65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начало прошло, не деблок.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60 млн ₽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53%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точность плана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в ±20% плана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внеплановые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доля факта AVS1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Цепочка согласования 2027,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Статусы плана: доля плана со статусом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исполнения 2026: воронка и освоение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D2454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при 70% прошедшего года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70%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освоение наступивших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2 134 из 3 067 млн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111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деблокированы пусто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601 млн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80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просрочено закрытие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488 млн ₽, &gt; 30 дн.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99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ФХСМ, ждут ТЗКР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затрат больше не ждём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хвосты 2024–2025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1 090 млн ₽ не закрыто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Воронка 2026: план по стадиям,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2026 нарастающим, млн ₽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Деблокированы без факта: крупнейшие заказы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3438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2129"/>
                <a:gridCol w="4090696"/>
                <a:gridCol w="1255100"/>
                <a:gridCol w="1255100"/>
                <a:gridCol w="1069159"/>
                <a:gridCol w="1069159"/>
                <a:gridCol w="120861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Заказ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Текст заказа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Начало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Конец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1102298470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Ходовая часть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210,4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1102358430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Опорно-поворотное устройство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80,1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4000051425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ковша 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78,9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4000056379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рукояти WK-20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43,1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4000065243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Замена Редук.хода-35№4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30.09.2026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1200436385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КР подъема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1200360596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Ремонт головных блоков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01.08.2026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02.08.2026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1101938098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Капитальный ремонт ковша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11.12.2026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A3138"/>
                          </a:solidFill>
                          <a:latin typeface="Arial"/>
                        </a:rPr>
                        <a:t>12.12.2026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3138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39496" y="4837176"/>
            <a:ext cx="11109960" cy="685800"/>
          </a:xfrm>
          <a:prstGeom prst="roundRect">
            <a:avLst>
              <a:gd name="adj" fmla="val 18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Что сделать: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восемь крупнейших заказов — 489 млн ₽, 81% суммы. Провести факт, перенести сроки или закрыть; в отчёте — «Контроль отделов» → «Исполнение», фильтр «Факт по заказу: нет факта».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Контроль бюджетирования: план, факт, статусы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факт / план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E0A030"/>
                </a:solidFill>
                <a:latin typeface="Arial"/>
              </a:rPr>
              <a:t>532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млн ₽ риск неосвоения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13% плана 2026, 131 заказ.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92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перерасход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210 заказов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ТРКБ: нужна корректировка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заказы 2026–2027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78%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УСО факт / план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МТР подрядчика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План и факт МТР и УСО по годам, млн ₽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3949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1636" y="2404872"/>
            <a:ext cx="54178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Бюджетные статусы плановых заказов: доля плана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231636" y="2679191"/>
          <a:ext cx="541782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по площадкам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склада — по заводу строки остатков; склады Иркутской области отнесены к Сухому Логу. Склад покрывает только свою площадку; перемещение ограничено и показано как возможность*, не как покрытие.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выгрузке закупки стоимость в валюте документа (в основном ZCNY) — сравнивать её с рублями нельзя.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Отдельно: 2026 — незавершённый год (факт на 14.09.2026); низкий % исполнения 2026 не означает отставания сам по себе.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Обновление данных — прямо в отчёте, без Python</a:t>
            </a:r>
          </a:p>
        </p:txBody>
      </p:sp>
      <p:sp>
        <p:nvSpPr>
          <p:cNvPr id="3" name="Pentagon 2"/>
          <p:cNvSpPr/>
          <p:nvPr/>
        </p:nvSpPr>
        <p:spPr>
          <a:xfrm>
            <a:off x="539496" y="1170432"/>
            <a:ext cx="2112264" cy="731520"/>
          </a:xfrm>
          <a:prstGeom prst="homePlate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Загрузить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Остатки (3 файла), PM-06 M06_{площадка}_{год}.xlsx — только изменившиеся, МТР УСО</a:t>
            </a:r>
          </a:p>
        </p:txBody>
      </p:sp>
      <p:sp>
        <p:nvSpPr>
          <p:cNvPr id="5" name="Chevron 4"/>
          <p:cNvSpPr/>
          <p:nvPr/>
        </p:nvSpPr>
        <p:spPr>
          <a:xfrm>
            <a:off x="2788920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Пересобрать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График, статусы и стадии, копии «Развития», ППМ, контроль, обеспеченность, ремонты, тексты</a:t>
            </a:r>
          </a:p>
        </p:txBody>
      </p:sp>
      <p:sp>
        <p:nvSpPr>
          <p:cNvPr id="7" name="Chevron 6"/>
          <p:cNvSpPr/>
          <p:nvPr/>
        </p:nvSpPr>
        <p:spPr>
          <a:xfrm>
            <a:off x="5038344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Сверить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3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«Сейчас / После пересборки» и сверки аналитики на новых данных</a:t>
            </a:r>
          </a:p>
        </p:txBody>
      </p:sp>
      <p:sp>
        <p:nvSpPr>
          <p:cNvPr id="9" name="Chevron 8"/>
          <p:cNvSpPr/>
          <p:nvPr/>
        </p:nvSpPr>
        <p:spPr>
          <a:xfrm>
            <a:off x="7287768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Сохраняется в браузере, переживает перезагрузку; плашка вверху отчёта</a:t>
            </a:r>
          </a:p>
        </p:txBody>
      </p:sp>
      <p:sp>
        <p:nvSpPr>
          <p:cNvPr id="11" name="Chevron 10"/>
          <p:cNvSpPr/>
          <p:nvPr/>
        </p:nvSpPr>
        <p:spPr>
          <a:xfrm>
            <a:off x="9537192" y="1170432"/>
            <a:ext cx="2112264" cy="731520"/>
          </a:xfrm>
          <a:prstGeom prst="chevron">
            <a:avLst>
              <a:gd name="adj" fmla="val 32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7238" tIns="18288" rIns="219456" bIns="18288"/>
          <a:lstStyle/>
          <a:p>
            <a:pPr algn="ctr">
              <a:spcAft>
                <a:spcPts val="4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Выложить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1993391"/>
            <a:ext cx="1929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Записать в папку отчёта на диске (Chrome / Edge) или архив data/ для всех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~3 с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разбор одной выгрузки PM-06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браузере, 20 МБ xlsx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556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844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с Python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витрины из полных M06_1400/1200_2027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1636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1,7 млн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сверенных значений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тест test_toro_rebuild.mjs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7705" y="3136391"/>
            <a:ext cx="257175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0585" y="3227832"/>
            <a:ext cx="220599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8 297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текстов заказов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из колонки «Заказ ·доп»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4599432"/>
            <a:ext cx="11109960" cy="1234440"/>
          </a:xfrm>
          <a:prstGeom prst="roundRect">
            <a:avLst>
              <a:gd name="adj" fmla="val 1037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Загружать всё не нужно.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Загруженные площадко-годы заменяют свои, остальные берутся из текущих данных; файл 1200 сам разводится на Вернинское и Сухой Лог по балансовой единице.</a:t>
            </a:r>
          </a:p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Python остаётся эталоном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для каталога, LinkOne, базы знаний, КТГ и презентаций — они от выгрузок BW не зависят.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Двойная проверка расчётов и выводов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24 / 24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сверок сходятся — весь парк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949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Сверки в отчёте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24 из 24 сверок сходятся для всего парка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 каждой площадке — Красноярск 19/19, Магадан 19/19, Сухой Лог 19/19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стадии = план + ППР + копии; площадки = итог; МТР + УСО = итог; сегменты обеспеченности; цепочка согласования; воронка; S-кривая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9 223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показателя сверено в 35 контекстах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425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Независимый пересчёт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вторая реализация на Python: заказы из строк графика и статусов TOPO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9 223 показателя и уровни всех выводов в 35 контекстах (парк, площадки, модели, борта)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тест пойман на намеренных ошибках ядра (пороги, правило копий, риск неосвоения)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124712"/>
            <a:ext cx="352044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216152"/>
            <a:ext cx="315468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расхождений браузер ↔ Python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679191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9016" y="3136391"/>
            <a:ext cx="3520440" cy="237744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2679191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Паритет браузер = 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3264408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пересборка в браузере совпала с Python по всем витринам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на полных выгрузках PM-06 и на выборке из настоящей выгрузки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итоги по годам, площадкам и бортам = данным этой презентации (419 из 419)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" y="5650992"/>
            <a:ext cx="11109960" cy="365760"/>
          </a:xfrm>
          <a:prstGeom prst="roundRect">
            <a:avLst>
              <a:gd name="adj" fmla="val 35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Итог: </a:t>
            </a:r>
            <a:r>
              <a:rPr sz="1200" b="0" i="0">
                <a:solidFill>
                  <a:srgbClr val="2A3138"/>
                </a:solidFill>
                <a:latin typeface="Arial"/>
              </a:rPr>
              <a:t>каждая цифра отчёта и этой презентации получена двумя независимыми способами, и они совпали.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111 деблокированных заказов на 604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1 119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1 184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159 позиций на 511 млн ₽ ещё успеваем; по 424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Возможность перемещения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До 217 млн ₽ дефицита есть на других площадках. Перемещение ограничено — проверить, что реально согласовать и перевезти.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Запас — по площадке склада (завод строки остатков).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Обеспеченность: склад своей площадки, затем закупка с датой до потребности, по месяцам. Запас других площадок — только возможность улучшения*, в покрытие не входит.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Тексты заказов — колонка «Заказ ·доп» PM-06; автовыводы — 24 правила ядра отчёта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