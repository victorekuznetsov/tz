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22.svg" ContentType="image/svg+xml"/>
  <Override PartName="/ppt/media/image4.svg" ContentType="image/svg+xml"/>
  <Override PartName="/ppt/media/image7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  <p:sldId id="260" r:id="rId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2000" cy="6858000"/>
  <p:notesSz cx="6858000" cy="9144000"/>
  <p:custDataLst>
    <p:tags r:id="rId8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3BDDA"/>
    <a:srgbClr val="7E83FA"/>
    <a:srgbClr val="3EF0AF"/>
    <a:srgbClr val="2931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51" d="100"/>
          <a:sy n="151" d="100"/>
        </p:scale>
        <p:origin x="1200" y="1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КТГ план</c:v>
                </c:pt>
              </c:strCache>
            </c:strRef>
          </c:tx>
          <c:spPr>
            <a:ln w="28575">
              <a:solidFill>
                <a:srgbClr val="9AA3AB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янв 24</c:v>
                </c:pt>
                <c:pt idx="1">
                  <c:v>фев 24</c:v>
                </c:pt>
                <c:pt idx="2">
                  <c:v>мар 24</c:v>
                </c:pt>
                <c:pt idx="3">
                  <c:v>апр 24</c:v>
                </c:pt>
                <c:pt idx="4">
                  <c:v>май 24</c:v>
                </c:pt>
                <c:pt idx="5">
                  <c:v>июн 24</c:v>
                </c:pt>
                <c:pt idx="6">
                  <c:v>июл 24</c:v>
                </c:pt>
                <c:pt idx="7">
                  <c:v>авг 24</c:v>
                </c:pt>
                <c:pt idx="8">
                  <c:v>сен 24</c:v>
                </c:pt>
                <c:pt idx="9">
                  <c:v>окт 24</c:v>
                </c:pt>
                <c:pt idx="10">
                  <c:v>ноя 24</c:v>
                </c:pt>
                <c:pt idx="11">
                  <c:v>дек 24</c:v>
                </c:pt>
                <c:pt idx="12">
                  <c:v>янв 25</c:v>
                </c:pt>
                <c:pt idx="13">
                  <c:v>фев 25</c:v>
                </c:pt>
                <c:pt idx="14">
                  <c:v>мар 25</c:v>
                </c:pt>
                <c:pt idx="15">
                  <c:v>апр 25</c:v>
                </c:pt>
                <c:pt idx="16">
                  <c:v>май 25</c:v>
                </c:pt>
                <c:pt idx="17">
                  <c:v>июн 25</c:v>
                </c:pt>
                <c:pt idx="18">
                  <c:v>июл 25</c:v>
                </c:pt>
                <c:pt idx="19">
                  <c:v>авг 25</c:v>
                </c:pt>
                <c:pt idx="20">
                  <c:v>сен 25</c:v>
                </c:pt>
                <c:pt idx="21">
                  <c:v>окт 25</c:v>
                </c:pt>
                <c:pt idx="22">
                  <c:v>ноя 25</c:v>
                </c:pt>
                <c:pt idx="23">
                  <c:v>дек 25</c:v>
                </c:pt>
                <c:pt idx="24">
                  <c:v>янв 26</c:v>
                </c:pt>
                <c:pt idx="25">
                  <c:v>фев 26</c:v>
                </c:pt>
                <c:pt idx="26">
                  <c:v>мар 26</c:v>
                </c:pt>
                <c:pt idx="27">
                  <c:v>апр 26</c:v>
                </c:pt>
                <c:pt idx="28">
                  <c:v>май 26</c:v>
                </c:pt>
                <c:pt idx="29">
                  <c:v>июн 26</c:v>
                </c:pt>
                <c:pt idx="30">
                  <c:v>июл 26</c:v>
                </c:pt>
                <c:pt idx="31">
                  <c:v>авг 26</c:v>
                </c:pt>
                <c:pt idx="32">
                  <c:v>сен 26</c:v>
                </c:pt>
                <c:pt idx="33">
                  <c:v>окт 26</c:v>
                </c:pt>
                <c:pt idx="34">
                  <c:v>ноя 26</c:v>
                </c:pt>
                <c:pt idx="35">
                  <c:v>дек 26</c:v>
                </c:pt>
              </c:strCache>
            </c: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0.8911076923076924</c:v>
                </c:pt>
                <c:pt idx="1">
                  <c:v>0.8788142857142857</c:v>
                </c:pt>
                <c:pt idx="2">
                  <c:v>0.85291875</c:v>
                </c:pt>
                <c:pt idx="3">
                  <c:v>0.7817333333333333</c:v>
                </c:pt>
                <c:pt idx="4">
                  <c:v>0.8666357142857143</c:v>
                </c:pt>
                <c:pt idx="5">
                  <c:v>0.859294117647059</c:v>
                </c:pt>
                <c:pt idx="6">
                  <c:v>0.8724473684210527</c:v>
                </c:pt>
                <c:pt idx="7">
                  <c:v>0.830135</c:v>
                </c:pt>
                <c:pt idx="8">
                  <c:v>0.8727750000000001</c:v>
                </c:pt>
                <c:pt idx="9">
                  <c:v>0.876747619047619</c:v>
                </c:pt>
                <c:pt idx="10">
                  <c:v>0.8793499999999999</c:v>
                </c:pt>
                <c:pt idx="11">
                  <c:v>0.8538227272727273</c:v>
                </c:pt>
                <c:pt idx="12">
                  <c:v>0.8704761904761905</c:v>
                </c:pt>
                <c:pt idx="13">
                  <c:v>0.8262952380952381</c:v>
                </c:pt>
                <c:pt idx="14">
                  <c:v>0.8548761904761906</c:v>
                </c:pt>
                <c:pt idx="15">
                  <c:v>0.8489666666666666</c:v>
                </c:pt>
                <c:pt idx="16">
                  <c:v>0.8673285714285712</c:v>
                </c:pt>
                <c:pt idx="17">
                  <c:v>0.8508499999999998</c:v>
                </c:pt>
                <c:pt idx="18">
                  <c:v>0.8706545454545456</c:v>
                </c:pt>
                <c:pt idx="19">
                  <c:v>0.87671875</c:v>
                </c:pt>
                <c:pt idx="20">
                  <c:v>0.8741681818181818</c:v>
                </c:pt>
                <c:pt idx="21">
                  <c:v>0.8935619047619048</c:v>
                </c:pt>
                <c:pt idx="22">
                  <c:v>0.818309090909091</c:v>
                </c:pt>
                <c:pt idx="23">
                  <c:v>0.8729363636363637</c:v>
                </c:pt>
                <c:pt idx="24">
                  <c:v>0.8755454545454545</c:v>
                </c:pt>
                <c:pt idx="25">
                  <c:v>0.8712909090909092</c:v>
                </c:pt>
                <c:pt idx="26">
                  <c:v>0.8557318181818179</c:v>
                </c:pt>
                <c:pt idx="27">
                  <c:v>0.8479954545454546</c:v>
                </c:pt>
                <c:pt idx="28">
                  <c:v>0.8653434782608695</c:v>
                </c:pt>
                <c:pt idx="29">
                  <c:v>0.8678090909090909</c:v>
                </c:pt>
                <c:pt idx="30">
                  <c:v>0.8163130434782608</c:v>
                </c:pt>
                <c:pt idx="31">
                  <c:v>0.840682608695652</c:v>
                </c:pt>
                <c:pt idx="32">
                  <c:v>0.8795347826086958</c:v>
                </c:pt>
                <c:pt idx="33">
                  <c:v>0.8734279999999999</c:v>
                </c:pt>
                <c:pt idx="34">
                  <c:v>0.8945384615384616</c:v>
                </c:pt>
                <c:pt idx="35">
                  <c:v>0.9054538461538459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КТГ факт</c:v>
                </c:pt>
              </c:strCache>
            </c:strRef>
          </c:tx>
          <c:spPr>
            <a:ln w="28575">
              <a:solidFill>
                <a:srgbClr val="12A06E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янв 24</c:v>
                </c:pt>
                <c:pt idx="1">
                  <c:v>фев 24</c:v>
                </c:pt>
                <c:pt idx="2">
                  <c:v>мар 24</c:v>
                </c:pt>
                <c:pt idx="3">
                  <c:v>апр 24</c:v>
                </c:pt>
                <c:pt idx="4">
                  <c:v>май 24</c:v>
                </c:pt>
                <c:pt idx="5">
                  <c:v>июн 24</c:v>
                </c:pt>
                <c:pt idx="6">
                  <c:v>июл 24</c:v>
                </c:pt>
                <c:pt idx="7">
                  <c:v>авг 24</c:v>
                </c:pt>
                <c:pt idx="8">
                  <c:v>сен 24</c:v>
                </c:pt>
                <c:pt idx="9">
                  <c:v>окт 24</c:v>
                </c:pt>
                <c:pt idx="10">
                  <c:v>ноя 24</c:v>
                </c:pt>
                <c:pt idx="11">
                  <c:v>дек 24</c:v>
                </c:pt>
                <c:pt idx="12">
                  <c:v>янв 25</c:v>
                </c:pt>
                <c:pt idx="13">
                  <c:v>фев 25</c:v>
                </c:pt>
                <c:pt idx="14">
                  <c:v>мар 25</c:v>
                </c:pt>
                <c:pt idx="15">
                  <c:v>апр 25</c:v>
                </c:pt>
                <c:pt idx="16">
                  <c:v>май 25</c:v>
                </c:pt>
                <c:pt idx="17">
                  <c:v>июн 25</c:v>
                </c:pt>
                <c:pt idx="18">
                  <c:v>июл 25</c:v>
                </c:pt>
                <c:pt idx="19">
                  <c:v>авг 25</c:v>
                </c:pt>
                <c:pt idx="20">
                  <c:v>сен 25</c:v>
                </c:pt>
                <c:pt idx="21">
                  <c:v>окт 25</c:v>
                </c:pt>
                <c:pt idx="22">
                  <c:v>ноя 25</c:v>
                </c:pt>
                <c:pt idx="23">
                  <c:v>дек 25</c:v>
                </c:pt>
                <c:pt idx="24">
                  <c:v>янв 26</c:v>
                </c:pt>
                <c:pt idx="25">
                  <c:v>фев 26</c:v>
                </c:pt>
                <c:pt idx="26">
                  <c:v>мар 26</c:v>
                </c:pt>
                <c:pt idx="27">
                  <c:v>апр 26</c:v>
                </c:pt>
                <c:pt idx="28">
                  <c:v>май 26</c:v>
                </c:pt>
                <c:pt idx="29">
                  <c:v>июн 26</c:v>
                </c:pt>
                <c:pt idx="30">
                  <c:v>июл 26</c:v>
                </c:pt>
                <c:pt idx="31">
                  <c:v>авг 26</c:v>
                </c:pt>
                <c:pt idx="32">
                  <c:v>сен 26</c:v>
                </c:pt>
                <c:pt idx="33">
                  <c:v>окт 26</c:v>
                </c:pt>
                <c:pt idx="34">
                  <c:v>ноя 26</c:v>
                </c:pt>
                <c:pt idx="35">
                  <c:v>дек 26</c:v>
                </c:pt>
              </c:strCache>
            </c: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0.8777615384615385</c:v>
                </c:pt>
                <c:pt idx="1">
                  <c:v>0.8900066666666667</c:v>
                </c:pt>
                <c:pt idx="2">
                  <c:v>0.8574928571428571</c:v>
                </c:pt>
                <c:pt idx="3">
                  <c:v>0.8656687499999999</c:v>
                </c:pt>
                <c:pt idx="4">
                  <c:v>0.86590625</c:v>
                </c:pt>
                <c:pt idx="5">
                  <c:v>0.882164705882353</c:v>
                </c:pt>
                <c:pt idx="6">
                  <c:v>0.9219368421052634</c:v>
                </c:pt>
                <c:pt idx="7">
                  <c:v>0.8825842105263156</c:v>
                </c:pt>
                <c:pt idx="8">
                  <c:v>0.9182</c:v>
                </c:pt>
                <c:pt idx="9">
                  <c:v>0.9274450000000002</c:v>
                </c:pt>
                <c:pt idx="10">
                  <c:v>0.9071666666666667</c:v>
                </c:pt>
                <c:pt idx="11">
                  <c:v>0.8638681818181818</c:v>
                </c:pt>
                <c:pt idx="12">
                  <c:v>0.8997636363636361</c:v>
                </c:pt>
                <c:pt idx="13">
                  <c:v>0.8973318181818182</c:v>
                </c:pt>
                <c:pt idx="14">
                  <c:v>0.8977590909090908</c:v>
                </c:pt>
                <c:pt idx="15">
                  <c:v>0.8871136363636366</c:v>
                </c:pt>
                <c:pt idx="16">
                  <c:v>0.8904363636363637</c:v>
                </c:pt>
                <c:pt idx="17">
                  <c:v>0.9117695652173914</c:v>
                </c:pt>
                <c:pt idx="18">
                  <c:v>0.9082782608695649</c:v>
                </c:pt>
                <c:pt idx="19">
                  <c:v>0.8911173913043478</c:v>
                </c:pt>
                <c:pt idx="20">
                  <c:v>0.9024000000000002</c:v>
                </c:pt>
                <c:pt idx="21">
                  <c:v>0.8666909090909093</c:v>
                </c:pt>
                <c:pt idx="22">
                  <c:v>0.8736636363636362</c:v>
                </c:pt>
                <c:pt idx="23">
                  <c:v>0.8683608695652175</c:v>
                </c:pt>
                <c:pt idx="24">
                  <c:v>0.8851521739130436</c:v>
                </c:pt>
                <c:pt idx="25">
                  <c:v>0.884104347826087</c:v>
                </c:pt>
                <c:pt idx="26">
                  <c:v>0.8637304347826087</c:v>
                </c:pt>
                <c:pt idx="27">
                  <c:v>0.8759478260869566</c:v>
                </c:pt>
                <c:pt idx="28">
                  <c:v>0.9135083333333335</c:v>
                </c:pt>
                <c:pt idx="29">
                  <c:v>0.9127913043478262</c:v>
                </c:pt>
                <c:pt idx="30">
                  <c:v>0.8509041666666666</c:v>
                </c:pt>
                <c:pt idx="31">
                  <c:v>0.8773375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tickLblSkip val="3"/>
        <c:tickMarkSkip val="3"/>
        <c:noMultiLvlLbl val="0"/>
      </c:catAx>
      <c:valAx>
        <c:axId val="2140495176"/>
        <c:scaling>
          <c:max val="1.0"/>
          <c:min val="0.6"/>
        </c:scaling>
        <c:delete val="0"/>
        <c:axPos val="l"/>
        <c:majorGridlines>
          <c:spPr>
            <a:ln w="9525">
              <a:solidFill>
                <a:srgbClr val="E3E5E8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 b="0">
                <a:solidFill>
                  <a:srgbClr val="5B6167"/>
                </a:solidFill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 · на 14.09</c:v>
                </c:pt>
                <c:pt idx="3">
                  <c:v>2027 ·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2962.409562</c:v>
                </c:pt>
                <c:pt idx="1">
                  <c:v>3583.138297</c:v>
                </c:pt>
                <c:pt idx="2">
                  <c:v>3961.827551</c:v>
                </c:pt>
                <c:pt idx="3">
                  <c:v>2783.124928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 · на 14.09</c:v>
                </c:pt>
                <c:pt idx="3">
                  <c:v>2027 ·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2779.13274</c:v>
                </c:pt>
                <c:pt idx="1">
                  <c:v>3744.168978</c:v>
                </c:pt>
                <c:pt idx="2">
                  <c:v>2133.723951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37.246857120001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2050.797462</c:v>
                </c:pt>
                <c:pt idx="1">
                  <c:v>2779.653655</c:v>
                </c:pt>
                <c:pt idx="2">
                  <c:v>2716.059001</c:v>
                </c:pt>
                <c:pt idx="3">
                  <c:v>1941.321306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1966.705318</c:v>
                </c:pt>
                <c:pt idx="1">
                  <c:v>2840.780119</c:v>
                </c:pt>
                <c:pt idx="2">
                  <c:v>1541.53386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279.9913128999997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592.89815</c:v>
                </c:pt>
                <c:pt idx="1">
                  <c:v>548.036576</c:v>
                </c:pt>
                <c:pt idx="2">
                  <c:v>869.265613</c:v>
                </c:pt>
                <c:pt idx="3">
                  <c:v>635.394998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541.516545</c:v>
                </c:pt>
                <c:pt idx="1">
                  <c:v>667.44976</c:v>
                </c:pt>
                <c:pt idx="2">
                  <c:v>363.833991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5.73342334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318.71395</c:v>
                </c:pt>
                <c:pt idx="1">
                  <c:v>255.448066</c:v>
                </c:pt>
                <c:pt idx="2">
                  <c:v>376.502937</c:v>
                </c:pt>
                <c:pt idx="3">
                  <c:v>206.408624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270.910877</c:v>
                </c:pt>
                <c:pt idx="1">
                  <c:v>235.939099</c:v>
                </c:pt>
                <c:pt idx="2">
                  <c:v>228.3561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4.27346565999994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Закрыт</c:v>
                </c:pt>
              </c:strCache>
            </c:strRef>
          </c:tx>
          <c:spPr>
            <a:solidFill>
              <a:srgbClr val="0E7A5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1882.158981</c:v>
                </c:pt>
                <c:pt idx="1">
                  <c:v>3050.543603</c:v>
                </c:pt>
                <c:pt idx="2">
                  <c:v>1171.038653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Тех. закрыт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"/>
              <c:delete val="1"/>
            </c:dLbl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526.175402</c:v>
                </c:pt>
                <c:pt idx="1">
                  <c:v>5.833477</c:v>
                </c:pt>
                <c:pt idx="2">
                  <c:v>903.355888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 работе</c:v>
                </c:pt>
              </c:strCache>
            </c:strRef>
          </c:tx>
          <c:spPr>
            <a:solidFill>
              <a:srgbClr val="7FD8B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558.316023</c:v>
                </c:pt>
                <c:pt idx="1">
                  <c:v>532.163505</c:v>
                </c:pt>
                <c:pt idx="2">
                  <c:v>174.495268</c:v>
                </c:pt>
                <c:pt idx="3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Деблокирован, пусто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604.04894</c:v>
                </c:pt>
                <c:pt idx="3">
                  <c:v>163.569286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Согласование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1119.242219</c:v>
                </c:pt>
                <c:pt idx="3">
                  <c:v>2627.961875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1175.416361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Закрыт</c:v>
                </c:pt>
              </c:strCache>
            </c:strRef>
          </c:tx>
          <c:spPr>
            <a:solidFill>
              <a:srgbClr val="0E7A54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833.803128</c:v>
                </c:pt>
                <c:pt idx="1">
                  <c:v>189.657707</c:v>
                </c:pt>
                <c:pt idx="2">
                  <c:v>147.577818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Тех. закрыт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752.67908</c:v>
                </c:pt>
                <c:pt idx="1">
                  <c:v>101.669599</c:v>
                </c:pt>
                <c:pt idx="2">
                  <c:v>49.007209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 работе</c:v>
                </c:pt>
              </c:strCache>
            </c:strRef>
          </c:tx>
          <c:spPr>
            <a:solidFill>
              <a:srgbClr val="7FD8B4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97.671578</c:v>
                </c:pt>
                <c:pt idx="1">
                  <c:v>29.94324</c:v>
                </c:pt>
                <c:pt idx="2">
                  <c:v>46.88045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Деблокирован, пусто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185.169417</c:v>
                </c:pt>
                <c:pt idx="1">
                  <c:v>407.872616</c:v>
                </c:pt>
                <c:pt idx="2">
                  <c:v>11.006907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Согласование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857.028402</c:v>
                </c:pt>
                <c:pt idx="1">
                  <c:v>140.122451</c:v>
                </c:pt>
                <c:pt idx="2">
                  <c:v>122.091366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Факт 2024</c:v>
                </c:pt>
              </c:strCache>
            </c:strRef>
          </c:tx>
          <c:spPr>
            <a:solidFill>
              <a:srgbClr val="B9C1E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692.797095</c:v>
                </c:pt>
                <c:pt idx="1">
                  <c:v>676.727658</c:v>
                </c:pt>
                <c:pt idx="2">
                  <c:v>584.373581</c:v>
                </c:pt>
                <c:pt idx="3">
                  <c:v>226.439372</c:v>
                </c:pt>
                <c:pt idx="4">
                  <c:v>125.046819</c:v>
                </c:pt>
                <c:pt idx="5">
                  <c:v>0.0</c:v>
                </c:pt>
                <c:pt idx="6">
                  <c:v>65.535647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2025</c:v>
                </c:pt>
              </c:strCache>
            </c:strRef>
          </c:tx>
          <c:spPr>
            <a:solidFill>
              <a:srgbClr val="8793E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5"/>
              <c:delete val="1"/>
            </c:dLbl>
            <c:dLbl>
              <c:idx val="7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1080.704391</c:v>
                </c:pt>
                <c:pt idx="1">
                  <c:v>1052.160021</c:v>
                </c:pt>
                <c:pt idx="2">
                  <c:v>671.396649</c:v>
                </c:pt>
                <c:pt idx="3">
                  <c:v>365.319975</c:v>
                </c:pt>
                <c:pt idx="4">
                  <c:v>236.182697</c:v>
                </c:pt>
                <c:pt idx="5">
                  <c:v>0.0</c:v>
                </c:pt>
                <c:pt idx="6">
                  <c:v>151.959252</c:v>
                </c:pt>
                <c:pt idx="7">
                  <c:v>30.905903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Факт 2026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823.16863</c:v>
                </c:pt>
                <c:pt idx="1">
                  <c:v>348.773855</c:v>
                </c:pt>
                <c:pt idx="2">
                  <c:v>99.868575</c:v>
                </c:pt>
                <c:pt idx="3">
                  <c:v>219.177986</c:v>
                </c:pt>
                <c:pt idx="4">
                  <c:v>163.658588</c:v>
                </c:pt>
                <c:pt idx="5">
                  <c:v>129.681436</c:v>
                </c:pt>
                <c:pt idx="6">
                  <c:v>94.66461</c:v>
                </c:pt>
                <c:pt idx="7">
                  <c:v>57.368507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План 2027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dLbl>
              <c:idx val="4"/>
              <c:delete val="1"/>
            </c:dLbl>
            <c:dLbl>
              <c:idx val="6"/>
              <c:delete val="1"/>
            </c:dLbl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Текущий ремонт</c:v>
                </c:pt>
                <c:pt idx="1">
                  <c:v>Капитальный ремонт</c:v>
                </c:pt>
                <c:pt idx="2">
                  <c:v>Не присвоено (компоненты)</c:v>
                </c:pt>
                <c:pt idx="3">
                  <c:v>Регулярно-потребляемые МТР</c:v>
                </c:pt>
                <c:pt idx="4">
                  <c:v>Техническое обслуживание 1</c:v>
                </c:pt>
                <c:pt idx="5">
                  <c:v>КР ходовой части</c:v>
                </c:pt>
                <c:pt idx="6">
                  <c:v>Техническое обслуживание 2</c:v>
                </c:pt>
                <c:pt idx="7">
                  <c:v>Сезонное ТО1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1244.425378</c:v>
                </c:pt>
                <c:pt idx="1">
                  <c:v>660.557405</c:v>
                </c:pt>
                <c:pt idx="2">
                  <c:v>215.407309</c:v>
                </c:pt>
                <c:pt idx="3">
                  <c:v>0.0</c:v>
                </c:pt>
                <c:pt idx="4">
                  <c:v>0.0</c:v>
                </c:pt>
                <c:pt idx="5">
                  <c:v>343.628694</c:v>
                </c:pt>
                <c:pt idx="6">
                  <c:v>0.0</c:v>
                </c:pt>
                <c:pt idx="7">
                  <c:v>175.691228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Факт 2024</c:v>
                </c:pt>
              </c:strCache>
            </c:strRef>
          </c:tx>
          <c:spPr>
            <a:solidFill>
              <a:srgbClr val="B9C1E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1"/>
              <c:delete val="1"/>
            </c:dLbl>
            <c:dLbl>
              <c:idx val="12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№06 · Красноярск</c:v>
                </c:pt>
                <c:pt idx="2">
                  <c:v>WK-35 №07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№1 · Магадан</c:v>
                </c:pt>
                <c:pt idx="8">
                  <c:v>WK-20 №2 · Магадан</c:v>
                </c:pt>
                <c:pt idx="9">
                  <c:v>WK-20 №02 · Красноярск</c:v>
                </c:pt>
                <c:pt idx="10">
                  <c:v>WK-35 №10 · Красноярск</c:v>
                </c:pt>
                <c:pt idx="11">
                  <c:v>WK-35 №11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№18 · Красноярск</c:v>
                </c:pt>
                <c:pt idx="20">
                  <c:v>WK-35 №16 · Красноярск</c:v>
                </c:pt>
                <c:pt idx="21">
                  <c:v>WK-20C №1221 · Сухой Лог</c:v>
                </c:pt>
                <c:pt idx="22">
                  <c:v>WK-35 №17 · Красноярск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187.987493</c:v>
                </c:pt>
                <c:pt idx="1">
                  <c:v>384.348565</c:v>
                </c:pt>
                <c:pt idx="2">
                  <c:v>324.4751</c:v>
                </c:pt>
                <c:pt idx="3">
                  <c:v>270.910877</c:v>
                </c:pt>
                <c:pt idx="4">
                  <c:v>178.41065</c:v>
                </c:pt>
                <c:pt idx="5">
                  <c:v>256.371013</c:v>
                </c:pt>
                <c:pt idx="6">
                  <c:v>179.269991</c:v>
                </c:pt>
                <c:pt idx="7">
                  <c:v>208.478434</c:v>
                </c:pt>
                <c:pt idx="8">
                  <c:v>230.535031</c:v>
                </c:pt>
                <c:pt idx="9">
                  <c:v>213.445094</c:v>
                </c:pt>
                <c:pt idx="10">
                  <c:v>45.78421</c:v>
                </c:pt>
                <c:pt idx="11">
                  <c:v>26.145609</c:v>
                </c:pt>
                <c:pt idx="12">
                  <c:v>41.779448</c:v>
                </c:pt>
                <c:pt idx="13">
                  <c:v>98.491894</c:v>
                </c:pt>
                <c:pt idx="14">
                  <c:v>25.509452</c:v>
                </c:pt>
                <c:pt idx="15">
                  <c:v>36.362559</c:v>
                </c:pt>
                <c:pt idx="16">
                  <c:v>23.677079</c:v>
                </c:pt>
                <c:pt idx="17">
                  <c:v>16.95399</c:v>
                </c:pt>
                <c:pt idx="18">
                  <c:v>13.111201</c:v>
                </c:pt>
                <c:pt idx="19">
                  <c:v>2.636993</c:v>
                </c:pt>
                <c:pt idx="20">
                  <c:v>9.73163</c:v>
                </c:pt>
                <c:pt idx="21">
                  <c:v>0.0</c:v>
                </c:pt>
                <c:pt idx="22">
                  <c:v>4.716427</c:v>
                </c:pt>
                <c:pt idx="2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 2025</c:v>
                </c:pt>
              </c:strCache>
            </c:strRef>
          </c:tx>
          <c:spPr>
            <a:solidFill>
              <a:srgbClr val="8793E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8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№06 · Красноярск</c:v>
                </c:pt>
                <c:pt idx="2">
                  <c:v>WK-35 №07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№1 · Магадан</c:v>
                </c:pt>
                <c:pt idx="8">
                  <c:v>WK-20 №2 · Магадан</c:v>
                </c:pt>
                <c:pt idx="9">
                  <c:v>WK-20 №02 · Красноярск</c:v>
                </c:pt>
                <c:pt idx="10">
                  <c:v>WK-35 №10 · Красноярск</c:v>
                </c:pt>
                <c:pt idx="11">
                  <c:v>WK-35 №11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№18 · Красноярск</c:v>
                </c:pt>
                <c:pt idx="20">
                  <c:v>WK-35 №16 · Красноярск</c:v>
                </c:pt>
                <c:pt idx="21">
                  <c:v>WK-20C №1221 · Сухой Лог</c:v>
                </c:pt>
                <c:pt idx="22">
                  <c:v>WK-35 №17 · Красноярск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834.970101</c:v>
                </c:pt>
                <c:pt idx="1">
                  <c:v>369.171874</c:v>
                </c:pt>
                <c:pt idx="2">
                  <c:v>398.33647</c:v>
                </c:pt>
                <c:pt idx="3">
                  <c:v>206.048997</c:v>
                </c:pt>
                <c:pt idx="4">
                  <c:v>110.435758</c:v>
                </c:pt>
                <c:pt idx="5">
                  <c:v>157.189047</c:v>
                </c:pt>
                <c:pt idx="6">
                  <c:v>210.984492</c:v>
                </c:pt>
                <c:pt idx="7">
                  <c:v>196.693004</c:v>
                </c:pt>
                <c:pt idx="8">
                  <c:v>108.426011</c:v>
                </c:pt>
                <c:pt idx="9">
                  <c:v>143.062223</c:v>
                </c:pt>
                <c:pt idx="10">
                  <c:v>130.023038</c:v>
                </c:pt>
                <c:pt idx="11">
                  <c:v>135.583947</c:v>
                </c:pt>
                <c:pt idx="12">
                  <c:v>137.436237</c:v>
                </c:pt>
                <c:pt idx="13">
                  <c:v>54.612137</c:v>
                </c:pt>
                <c:pt idx="14">
                  <c:v>114.473052</c:v>
                </c:pt>
                <c:pt idx="15">
                  <c:v>94.42685</c:v>
                </c:pt>
                <c:pt idx="16">
                  <c:v>80.342557</c:v>
                </c:pt>
                <c:pt idx="17">
                  <c:v>73.088286</c:v>
                </c:pt>
                <c:pt idx="18">
                  <c:v>34.768215</c:v>
                </c:pt>
                <c:pt idx="19">
                  <c:v>49.136547</c:v>
                </c:pt>
                <c:pt idx="20">
                  <c:v>38.358245</c:v>
                </c:pt>
                <c:pt idx="21">
                  <c:v>29.890102</c:v>
                </c:pt>
                <c:pt idx="22">
                  <c:v>36.711788</c:v>
                </c:pt>
                <c:pt idx="2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Факт 2026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7"/>
              <c:delete val="1"/>
            </c:dLbl>
            <c:dLbl>
              <c:idx val="9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2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№04 · Красноярск</c:v>
                </c:pt>
                <c:pt idx="1">
                  <c:v>WK-35 №06 · Красноярск</c:v>
                </c:pt>
                <c:pt idx="2">
                  <c:v>WK-35 №07 · Красноярск</c:v>
                </c:pt>
                <c:pt idx="3">
                  <c:v>WK-20 №1220 · Сухой Лог</c:v>
                </c:pt>
                <c:pt idx="4">
                  <c:v>WK-35 №05 · Красноярск</c:v>
                </c:pt>
                <c:pt idx="5">
                  <c:v>WK-20 №03 · Красноярск</c:v>
                </c:pt>
                <c:pt idx="6">
                  <c:v>WK-20 №8 · Красноярск</c:v>
                </c:pt>
                <c:pt idx="7">
                  <c:v>WK-20 №1 · Магадан</c:v>
                </c:pt>
                <c:pt idx="8">
                  <c:v>WK-20 №2 · Магадан</c:v>
                </c:pt>
                <c:pt idx="9">
                  <c:v>WK-20 №02 · Красноярск</c:v>
                </c:pt>
                <c:pt idx="10">
                  <c:v>WK-35 №10 · Красноярск</c:v>
                </c:pt>
                <c:pt idx="11">
                  <c:v>WK-35 №11 · Красноярск</c:v>
                </c:pt>
                <c:pt idx="12">
                  <c:v>WK-35 №12 · Красноярск</c:v>
                </c:pt>
                <c:pt idx="13">
                  <c:v>WK-35 №14 · Красноярск</c:v>
                </c:pt>
                <c:pt idx="14">
                  <c:v>WK-20C №3 · Магадан</c:v>
                </c:pt>
                <c:pt idx="15">
                  <c:v>WK-20C №5 · Магадан</c:v>
                </c:pt>
                <c:pt idx="16">
                  <c:v>WK-20C №4 · Магадан</c:v>
                </c:pt>
                <c:pt idx="17">
                  <c:v>WK-20C №6 · Магадан</c:v>
                </c:pt>
                <c:pt idx="18">
                  <c:v>WK-35 №15 · Красноярск</c:v>
                </c:pt>
                <c:pt idx="19">
                  <c:v>WK-35 №18 · Красноярск</c:v>
                </c:pt>
                <c:pt idx="20">
                  <c:v>WK-35 №16 · Красноярск</c:v>
                </c:pt>
                <c:pt idx="21">
                  <c:v>WK-20C №1221 · Сухой Лог</c:v>
                </c:pt>
                <c:pt idx="22">
                  <c:v>WK-35 №17 · Красноярск</c:v>
                </c:pt>
                <c:pt idx="23">
                  <c:v>WK-35 №13 · Красноярск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209.415128</c:v>
                </c:pt>
                <c:pt idx="1">
                  <c:v>69.724631</c:v>
                </c:pt>
                <c:pt idx="2">
                  <c:v>69.223114</c:v>
                </c:pt>
                <c:pt idx="3">
                  <c:v>172.439607</c:v>
                </c:pt>
                <c:pt idx="4">
                  <c:v>340.843596</c:v>
                </c:pt>
                <c:pt idx="5">
                  <c:v>197.489287</c:v>
                </c:pt>
                <c:pt idx="6">
                  <c:v>127.09378</c:v>
                </c:pt>
                <c:pt idx="7">
                  <c:v>35.362358</c:v>
                </c:pt>
                <c:pt idx="8">
                  <c:v>98.219382</c:v>
                </c:pt>
                <c:pt idx="9">
                  <c:v>44.657801</c:v>
                </c:pt>
                <c:pt idx="10">
                  <c:v>75.103244</c:v>
                </c:pt>
                <c:pt idx="11">
                  <c:v>87.762315</c:v>
                </c:pt>
                <c:pt idx="12">
                  <c:v>49.058012</c:v>
                </c:pt>
                <c:pt idx="13">
                  <c:v>57.733727</c:v>
                </c:pt>
                <c:pt idx="14">
                  <c:v>54.549123</c:v>
                </c:pt>
                <c:pt idx="15">
                  <c:v>60.853558</c:v>
                </c:pt>
                <c:pt idx="16">
                  <c:v>64.955032</c:v>
                </c:pt>
                <c:pt idx="17">
                  <c:v>49.894538</c:v>
                </c:pt>
                <c:pt idx="18">
                  <c:v>44.391808</c:v>
                </c:pt>
                <c:pt idx="19">
                  <c:v>35.878295</c:v>
                </c:pt>
                <c:pt idx="20">
                  <c:v>39.21913</c:v>
                </c:pt>
                <c:pt idx="21">
                  <c:v>55.916493</c:v>
                </c:pt>
                <c:pt idx="22">
                  <c:v>38.928385</c:v>
                </c:pt>
                <c:pt idx="23">
                  <c:v>55.011607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Деблокирован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1"/>
              <c:delete val="1"/>
            </c:dLbl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163.569286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Открыт: согласование и СГГС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1782.25688</c:v>
                </c:pt>
                <c:pt idx="1">
                  <c:v>635.394998</c:v>
                </c:pt>
                <c:pt idx="2">
                  <c:v>210.309997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Позиции 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Красноярск / Еруда</c:v>
                </c:pt>
                <c:pt idx="1">
                  <c:v>Магадан</c:v>
                </c:pt>
                <c:pt idx="2">
                  <c:v>Сухой Лог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733.215821</c:v>
                </c:pt>
                <c:pt idx="1">
                  <c:v>248.187003</c:v>
                </c:pt>
                <c:pt idx="2">
                  <c:v>194.013537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 в заказах SAP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WK-35 №07 · Красноярск</c:v>
                </c:pt>
                <c:pt idx="1">
                  <c:v>WK-20 №2 · Магадан</c:v>
                </c:pt>
                <c:pt idx="2">
                  <c:v>WK-35 №06 · Красноярск</c:v>
                </c:pt>
                <c:pt idx="3">
                  <c:v>WK-35 №16 · Красноярск</c:v>
                </c:pt>
                <c:pt idx="4">
                  <c:v>WK-35 №15 · Красноярск</c:v>
                </c:pt>
                <c:pt idx="5">
                  <c:v>WK-35 №17 · Красноярск</c:v>
                </c:pt>
                <c:pt idx="6">
                  <c:v>WK-20 №8 · Красноярск</c:v>
                </c:pt>
                <c:pt idx="7">
                  <c:v>WK-20 №1220 · Сухой Лог</c:v>
                </c:pt>
                <c:pt idx="8">
                  <c:v>WK-35 №18 · Красноярск</c:v>
                </c:pt>
                <c:pt idx="9">
                  <c:v>WK-35 №14 · Красноярск</c:v>
                </c:pt>
                <c:pt idx="10">
                  <c:v>WK-20C №3 · Магадан</c:v>
                </c:pt>
                <c:pt idx="11">
                  <c:v>WK-20C №1221 · Сухой Лог</c:v>
                </c:pt>
                <c:pt idx="12">
                  <c:v>WK-20 №1 · Магадан</c:v>
                </c:pt>
                <c:pt idx="13">
                  <c:v>WK-35 №10 · Красноярск</c:v>
                </c:pt>
                <c:pt idx="14">
                  <c:v>WK-20C №4 · Магадан</c:v>
                </c:pt>
                <c:pt idx="15">
                  <c:v>WK-20C №5 · Магадан</c:v>
                </c:pt>
                <c:pt idx="16">
                  <c:v>WK-35 №11 · Красноярск</c:v>
                </c:pt>
                <c:pt idx="17">
                  <c:v>WK-35 №12 · Красноярск</c:v>
                </c:pt>
                <c:pt idx="18">
                  <c:v>WK-35 №05 · Красноярск</c:v>
                </c:pt>
                <c:pt idx="19">
                  <c:v>WK-35 №04 · Красноярск</c:v>
                </c:pt>
                <c:pt idx="20">
                  <c:v>WK-20 №03 · Красноярск</c:v>
                </c:pt>
                <c:pt idx="21">
                  <c:v>WK-20 №02 · Красноярск</c:v>
                </c:pt>
                <c:pt idx="22">
                  <c:v>WK-35 №13 · Красноярск</c:v>
                </c:pt>
                <c:pt idx="23">
                  <c:v>WK-20C №6 · Магадан</c:v>
                </c:pt>
                <c:pt idx="24">
                  <c:v>WK-35 №1222 · Сухой Лог</c:v>
                </c:pt>
                <c:pt idx="25">
                  <c:v>WK-35 №1223 · Сухой Лог</c:v>
                </c:pt>
                <c:pt idx="26">
                  <c:v>WK-35 №1224 · Сухой Лог</c:v>
                </c:pt>
                <c:pt idx="27">
                  <c:v>WK-35 №1228 · Сухой Лог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420.881242</c:v>
                </c:pt>
                <c:pt idx="1">
                  <c:v>302.923765</c:v>
                </c:pt>
                <c:pt idx="2">
                  <c:v>251.586884</c:v>
                </c:pt>
                <c:pt idx="3">
                  <c:v>191.340502</c:v>
                </c:pt>
                <c:pt idx="4">
                  <c:v>183.873158</c:v>
                </c:pt>
                <c:pt idx="5">
                  <c:v>168.119024</c:v>
                </c:pt>
                <c:pt idx="6">
                  <c:v>130.029979</c:v>
                </c:pt>
                <c:pt idx="7">
                  <c:v>118.179302</c:v>
                </c:pt>
                <c:pt idx="8">
                  <c:v>111.176837</c:v>
                </c:pt>
                <c:pt idx="9">
                  <c:v>102.717377</c:v>
                </c:pt>
                <c:pt idx="10">
                  <c:v>95.349728</c:v>
                </c:pt>
                <c:pt idx="11">
                  <c:v>88.229322</c:v>
                </c:pt>
                <c:pt idx="12">
                  <c:v>79.020081</c:v>
                </c:pt>
                <c:pt idx="13">
                  <c:v>72.174312</c:v>
                </c:pt>
                <c:pt idx="14">
                  <c:v>72.327413</c:v>
                </c:pt>
                <c:pt idx="15">
                  <c:v>63.552677</c:v>
                </c:pt>
                <c:pt idx="16">
                  <c:v>60.464295</c:v>
                </c:pt>
                <c:pt idx="17">
                  <c:v>58.724444</c:v>
                </c:pt>
                <c:pt idx="18">
                  <c:v>51.843572</c:v>
                </c:pt>
                <c:pt idx="19">
                  <c:v>44.565641</c:v>
                </c:pt>
                <c:pt idx="20">
                  <c:v>38.233153</c:v>
                </c:pt>
                <c:pt idx="21">
                  <c:v>32.82344</c:v>
                </c:pt>
                <c:pt idx="22">
                  <c:v>22.767446</c:v>
                </c:pt>
                <c:pt idx="23">
                  <c:v>22.221334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Позиции ППР без заказа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7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WK-35 №07 · Красноярск</c:v>
                </c:pt>
                <c:pt idx="1">
                  <c:v>WK-20 №2 · Магадан</c:v>
                </c:pt>
                <c:pt idx="2">
                  <c:v>WK-35 №06 · Красноярск</c:v>
                </c:pt>
                <c:pt idx="3">
                  <c:v>WK-35 №16 · Красноярск</c:v>
                </c:pt>
                <c:pt idx="4">
                  <c:v>WK-35 №15 · Красноярск</c:v>
                </c:pt>
                <c:pt idx="5">
                  <c:v>WK-35 №17 · Красноярск</c:v>
                </c:pt>
                <c:pt idx="6">
                  <c:v>WK-20 №8 · Красноярск</c:v>
                </c:pt>
                <c:pt idx="7">
                  <c:v>WK-20 №1220 · Сухой Лог</c:v>
                </c:pt>
                <c:pt idx="8">
                  <c:v>WK-35 №18 · Красноярск</c:v>
                </c:pt>
                <c:pt idx="9">
                  <c:v>WK-35 №14 · Красноярск</c:v>
                </c:pt>
                <c:pt idx="10">
                  <c:v>WK-20C №3 · Магадан</c:v>
                </c:pt>
                <c:pt idx="11">
                  <c:v>WK-20C №1221 · Сухой Лог</c:v>
                </c:pt>
                <c:pt idx="12">
                  <c:v>WK-20 №1 · Магадан</c:v>
                </c:pt>
                <c:pt idx="13">
                  <c:v>WK-35 №10 · Красноярск</c:v>
                </c:pt>
                <c:pt idx="14">
                  <c:v>WK-20C №4 · Магадан</c:v>
                </c:pt>
                <c:pt idx="15">
                  <c:v>WK-20C №5 · Магадан</c:v>
                </c:pt>
                <c:pt idx="16">
                  <c:v>WK-35 №11 · Красноярск</c:v>
                </c:pt>
                <c:pt idx="17">
                  <c:v>WK-35 №12 · Красноярск</c:v>
                </c:pt>
                <c:pt idx="18">
                  <c:v>WK-35 №05 · Красноярск</c:v>
                </c:pt>
                <c:pt idx="19">
                  <c:v>WK-35 №04 · Красноярск</c:v>
                </c:pt>
                <c:pt idx="20">
                  <c:v>WK-20 №03 · Красноярск</c:v>
                </c:pt>
                <c:pt idx="21">
                  <c:v>WK-20 №02 · Красноярск</c:v>
                </c:pt>
                <c:pt idx="22">
                  <c:v>WK-35 №13 · Красноярск</c:v>
                </c:pt>
                <c:pt idx="23">
                  <c:v>WK-20C №6 · Магадан</c:v>
                </c:pt>
                <c:pt idx="24">
                  <c:v>WK-35 №1222 · Сухой Лог</c:v>
                </c:pt>
                <c:pt idx="25">
                  <c:v>WK-35 №1223 · Сухой Лог</c:v>
                </c:pt>
                <c:pt idx="26">
                  <c:v>WK-35 №1224 · Сухой Лог</c:v>
                </c:pt>
                <c:pt idx="27">
                  <c:v>WK-35 №1228 · Сухой Лог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46.312378</c:v>
                </c:pt>
                <c:pt idx="1">
                  <c:v>40.375269</c:v>
                </c:pt>
                <c:pt idx="2">
                  <c:v>45.291174</c:v>
                </c:pt>
                <c:pt idx="3">
                  <c:v>46.306918</c:v>
                </c:pt>
                <c:pt idx="4">
                  <c:v>46.306918</c:v>
                </c:pt>
                <c:pt idx="5">
                  <c:v>46.306918</c:v>
                </c:pt>
                <c:pt idx="6">
                  <c:v>46.630969</c:v>
                </c:pt>
                <c:pt idx="7">
                  <c:v>40.260009</c:v>
                </c:pt>
                <c:pt idx="8">
                  <c:v>45.287079</c:v>
                </c:pt>
                <c:pt idx="9">
                  <c:v>46.306918</c:v>
                </c:pt>
                <c:pt idx="10">
                  <c:v>41.258149</c:v>
                </c:pt>
                <c:pt idx="11">
                  <c:v>39.524011</c:v>
                </c:pt>
                <c:pt idx="12">
                  <c:v>41.741473</c:v>
                </c:pt>
                <c:pt idx="13">
                  <c:v>46.306918</c:v>
                </c:pt>
                <c:pt idx="14">
                  <c:v>41.087623</c:v>
                </c:pt>
                <c:pt idx="15">
                  <c:v>42.636866</c:v>
                </c:pt>
                <c:pt idx="16">
                  <c:v>45.877761</c:v>
                </c:pt>
                <c:pt idx="17">
                  <c:v>46.306918</c:v>
                </c:pt>
                <c:pt idx="18">
                  <c:v>47.496632</c:v>
                </c:pt>
                <c:pt idx="19">
                  <c:v>46.312378</c:v>
                </c:pt>
                <c:pt idx="20">
                  <c:v>43.450758</c:v>
                </c:pt>
                <c:pt idx="21">
                  <c:v>42.764217</c:v>
                </c:pt>
                <c:pt idx="22">
                  <c:v>45.950967</c:v>
                </c:pt>
                <c:pt idx="23">
                  <c:v>41.087623</c:v>
                </c:pt>
                <c:pt idx="24">
                  <c:v>37.377754</c:v>
                </c:pt>
                <c:pt idx="25">
                  <c:v>28.431876</c:v>
                </c:pt>
                <c:pt idx="26">
                  <c:v>28.431876</c:v>
                </c:pt>
                <c:pt idx="27">
                  <c:v>19.988011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1051.14093328</c:v>
                </c:pt>
                <c:pt idx="1">
                  <c:v>936.194659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1.0152938</c:v>
                </c:pt>
                <c:pt idx="1">
                  <c:v>250.13191599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8.20493975</c:v>
                </c:pt>
                <c:pt idx="1">
                  <c:v>219.88732233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# ##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2026 · 1 066 млн ₽</c:v>
                </c:pt>
                <c:pt idx="1">
                  <c:v>2027 · 1 931 млн ₽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5.72663717</c:v>
                </c:pt>
                <c:pt idx="1">
                  <c:v>524.63383068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656.9307875</c:v>
                </c:pt>
                <c:pt idx="1">
                  <c:v>750.35589652</c:v>
                </c:pt>
                <c:pt idx="2">
                  <c:v>340.74738744999996</c:v>
                </c:pt>
                <c:pt idx="3">
                  <c:v>63.6337865</c:v>
                </c:pt>
                <c:pt idx="4">
                  <c:v>53.46275833</c:v>
                </c:pt>
                <c:pt idx="5">
                  <c:v>122.204976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0.349157</c:v>
                </c:pt>
                <c:pt idx="1">
                  <c:v>227.07986086000003</c:v>
                </c:pt>
                <c:pt idx="2">
                  <c:v>0.32174579999999997</c:v>
                </c:pt>
                <c:pt idx="3">
                  <c:v>6.88871637</c:v>
                </c:pt>
                <c:pt idx="4">
                  <c:v>0.344391</c:v>
                </c:pt>
                <c:pt idx="5">
                  <c:v>16.16333875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0.3880045</c:v>
                </c:pt>
                <c:pt idx="1">
                  <c:v>211.649448</c:v>
                </c:pt>
                <c:pt idx="2">
                  <c:v>3.39686775</c:v>
                </c:pt>
                <c:pt idx="3">
                  <c:v>1.19004433</c:v>
                </c:pt>
                <c:pt idx="4">
                  <c:v>4.4200675</c:v>
                </c:pt>
                <c:pt idx="5">
                  <c:v>7.04783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 ##0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Красноярск / Еруда · 2026</c:v>
                </c:pt>
                <c:pt idx="1">
                  <c:v>Красноярск / Еруда · 2027</c:v>
                </c:pt>
                <c:pt idx="2">
                  <c:v>Магадан · 2026</c:v>
                </c:pt>
                <c:pt idx="3">
                  <c:v>Магадан · 2027</c:v>
                </c:pt>
                <c:pt idx="4">
                  <c:v>Сухой Лог · 2026</c:v>
                </c:pt>
                <c:pt idx="5">
                  <c:v>Сухой Лог · 2027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3.095917</c:v>
                </c:pt>
                <c:pt idx="1">
                  <c:v>480.05712162000003</c:v>
                </c:pt>
                <c:pt idx="2">
                  <c:v>2.041023</c:v>
                </c:pt>
                <c:pt idx="3">
                  <c:v>23.1933918</c:v>
                </c:pt>
                <c:pt idx="4">
                  <c:v>0.5896971699999999</c:v>
                </c:pt>
                <c:pt idx="5">
                  <c:v>21.38331725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0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dLbl>
              <c:idx val="14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№18 · Красноярск</c:v>
                </c:pt>
                <c:pt idx="4">
                  <c:v>WK-35 №15 · Красноярск</c:v>
                </c:pt>
                <c:pt idx="5">
                  <c:v>WK-20 №8 · Красноярск</c:v>
                </c:pt>
                <c:pt idx="6">
                  <c:v>WK-35 №12 · Красноярск</c:v>
                </c:pt>
                <c:pt idx="7">
                  <c:v>WK-35 №10 · Красноярск</c:v>
                </c:pt>
                <c:pt idx="8">
                  <c:v>WK-20 №1220 · Сухой Лог</c:v>
                </c:pt>
                <c:pt idx="9">
                  <c:v>WK-35 №06 · Красноярск</c:v>
                </c:pt>
                <c:pt idx="10">
                  <c:v>WK-35 №11 · Красноярск</c:v>
                </c:pt>
                <c:pt idx="11">
                  <c:v>WK-35 №05 · Красноярск</c:v>
                </c:pt>
                <c:pt idx="12">
                  <c:v>WK-20C №1221 · Сухой Лог</c:v>
                </c:pt>
                <c:pt idx="13">
                  <c:v>WK-35 №14 · Красноярск</c:v>
                </c:pt>
                <c:pt idx="14">
                  <c:v>WK-35 №13 · Красноярск</c:v>
                </c:pt>
                <c:pt idx="15">
                  <c:v>WK-35 №04 · Красноярск</c:v>
                </c:pt>
                <c:pt idx="16">
                  <c:v>WK-20 №03 · Красноярск</c:v>
                </c:pt>
                <c:pt idx="17">
                  <c:v>WK-20C №3 · Магадан</c:v>
                </c:pt>
                <c:pt idx="18">
                  <c:v>WK-20C №6 · Магадан</c:v>
                </c:pt>
                <c:pt idx="19">
                  <c:v>WK-20C №4 · Магадан</c:v>
                </c:pt>
                <c:pt idx="20">
                  <c:v>WK-20C №5 · Магадан</c:v>
                </c:pt>
                <c:pt idx="21">
                  <c:v>WK-20 №1 · Магадан</c:v>
                </c:pt>
                <c:pt idx="22">
                  <c:v>WK-20 №02 · Красноярск</c:v>
                </c:pt>
                <c:pt idx="23">
                  <c:v>WK-20 №2 · Магадан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46.580666</c:v>
                </c:pt>
                <c:pt idx="1">
                  <c:v>21.7481895</c:v>
                </c:pt>
                <c:pt idx="2">
                  <c:v>167.10910512</c:v>
                </c:pt>
                <c:pt idx="3">
                  <c:v>4.216297</c:v>
                </c:pt>
                <c:pt idx="4">
                  <c:v>63.246250409999995</c:v>
                </c:pt>
                <c:pt idx="5">
                  <c:v>70.903716</c:v>
                </c:pt>
                <c:pt idx="6">
                  <c:v>16.42006817</c:v>
                </c:pt>
                <c:pt idx="7">
                  <c:v>32.219909</c:v>
                </c:pt>
                <c:pt idx="8">
                  <c:v>92.0956864</c:v>
                </c:pt>
                <c:pt idx="9">
                  <c:v>150.34156144</c:v>
                </c:pt>
                <c:pt idx="10">
                  <c:v>28.449265</c:v>
                </c:pt>
                <c:pt idx="11">
                  <c:v>17.76856</c:v>
                </c:pt>
                <c:pt idx="12">
                  <c:v>30.1092896</c:v>
                </c:pt>
                <c:pt idx="13">
                  <c:v>72.25126632</c:v>
                </c:pt>
                <c:pt idx="14">
                  <c:v>2.34527</c:v>
                </c:pt>
                <c:pt idx="15">
                  <c:v>16.74976706</c:v>
                </c:pt>
                <c:pt idx="16">
                  <c:v>19.6425915</c:v>
                </c:pt>
                <c:pt idx="17">
                  <c:v>16.929335</c:v>
                </c:pt>
                <c:pt idx="18">
                  <c:v>6.796686</c:v>
                </c:pt>
                <c:pt idx="19">
                  <c:v>9.038466</c:v>
                </c:pt>
                <c:pt idx="20">
                  <c:v>6.151829</c:v>
                </c:pt>
                <c:pt idx="21">
                  <c:v>12.5655085</c:v>
                </c:pt>
                <c:pt idx="22">
                  <c:v>20.363414</c:v>
                </c:pt>
                <c:pt idx="23">
                  <c:v>12.151962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3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№18 · Красноярск</c:v>
                </c:pt>
                <c:pt idx="4">
                  <c:v>WK-35 №15 · Красноярск</c:v>
                </c:pt>
                <c:pt idx="5">
                  <c:v>WK-20 №8 · Красноярск</c:v>
                </c:pt>
                <c:pt idx="6">
                  <c:v>WK-35 №12 · Красноярск</c:v>
                </c:pt>
                <c:pt idx="7">
                  <c:v>WK-35 №10 · Красноярск</c:v>
                </c:pt>
                <c:pt idx="8">
                  <c:v>WK-20 №1220 · Сухой Лог</c:v>
                </c:pt>
                <c:pt idx="9">
                  <c:v>WK-35 №06 · Красноярск</c:v>
                </c:pt>
                <c:pt idx="10">
                  <c:v>WK-35 №11 · Красноярск</c:v>
                </c:pt>
                <c:pt idx="11">
                  <c:v>WK-35 №05 · Красноярск</c:v>
                </c:pt>
                <c:pt idx="12">
                  <c:v>WK-20C №1221 · Сухой Лог</c:v>
                </c:pt>
                <c:pt idx="13">
                  <c:v>WK-35 №14 · Красноярск</c:v>
                </c:pt>
                <c:pt idx="14">
                  <c:v>WK-35 №13 · Красноярск</c:v>
                </c:pt>
                <c:pt idx="15">
                  <c:v>WK-35 №04 · Красноярск</c:v>
                </c:pt>
                <c:pt idx="16">
                  <c:v>WK-20 №03 · Красноярск</c:v>
                </c:pt>
                <c:pt idx="17">
                  <c:v>WK-20C №3 · Магадан</c:v>
                </c:pt>
                <c:pt idx="18">
                  <c:v>WK-20C №6 · Магадан</c:v>
                </c:pt>
                <c:pt idx="19">
                  <c:v>WK-20C №4 · Магадан</c:v>
                </c:pt>
                <c:pt idx="20">
                  <c:v>WK-20C №5 · Магадан</c:v>
                </c:pt>
                <c:pt idx="21">
                  <c:v>WK-20 №1 · Магадан</c:v>
                </c:pt>
                <c:pt idx="22">
                  <c:v>WK-20 №02 · Красноярск</c:v>
                </c:pt>
                <c:pt idx="23">
                  <c:v>WK-20 №2 · Магадан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19.23626028</c:v>
                </c:pt>
                <c:pt idx="1">
                  <c:v>18.742882</c:v>
                </c:pt>
                <c:pt idx="2">
                  <c:v>52.69562408</c:v>
                </c:pt>
                <c:pt idx="3">
                  <c:v>5.910438</c:v>
                </c:pt>
                <c:pt idx="4">
                  <c:v>23.60099911</c:v>
                </c:pt>
                <c:pt idx="5">
                  <c:v>2.545268</c:v>
                </c:pt>
                <c:pt idx="6">
                  <c:v>9.582575330000001</c:v>
                </c:pt>
                <c:pt idx="7">
                  <c:v>7.7408235</c:v>
                </c:pt>
                <c:pt idx="8">
                  <c:v>3.3177503500000003</c:v>
                </c:pt>
                <c:pt idx="9">
                  <c:v>41.046827060000005</c:v>
                </c:pt>
                <c:pt idx="10">
                  <c:v>8.322577</c:v>
                </c:pt>
                <c:pt idx="11">
                  <c:v>7.328561</c:v>
                </c:pt>
                <c:pt idx="12">
                  <c:v>12.8455884</c:v>
                </c:pt>
                <c:pt idx="13">
                  <c:v>8.662885</c:v>
                </c:pt>
                <c:pt idx="14">
                  <c:v>6.128687</c:v>
                </c:pt>
                <c:pt idx="15">
                  <c:v>8.4537285</c:v>
                </c:pt>
                <c:pt idx="16">
                  <c:v>2.59421</c:v>
                </c:pt>
                <c:pt idx="17">
                  <c:v>1.013472</c:v>
                </c:pt>
                <c:pt idx="18">
                  <c:v>0.173677</c:v>
                </c:pt>
                <c:pt idx="19">
                  <c:v>0.173677</c:v>
                </c:pt>
                <c:pt idx="20">
                  <c:v>0.173677</c:v>
                </c:pt>
                <c:pt idx="21">
                  <c:v>2.5115641699999998</c:v>
                </c:pt>
                <c:pt idx="22">
                  <c:v>4.487515</c:v>
                </c:pt>
                <c:pt idx="23">
                  <c:v>2.8426492000000003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№18 · Красноярск</c:v>
                </c:pt>
                <c:pt idx="4">
                  <c:v>WK-35 №15 · Красноярск</c:v>
                </c:pt>
                <c:pt idx="5">
                  <c:v>WK-20 №8 · Красноярск</c:v>
                </c:pt>
                <c:pt idx="6">
                  <c:v>WK-35 №12 · Красноярск</c:v>
                </c:pt>
                <c:pt idx="7">
                  <c:v>WK-35 №10 · Красноярск</c:v>
                </c:pt>
                <c:pt idx="8">
                  <c:v>WK-20 №1220 · Сухой Лог</c:v>
                </c:pt>
                <c:pt idx="9">
                  <c:v>WK-35 №06 · Красноярск</c:v>
                </c:pt>
                <c:pt idx="10">
                  <c:v>WK-35 №11 · Красноярск</c:v>
                </c:pt>
                <c:pt idx="11">
                  <c:v>WK-35 №05 · Красноярск</c:v>
                </c:pt>
                <c:pt idx="12">
                  <c:v>WK-20C №1221 · Сухой Лог</c:v>
                </c:pt>
                <c:pt idx="13">
                  <c:v>WK-35 №14 · Красноярск</c:v>
                </c:pt>
                <c:pt idx="14">
                  <c:v>WK-35 №13 · Красноярск</c:v>
                </c:pt>
                <c:pt idx="15">
                  <c:v>WK-35 №04 · Красноярск</c:v>
                </c:pt>
                <c:pt idx="16">
                  <c:v>WK-20 №03 · Красноярск</c:v>
                </c:pt>
                <c:pt idx="17">
                  <c:v>WK-20C №3 · Магадан</c:v>
                </c:pt>
                <c:pt idx="18">
                  <c:v>WK-20C №6 · Магадан</c:v>
                </c:pt>
                <c:pt idx="19">
                  <c:v>WK-20C №4 · Магадан</c:v>
                </c:pt>
                <c:pt idx="20">
                  <c:v>WK-20C №5 · Магадан</c:v>
                </c:pt>
                <c:pt idx="21">
                  <c:v>WK-20 №1 · Магадан</c:v>
                </c:pt>
                <c:pt idx="22">
                  <c:v>WK-20 №02 · Красноярск</c:v>
                </c:pt>
                <c:pt idx="23">
                  <c:v>WK-20 №2 · Магадан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61.7282815</c:v>
                </c:pt>
                <c:pt idx="1">
                  <c:v>46.161307</c:v>
                </c:pt>
                <c:pt idx="2">
                  <c:v>9.6510935</c:v>
                </c:pt>
                <c:pt idx="3">
                  <c:v>2.876969</c:v>
                </c:pt>
                <c:pt idx="4">
                  <c:v>61.579793</c:v>
                </c:pt>
                <c:pt idx="5">
                  <c:v>5.042868</c:v>
                </c:pt>
                <c:pt idx="6">
                  <c:v>3.0286785</c:v>
                </c:pt>
                <c:pt idx="7">
                  <c:v>7.699785060000001</c:v>
                </c:pt>
                <c:pt idx="8">
                  <c:v>7.04783</c:v>
                </c:pt>
                <c:pt idx="9">
                  <c:v>5.020899</c:v>
                </c:pt>
                <c:pt idx="10">
                  <c:v>0.198488</c:v>
                </c:pt>
                <c:pt idx="11">
                  <c:v>2.827454</c:v>
                </c:pt>
                <c:pt idx="12">
                  <c:v>0.0</c:v>
                </c:pt>
                <c:pt idx="13">
                  <c:v>2.475282</c:v>
                </c:pt>
                <c:pt idx="14">
                  <c:v>0.442194</c:v>
                </c:pt>
                <c:pt idx="15">
                  <c:v>1.35310244</c:v>
                </c:pt>
                <c:pt idx="16">
                  <c:v>1.389576</c:v>
                </c:pt>
                <c:pt idx="17">
                  <c:v>0.173677</c:v>
                </c:pt>
                <c:pt idx="18">
                  <c:v>0.173677</c:v>
                </c:pt>
                <c:pt idx="19">
                  <c:v>0.173677</c:v>
                </c:pt>
                <c:pt idx="20">
                  <c:v>0.173677</c:v>
                </c:pt>
                <c:pt idx="21">
                  <c:v>0.39819833</c:v>
                </c:pt>
                <c:pt idx="22">
                  <c:v>0.173677</c:v>
                </c:pt>
                <c:pt idx="23">
                  <c:v>0.097138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1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numFmt formatCode="# ##0" sourceLinked="0"/>
            <c:txPr>
              <a:bodyPr/>
              <a:lstStyle/>
              <a:p>
                <a:pPr>
                  <a:defRPr sz="8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WK-35 №16 · Красноярск</c:v>
                </c:pt>
                <c:pt idx="1">
                  <c:v>WK-35 №17 · Красноярск</c:v>
                </c:pt>
                <c:pt idx="2">
                  <c:v>WK-35 №07 · Красноярск</c:v>
                </c:pt>
                <c:pt idx="3">
                  <c:v>WK-35 №18 · Красноярск</c:v>
                </c:pt>
                <c:pt idx="4">
                  <c:v>WK-35 №15 · Красноярск</c:v>
                </c:pt>
                <c:pt idx="5">
                  <c:v>WK-20 №8 · Красноярск</c:v>
                </c:pt>
                <c:pt idx="6">
                  <c:v>WK-35 №12 · Красноярск</c:v>
                </c:pt>
                <c:pt idx="7">
                  <c:v>WK-35 №10 · Красноярск</c:v>
                </c:pt>
                <c:pt idx="8">
                  <c:v>WK-20 №1220 · Сухой Лог</c:v>
                </c:pt>
                <c:pt idx="9">
                  <c:v>WK-35 №06 · Красноярск</c:v>
                </c:pt>
                <c:pt idx="10">
                  <c:v>WK-35 №11 · Красноярск</c:v>
                </c:pt>
                <c:pt idx="11">
                  <c:v>WK-35 №05 · Красноярск</c:v>
                </c:pt>
                <c:pt idx="12">
                  <c:v>WK-20C №1221 · Сухой Лог</c:v>
                </c:pt>
                <c:pt idx="13">
                  <c:v>WK-35 №14 · Красноярск</c:v>
                </c:pt>
                <c:pt idx="14">
                  <c:v>WK-35 №13 · Красноярск</c:v>
                </c:pt>
                <c:pt idx="15">
                  <c:v>WK-35 №04 · Красноярск</c:v>
                </c:pt>
                <c:pt idx="16">
                  <c:v>WK-20 №03 · Красноярск</c:v>
                </c:pt>
                <c:pt idx="17">
                  <c:v>WK-20C №3 · Магадан</c:v>
                </c:pt>
                <c:pt idx="18">
                  <c:v>WK-20C №6 · Магадан</c:v>
                </c:pt>
                <c:pt idx="19">
                  <c:v>WK-20C №4 · Магадан</c:v>
                </c:pt>
                <c:pt idx="20">
                  <c:v>WK-20C №5 · Магадан</c:v>
                </c:pt>
                <c:pt idx="21">
                  <c:v>WK-20 №1 · Магадан</c:v>
                </c:pt>
                <c:pt idx="22">
                  <c:v>WK-20 №02 · Красноярск</c:v>
                </c:pt>
                <c:pt idx="23">
                  <c:v>WK-20 №2 · Магадан</c:v>
                </c:pt>
              </c:strCache>
            </c: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56.96462522</c:v>
                </c:pt>
                <c:pt idx="1">
                  <c:v>70.2533985</c:v>
                </c:pt>
                <c:pt idx="2">
                  <c:v>98.8767483</c:v>
                </c:pt>
                <c:pt idx="3">
                  <c:v>88.168873</c:v>
                </c:pt>
                <c:pt idx="4">
                  <c:v>25.35126948</c:v>
                </c:pt>
                <c:pt idx="5">
                  <c:v>44.838984</c:v>
                </c:pt>
                <c:pt idx="6">
                  <c:v>19.515626</c:v>
                </c:pt>
                <c:pt idx="7">
                  <c:v>7.91825144</c:v>
                </c:pt>
                <c:pt idx="8">
                  <c:v>8.24146325</c:v>
                </c:pt>
                <c:pt idx="9">
                  <c:v>10.2322195</c:v>
                </c:pt>
                <c:pt idx="10">
                  <c:v>14.838409</c:v>
                </c:pt>
                <c:pt idx="11">
                  <c:v>11.710224</c:v>
                </c:pt>
                <c:pt idx="12">
                  <c:v>13.141854</c:v>
                </c:pt>
                <c:pt idx="13">
                  <c:v>9.34261268</c:v>
                </c:pt>
                <c:pt idx="14">
                  <c:v>7.568487</c:v>
                </c:pt>
                <c:pt idx="15">
                  <c:v>6.555887</c:v>
                </c:pt>
                <c:pt idx="16">
                  <c:v>4.5868725</c:v>
                </c:pt>
                <c:pt idx="17">
                  <c:v>4.576465</c:v>
                </c:pt>
                <c:pt idx="18">
                  <c:v>4.380279</c:v>
                </c:pt>
                <c:pt idx="19">
                  <c:v>4.298225</c:v>
                </c:pt>
                <c:pt idx="20">
                  <c:v>4.298225</c:v>
                </c:pt>
                <c:pt idx="21">
                  <c:v>3.75335</c:v>
                </c:pt>
                <c:pt idx="22">
                  <c:v>3.334634</c:v>
                </c:pt>
                <c:pt idx="23">
                  <c:v>1.8868478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5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Склад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347.92522431</c:v>
                </c:pt>
                <c:pt idx="1">
                  <c:v>587.58602169</c:v>
                </c:pt>
                <c:pt idx="2">
                  <c:v>0.683413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Закупка к сроку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79.61074006</c:v>
                </c:pt>
                <c:pt idx="1">
                  <c:v>170.52117592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Закупка опаздывает / без срока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dLbl>
              <c:idx val="2"/>
              <c:delete val="1"/>
            </c:dLbl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187.74252</c:v>
                </c:pt>
                <c:pt idx="1">
                  <c:v>32.14480233</c:v>
                </c:pt>
                <c:pt idx="2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Не покрыто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Немедленно · 665</c:v>
                </c:pt>
                <c:pt idx="1">
                  <c:v>Начиная с деблок. · 1 184</c:v>
                </c:pt>
                <c:pt idx="2">
                  <c:v>Никогда · 82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50.094084630000005</c:v>
                </c:pt>
                <c:pt idx="1">
                  <c:v>393.40109605000004</c:v>
                </c:pt>
                <c:pt idx="2">
                  <c:v>81.13865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Запас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ПЛ ОХ КарьерОГОК · Красноярск / Еруда</c:v>
                </c:pt>
                <c:pt idx="1">
                  <c:v>Бывш. Вост. Техн · Красноярск / Еруда</c:v>
                </c:pt>
                <c:pt idx="2">
                  <c:v>ЗТК НаполХранУл · Не подписан</c:v>
                </c:pt>
                <c:pt idx="3">
                  <c:v>Консигнация · Консигнация</c:v>
                </c:pt>
                <c:pt idx="4">
                  <c:v>Склад МТР · Не подписан</c:v>
                </c:pt>
                <c:pt idx="5">
                  <c:v>Стройматериалы · Не подписан</c:v>
                </c:pt>
                <c:pt idx="6">
                  <c:v>Склад ТМЦ ПВ · Не подписан</c:v>
                </c:pt>
                <c:pt idx="7">
                  <c:v>УРКО МехОбсл ДЭС · Не подписан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1264.1433463574326</c:v>
                </c:pt>
                <c:pt idx="1">
                  <c:v>341.2625318509391</c:v>
                </c:pt>
                <c:pt idx="2">
                  <c:v>312.7855591505811</c:v>
                </c:pt>
                <c:pt idx="3">
                  <c:v>297.8932358896112</c:v>
                </c:pt>
                <c:pt idx="4">
                  <c:v>288.64972803808547</c:v>
                </c:pt>
                <c:pt idx="5">
                  <c:v>143.44077624285882</c:v>
                </c:pt>
                <c:pt idx="6">
                  <c:v>120.94824276078256</c:v>
                </c:pt>
                <c:pt idx="7">
                  <c:v>103.1702859457998</c:v>
                </c:pt>
              </c:numCache>
            </c:numRef>
          </c:val>
        </c:ser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Поставка</c:v>
                </c:pt>
              </c:strCache>
            </c:strRef>
          </c:tx>
          <c:spPr>
            <a:solidFill>
              <a:srgbClr val="5566C9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0"/>
            <c:spPr>
              <a:solidFill>
                <a:srgbClr val="D2454F"/>
              </a:solidFill>
            </c:spPr>
          </c:dPt>
          <c:dPt>
            <c:idx val="1"/>
            <c:spPr>
              <a:solidFill>
                <a:srgbClr val="D2454F"/>
              </a:solidFill>
            </c:spPr>
          </c:dPt>
          <c:dPt>
            <c:idx val="2"/>
            <c:spPr>
              <a:solidFill>
                <a:srgbClr val="D2454F"/>
              </a:solidFill>
            </c:spPr>
          </c:dPt>
          <c:dPt>
            <c:idx val="3"/>
            <c:spPr>
              <a:solidFill>
                <a:srgbClr val="D2454F"/>
              </a:solidFill>
            </c:spPr>
          </c:dPt>
          <c:dPt>
            <c:idx val="4"/>
            <c:spPr>
              <a:solidFill>
                <a:srgbClr val="D2454F"/>
              </a:solidFill>
            </c:spPr>
          </c:dPt>
          <c:dPt>
            <c:idx val="5"/>
            <c:spPr>
              <a:solidFill>
                <a:srgbClr val="D2454F"/>
              </a:solidFill>
            </c:spPr>
          </c:dPt>
          <c:dPt>
            <c:idx val="6"/>
            <c:spPr>
              <a:solidFill>
                <a:srgbClr val="D2454F"/>
              </a:solidFill>
            </c:spPr>
          </c:dPt>
          <c:dPt>
            <c:idx val="7"/>
            <c:spPr>
              <a:solidFill>
                <a:srgbClr val="D2454F"/>
              </a:solidFill>
            </c:spPr>
          </c:dPt>
          <c:dPt>
            <c:idx val="8"/>
            <c:spPr>
              <a:solidFill>
                <a:srgbClr val="D2454F"/>
              </a:solidFill>
            </c:spPr>
          </c:dPt>
          <c:dPt>
            <c:idx val="9"/>
            <c:spPr>
              <a:solidFill>
                <a:srgbClr val="D2454F"/>
              </a:solidFill>
            </c:spPr>
          </c:dPt>
          <c:dPt>
            <c:idx val="10"/>
            <c:spPr>
              <a:solidFill>
                <a:srgbClr val="D2454F"/>
              </a:solidFill>
            </c:spPr>
          </c:dPt>
          <c:dPt>
            <c:idx val="11"/>
            <c:spPr>
              <a:solidFill>
                <a:srgbClr val="D2454F"/>
              </a:solidFill>
            </c:spPr>
          </c:dPt>
          <c:dLbls>
            <c:dLbl>
              <c:idx val="4"/>
              <c:delete val="1"/>
            </c:dLbl>
            <c:numFmt formatCode="# ##0" sourceLinked="0"/>
            <c:txPr>
              <a:bodyPr/>
              <a:lstStyle/>
              <a:p>
                <a:pPr>
                  <a:defRPr sz="8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Sheet1!$A$2:$A$25</c:f>
              <c:strCache>
                <c:ptCount val="24"/>
                <c:pt idx="0">
                  <c:v>сен 25</c:v>
                </c:pt>
                <c:pt idx="1">
                  <c:v>окт 25</c:v>
                </c:pt>
                <c:pt idx="2">
                  <c:v>ноя 25</c:v>
                </c:pt>
                <c:pt idx="3">
                  <c:v>дек 25</c:v>
                </c:pt>
                <c:pt idx="4">
                  <c:v>янв 26</c:v>
                </c:pt>
                <c:pt idx="5">
                  <c:v>фев 26</c:v>
                </c:pt>
                <c:pt idx="6">
                  <c:v>мар 26</c:v>
                </c:pt>
                <c:pt idx="7">
                  <c:v>апр 26</c:v>
                </c:pt>
                <c:pt idx="8">
                  <c:v>май 26</c:v>
                </c:pt>
                <c:pt idx="9">
                  <c:v>июн 26</c:v>
                </c:pt>
                <c:pt idx="10">
                  <c:v>июл 26</c:v>
                </c:pt>
                <c:pt idx="11">
                  <c:v>авг 26</c:v>
                </c:pt>
                <c:pt idx="12">
                  <c:v>сен 26</c:v>
                </c:pt>
                <c:pt idx="13">
                  <c:v>окт 26</c:v>
                </c:pt>
                <c:pt idx="14">
                  <c:v>ноя 26</c:v>
                </c:pt>
                <c:pt idx="15">
                  <c:v>дек 26</c:v>
                </c:pt>
                <c:pt idx="16">
                  <c:v>янв 27</c:v>
                </c:pt>
                <c:pt idx="17">
                  <c:v>фев 27</c:v>
                </c:pt>
                <c:pt idx="18">
                  <c:v>мар 27</c:v>
                </c:pt>
                <c:pt idx="19">
                  <c:v>апр 27</c:v>
                </c:pt>
                <c:pt idx="20">
                  <c:v>май 27</c:v>
                </c:pt>
                <c:pt idx="21">
                  <c:v>июн 27</c:v>
                </c:pt>
                <c:pt idx="22">
                  <c:v>июл 27</c:v>
                </c:pt>
                <c:pt idx="23">
                  <c:v>авг 27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13.0</c:v>
                </c:pt>
                <c:pt idx="1">
                  <c:v>22.0</c:v>
                </c:pt>
                <c:pt idx="2">
                  <c:v>1.0</c:v>
                </c:pt>
                <c:pt idx="3">
                  <c:v>20.0</c:v>
                </c:pt>
                <c:pt idx="4">
                  <c:v>0</c:v>
                </c:pt>
                <c:pt idx="5">
                  <c:v>85.0</c:v>
                </c:pt>
                <c:pt idx="6">
                  <c:v>34.0</c:v>
                </c:pt>
                <c:pt idx="7">
                  <c:v>21.0</c:v>
                </c:pt>
                <c:pt idx="8">
                  <c:v>121.0</c:v>
                </c:pt>
                <c:pt idx="9">
                  <c:v>239.0</c:v>
                </c:pt>
                <c:pt idx="10">
                  <c:v>423.0</c:v>
                </c:pt>
                <c:pt idx="11">
                  <c:v>326.0</c:v>
                </c:pt>
                <c:pt idx="12">
                  <c:v>504.0</c:v>
                </c:pt>
                <c:pt idx="13">
                  <c:v>344.0</c:v>
                </c:pt>
                <c:pt idx="14">
                  <c:v>164.0</c:v>
                </c:pt>
                <c:pt idx="15">
                  <c:v>46.0</c:v>
                </c:pt>
                <c:pt idx="16">
                  <c:v>48.0</c:v>
                </c:pt>
                <c:pt idx="17">
                  <c:v>118.0</c:v>
                </c:pt>
                <c:pt idx="18">
                  <c:v>1260.0</c:v>
                </c:pt>
                <c:pt idx="19">
                  <c:v>555.0</c:v>
                </c:pt>
                <c:pt idx="20">
                  <c:v>371.0</c:v>
                </c:pt>
                <c:pt idx="21">
                  <c:v>1844.0</c:v>
                </c:pt>
                <c:pt idx="22">
                  <c:v>2.0</c:v>
                </c:pt>
                <c:pt idx="23">
                  <c:v>3.0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8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Кодов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Pt>
            <c:idx val="2"/>
            <c:spPr>
              <a:solidFill>
                <a:srgbClr val="5566C9"/>
              </a:solidFill>
            </c:spPr>
          </c:dPt>
          <c:dPt>
            <c:idx val="3"/>
            <c:spPr>
              <a:solidFill>
                <a:srgbClr val="5566C9"/>
              </a:solidFill>
            </c:spPr>
          </c:dPt>
          <c:dLbls>
            <c:numFmt formatCode="# ##0" sourceLinked="0"/>
            <c:txPr>
              <a:bodyPr/>
              <a:lstStyle/>
              <a:p>
                <a:pPr>
                  <a:defRPr sz="9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до 90 дн.</c:v>
                </c:pt>
                <c:pt idx="1">
                  <c:v>90–180</c:v>
                </c:pt>
                <c:pt idx="2">
                  <c:v>180–270</c:v>
                </c:pt>
                <c:pt idx="3">
                  <c:v>270–360</c:v>
                </c:pt>
                <c:pt idx="4">
                  <c:v>360–450</c:v>
                </c:pt>
                <c:pt idx="5">
                  <c:v>450+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68</c:v>
                </c:pt>
                <c:pt idx="2">
                  <c:v>150</c:v>
                </c:pt>
                <c:pt idx="3">
                  <c:v>228</c:v>
                </c:pt>
                <c:pt idx="4">
                  <c:v>10</c:v>
                </c:pt>
                <c:pt idx="5">
                  <c:v>4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9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C3C8C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15.258191</c:v>
                </c:pt>
                <c:pt idx="1">
                  <c:v>42.224898838247505</c:v>
                </c:pt>
                <c:pt idx="2">
                  <c:v>234.691781</c:v>
                </c:pt>
                <c:pt idx="3">
                  <c:v>601.671464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200" b="0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2027 план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79.976898</c:v>
                </c:pt>
                <c:pt idx="1">
                  <c:v>257.142294</c:v>
                </c:pt>
                <c:pt idx="2">
                  <c:v>183.325175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2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С кодом ЕКМТР</c:v>
                </c:pt>
              </c:strCache>
            </c:strRef>
          </c:tx>
          <c:spPr>
            <a:solidFill>
              <a:srgbClr val="12A06E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Неоднозначно</c:v>
                </c:pt>
              </c:strCache>
            </c:strRef>
          </c:tx>
          <c:spPr>
            <a:solidFill>
              <a:srgbClr val="E0A030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2A3138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Без кода</c:v>
                </c:pt>
              </c:strCache>
            </c:strRef>
          </c:tx>
          <c:spPr>
            <a:solidFill>
              <a:srgbClr val="D2454F"/>
            </a:solidFill>
            <a:ln w="9525">
              <a:solidFill>
                <a:srgbClr val="FFFFFF"/>
              </a:solidFill>
            </a:ln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Прайс ДП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1763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in"/>
        <c:minorTickMark val="none"/>
        <c:tickLblPos val="nextTo"/>
        <c:spPr>
          <a:ln>
            <a:solidFill>
              <a:srgbClr val="D8D8D8"/>
            </a:solidFill>
          </a:ln>
        </c:spPr>
        <c:txPr>
          <a:bodyPr/>
          <a:lstStyle/>
          <a:p>
            <a:pPr>
              <a:defRPr sz="1100" b="0">
                <a:solidFill>
                  <a:srgbClr val="2A313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one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2A313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A3138"/>
          </a:solidFill>
          <a:latin typeface="Arial"/>
        </a:defRPr>
      </a:pPr>
      <a:endParaRPr lang="en-US"/>
    </a:p>
  </c:txPr>
  <c:externalData r:id="rId1">
    <c:autoUpdate val="0"/>
  </c:externalData>
</c:chartSpac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BB09B7-6E16-42E9-860B-AFC172AC95B4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AD6C38-6262-47DC-8176-B884F3859E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5909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Презентация собрана из витрин интерактивного отчёта WK CRM (ветка grok репозитория TZ): Сводка, Парк, График · план-факт, Обеспеченность, Запасы, Закупки, Кодификация, Взаимозаменяемость, Качество данных. История заказов — выгрузки BW PM-M06 2024–2027, статусы заказов — те же выгрузки, остатки — на 14.09.2026, закупки — на 11.09.2026.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Исполнение — факт МТР и УСО к плану заказов SAP; позиции графика ППР без заказа в план не входят, у оригиналов БЕ, перенесённых копией в «Развитие», неисполненный план не учитывается. 2026 год — на 14.09.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Площадка машины — по вкладке «Парк» (TOPO/ТОРО). Книга — каталог комплектации LinkOne; у четырёх бортов книга не подтверждена листом «Тех парк». КТГ — фактический коэффициент технической готовности за январь–август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Среднее по бортам с данными, вкладка «Парк». Факт есть по август 2026 включительно. Таблица справа — среднегодовые значения по площадкам; 2026 — январь–август.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Среднее по месяцам года, вкладка «Парк». Цвет ячейки факта: зелёный — не ниже плана, янтарный — ниже до 5 п.п., красный — ниже более чем на 5 п.п. «—» — нет данных в витрине КТГ.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— МТР Полюса и МТР подрядчика (УСО) по заказам ТОРО, вкладка «График · план-факт». Позиции графика ППР без заказа SAP в план 2027 не входят (1 175 млн ₽, 770 позиций). У оригиналов БЕ с копией в «Развитии» не учтён неисполненный план: 4,2, 5,4, 10,4, 8,4 млн ₽ по годам.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МТР + УСО, млн ₽. Шкалы графиков у площадок разные — сравнивайте проценты исполнения под графиками. 2026 — на 14.09.2026.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Стадия заказа по системным и пользовательским статусам PM-06: закрыт (ЗАКР), тех. закрыт (ТЗКР, ПРСЗ, ВСБЕ), в работе (факт, подтверждения, ПРНТ, ФХСМ), деблокирован без факта и подтверждений, на согласовании (ПЛАН–СГГС). Статус — на дату годовой выгрузки. Доли — от плана в рублях.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Вид работ — по наибольшей доле плана в заказе. «Не присвоено» — заказы на компоненты (крупные узлы) без вида работ. Факт 2024–2026 и план 2027, млн 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Факт МТР + УСО по заказам ТОРО, млн ₽, по годам. Борта отсортированы по сумме за три года. Пять крупнейших — 48% всего факта: капитальные ремонты и замена ковшей, рукоятей, ходовой.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Каждый борт площадки 1100. Цвет % исполнения 2024–2025: зелёный ≥ 95%, янтарный 75–95%, красный &lt; 75%. 2026 — на 14.09.2026 и не окрашен: год не завершён, сравнивайте борта между собой.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Борта площадок 1400 и 2400. WK-35 №1222–1224 и №1228 в Сухом Логе — новые машины: заказов SAP нет, в 2027 есть только позиции графика ППР. №1228 нет в витрине «Парк».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Факт МТР по коду ЕКМТР за три года, млн ₽, вкладка «График · план-факт». Полоса — доля от крупнейшей позиции. Первые позиции — ковши, канаты, ходовая и смазки: они и определяют бюджет.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2027 по стадиям SAP на дату выгрузки, млн ₽. Позиции графика ППР без заказа (номера 1ХХХХХХХХХХХ) — не заказы: в план и потребность не включаются, показаны отдельно, чтобы был виден полный объём графика.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в заказах SAP и позиции графика ППР без заказа, млн ₽. Сортировка по плану в заказах. У новых бортов Сухого Лога заказов нет — только позиции ППР.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МТР 2027 по коду ЕКМТР (без позиций ППР), млн ₽; бортов — сколько машин несут потребность. Обеспечено — склад и закупка к сроку по расчёту вкладки «Обеспеченность» (2026–2027, количество).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открытых заказов по номенклатуре WK после правил SAP, вкладка «Обеспеченность», остатки на 14.09.2026. Сначала резервируется склад, затем закупка с датой поставки до потребности. «Опаздывает» — закупка придёт позже; «без срока» — закупка без даты или просрочена.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открытых заказов WK по площадке машины, млн ₽. Таблица — доля, покрытая складом и закупкой к сроку.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Потребность МТР 2027 открытых заказов каждого борта, млн ₽. Сортировка по непокрытой части. Борта без открытых заказов с потребностью WK не показаны.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Признак «Резерв./заявка» строк заказа: «Немедленно» — потребность сразу в ППМ; «Начиная с деблок.» — только после деблокирования заказа; «Никогда» — в заявку не попадает (справочные позиции). млн 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Крупнейшие по непокрытой стоимости позиции 2026–2027, вкладка «Обеспеченность». «Заказать до» — дата первой непокрытой потребности минус медианный фактический срок поставки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Позиции дефицита, которые ещё закрываются заказом на дату снимка: срок поставки укладывается до потребности. Это пакет «Заказать сегодня» со вкладки «Сводка» — его можно положить в заявку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Остатки номенклатуры WK на 14.09.2026, вкладка «Запасы». Ограниченный запас физически есть, но SAP запрещает его использовать. Склады без кода площадки в названии показаны как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Открытые заявки и заказы на поставку по номенклатуре WK, вкладка «Закупки», выгрузка 11.09.2026. Количества разных МТР суммированы справочно. Стоимость в выгрузке — в валюте документа (в основном ZCNY), поэтому график — в единицах. Просрочка — плановый месяц поставки раньше сентября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и факт МТР подрядчика по заказам ТОРО WK из PM-06, млн ₽; реестр — вкладка «Обеспеченность», блок УСО (258 заказов, 138 закрыто). 2026 — на 14.09.2026.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Вкладки «Каталог», «Каталог LinkOne», «Кодификация», «Взаимозаменяемость». Позиция без кода ЕКМТР не видна в истории расхода, остатках и закупке SAP — её нельзя обеспечить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Сводка по вкладке «Качество данных» и правилам расчёта. Эти оговорки влияют на цифры презентации.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Предложения по итогам анализа; сроки и ответственных нужно согласовать.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цифры воспроизводятся скриптами build/build_wk_status_data.py и build/build_wk_status_deck.py в репозитории TZ.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1.emf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1.emf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8.png"/><Relationship Id="rId9" Type="http://schemas.openxmlformats.org/officeDocument/2006/relationships/image" Target="../media/image9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5.bin"/><Relationship Id="rId5" Type="http://schemas.openxmlformats.org/officeDocument/2006/relationships/image" Target="../media/image1.emf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1.jpg"/><Relationship Id="rId5" Type="http://schemas.openxmlformats.org/officeDocument/2006/relationships/oleObject" Target="../embeddings/oleObject6.bin"/><Relationship Id="rId6" Type="http://schemas.openxmlformats.org/officeDocument/2006/relationships/image" Target="../media/image1.emf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3.jpeg"/><Relationship Id="rId5" Type="http://schemas.openxmlformats.org/officeDocument/2006/relationships/oleObject" Target="../embeddings/oleObject7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5.jpeg"/><Relationship Id="rId5" Type="http://schemas.openxmlformats.org/officeDocument/2006/relationships/oleObject" Target="../embeddings/oleObject8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6.jpeg"/><Relationship Id="rId5" Type="http://schemas.openxmlformats.org/officeDocument/2006/relationships/oleObject" Target="../embeddings/oleObject9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7.jpeg"/><Relationship Id="rId5" Type="http://schemas.openxmlformats.org/officeDocument/2006/relationships/oleObject" Target="../embeddings/oleObject10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8.png"/><Relationship Id="rId5" Type="http://schemas.openxmlformats.org/officeDocument/2006/relationships/oleObject" Target="../embeddings/oleObject11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13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19.png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0.png"/><Relationship Id="rId5" Type="http://schemas.openxmlformats.org/officeDocument/2006/relationships/oleObject" Target="../embeddings/oleObject13.bin"/><Relationship Id="rId6" Type="http://schemas.openxmlformats.org/officeDocument/2006/relationships/image" Target="../media/image1.emf"/><Relationship Id="rId7" Type="http://schemas.openxmlformats.org/officeDocument/2006/relationships/image" Target="../media/image14.pn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1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1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6.bin"/><Relationship Id="rId5" Type="http://schemas.openxmlformats.org/officeDocument/2006/relationships/image" Target="../media/image1.emf"/><Relationship Id="rId6" Type="http://schemas.openxmlformats.org/officeDocument/2006/relationships/image" Target="../media/image2.png"/><Relationship Id="rId7" Type="http://schemas.openxmlformats.org/officeDocument/2006/relationships/image" Target="../media/image21.png"/><Relationship Id="rId8" Type="http://schemas.openxmlformats.org/officeDocument/2006/relationships/image" Target="../media/image2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8.bin"/><Relationship Id="rId5" Type="http://schemas.openxmlformats.org/officeDocument/2006/relationships/image" Target="../media/image1.emf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3.png"/><Relationship Id="rId9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25A6CE9-2642-486D-A166-47D8B312C14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659189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1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17E1EA8-D672-451F-841B-75E852C3E79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3608777-01C9-42F3-B597-72716079C7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8DA627-6455-420D-AE3A-0B69F748D93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6" name="Текст 3">
            <a:extLst>
              <a:ext uri="{FF2B5EF4-FFF2-40B4-BE49-F238E27FC236}">
                <a16:creationId xmlns:a16="http://schemas.microsoft.com/office/drawing/2014/main" id="{DCCE8E5C-3BE7-495F-80A8-8717D99DF1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3EF0A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48947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2 (зеленый фон)">
    <p:bg>
      <p:bgPr>
        <a:solidFill>
          <a:srgbClr val="3EF0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8CF0ACF-A2EA-454A-B17F-84ECC23B3B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5226035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5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8CF0ACF-A2EA-454A-B17F-84ECC23B3B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72DCBFE-BB85-C645-74EF-CA3318C479D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10E66AE3-27F3-7AFB-18F8-52F53CB8E8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CB750C-4279-9189-A6DF-4E72FECDF33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769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0745FA4-B560-40AE-98EE-4E5317FF65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614485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0745FA4-B560-40AE-98EE-4E5317FF6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0107753-9097-232B-7A76-A2A6407D0F6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86201" y="0"/>
            <a:ext cx="5248798" cy="7082716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D5D360B4-4895-4A17-B046-9B85D2D9CB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2B0ACCEB-A904-45A3-BBD5-6CB8D19DAF2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283233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4 (Зеленый фон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DB6F5B8-2533-42E6-A268-1BE2F64C629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398436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DB6F5B8-2533-42E6-A268-1BE2F64C62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F84386E-836C-12E8-6C0E-94854F3FBD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alphaModFix amt="70000"/>
          </a:blip>
          <a:srcRect t="12128" b="11026"/>
          <a:stretch/>
        </p:blipFill>
        <p:spPr>
          <a:xfrm>
            <a:off x="4016837" y="-1"/>
            <a:ext cx="6611179" cy="685800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10B002-1184-5A11-4026-D5240358FED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700" y="430315"/>
            <a:ext cx="2464270" cy="1024163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BE5E1E30-FADD-4E58-80FA-7554C20E09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73150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ru-RU" sz="6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>
              <a:lnSpc>
                <a:spcPct val="80000"/>
              </a:lnSpc>
            </a:pPr>
            <a:r>
              <a:rPr lang="ru-RU" dirty="0"/>
              <a:t>Название презентации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FD6CAC8F-7CD1-46F9-9402-CB2EEDDBBE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700" y="5753100"/>
            <a:ext cx="10731500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89305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5 (Фотофон)">
    <p:bg>
      <p:bgPr>
        <a:blipFill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BDC9A468-9338-4DAF-9034-FC5B4032A6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2463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DC9A468-9338-4DAF-9034-FC5B4032A6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2472B05-73D8-DF94-126F-CD3C16C5208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0DFF97D0-0CE9-4D7C-BE16-3A9E42ED6B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1" name="Текст 3">
            <a:extLst>
              <a:ext uri="{FF2B5EF4-FFF2-40B4-BE49-F238E27FC236}">
                <a16:creationId xmlns:a16="http://schemas.microsoft.com/office/drawing/2014/main" id="{525B2515-CDCC-4650-B2A3-1F62ABF93A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</p:spTree>
    <p:extLst>
      <p:ext uri="{BB962C8B-B14F-4D97-AF65-F5344CB8AC3E}">
        <p14:creationId xmlns:p14="http://schemas.microsoft.com/office/powerpoint/2010/main" val="4101361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655699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2E0002C3-78CA-4088-AE48-E3BCFDB75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451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050819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314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520806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6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0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9382391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0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622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24324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4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5833919-5077-B29D-EB27-BED46CB5B64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052130B-3B96-41EC-A1D0-691C76C8324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ACB43A4-714B-3497-57DF-B01CC7C828A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70DB5E7F-E9AD-4CA1-8104-6363C75D28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0A696BD2-1CCE-4B67-9173-A0FC6515DB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232A9-C0D4-4F1B-B940-E638663183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328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644215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8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8144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Титульный слайд №6 (Фотофон+цвет)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C607AB8-F106-41C9-A280-6E3E0FD199E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48179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2" name="Слайд think-cell" r:id="rId5" imgW="359" imgH="360" progId="TCLayout.ActiveDocument.1">
                  <p:embed/>
                </p:oleObj>
              </mc:Choice>
              <mc:Fallback>
                <p:oleObj name="Слайд think-cell" r:id="rId5" imgW="359" imgH="36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C607AB8-F106-41C9-A280-6E3E0FD199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7FE4038-8DFA-490A-8270-5657C882B6C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38" y="0"/>
            <a:ext cx="12192000" cy="6858000"/>
          </a:xfrm>
          <a:prstGeom prst="rect">
            <a:avLst/>
          </a:prstGeom>
          <a:noFill/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8996011-2F7F-4B41-AE0C-E64B8B978E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94572" y="0"/>
            <a:ext cx="5248798" cy="708271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5C69CA-B169-46E3-B38E-4098D3FB1644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AB26F02E-71AB-44F2-B895-03D5F92D3B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00" y="2629369"/>
            <a:ext cx="10560050" cy="295664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lnSpc>
                <a:spcPct val="80000"/>
              </a:lnSpc>
              <a:defRPr sz="6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Название презентации</a:t>
            </a:r>
          </a:p>
        </p:txBody>
      </p:sp>
      <p:sp>
        <p:nvSpPr>
          <p:cNvPr id="17" name="Текст 3">
            <a:extLst>
              <a:ext uri="{FF2B5EF4-FFF2-40B4-BE49-F238E27FC236}">
                <a16:creationId xmlns:a16="http://schemas.microsoft.com/office/drawing/2014/main" id="{11FCF6EB-E008-4D91-9A37-BAFFFE3899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4699" y="5753100"/>
            <a:ext cx="10560049" cy="86836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70000"/>
              </a:lnSpc>
              <a:buNone/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Подстрочник к названию (при наличии)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66F7B37-8F2D-4D1A-B287-D72D344953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 l="26428" r="61191"/>
          <a:stretch/>
        </p:blipFill>
        <p:spPr>
          <a:xfrm>
            <a:off x="10682513" y="0"/>
            <a:ext cx="15094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2748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Внутренний слайд №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F6A53C67-CA11-427F-B20E-716016198E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798945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6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6A53C67-CA11-427F-B20E-716016198E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36D747-6178-C275-57DD-47BC7A800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914B413-8558-4E93-B00C-1EB3C7E53CE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4963" y="1003091"/>
            <a:ext cx="11522074" cy="5638440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Текст или вставка объекта</a:t>
            </a: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6FCF7C93-3BC0-A608-C384-13DA9076AD4F}"/>
              </a:ext>
            </a:extLst>
          </p:cNvPr>
          <p:cNvCxnSpPr/>
          <p:nvPr userDrawn="1"/>
        </p:nvCxnSpPr>
        <p:spPr>
          <a:xfrm>
            <a:off x="540350" y="928251"/>
            <a:ext cx="11111300" cy="0"/>
          </a:xfrm>
          <a:prstGeom prst="line">
            <a:avLst/>
          </a:prstGeom>
          <a:ln w="2540">
            <a:solidFill>
              <a:srgbClr val="293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2D963E44-E4F5-4B60-AEB8-9FB14D2D26E2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758C6BCD-6966-41FE-BAEE-34266B0E9747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60C6F9B3-2727-4376-ADE1-3792E4BB3E9C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71256E4-C037-4053-818A-D3CB6EF321B0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D7A8D426-65F3-4089-A286-D05F2517B3FC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5428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595">
          <p15:clr>
            <a:srgbClr val="FBAE40"/>
          </p15:clr>
        </p15:guide>
        <p15:guide id="6" orient="horz" pos="4178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ий слайд №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48C6DD5B-9D91-4B05-8AC1-7AEB464BB4D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281952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70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8C6DD5B-9D91-4B05-8AC1-7AEB464BB4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Объект 2">
            <a:extLst>
              <a:ext uri="{FF2B5EF4-FFF2-40B4-BE49-F238E27FC236}">
                <a16:creationId xmlns:a16="http://schemas.microsoft.com/office/drawing/2014/main" id="{F10816A5-441D-93F6-A1FA-0C88FB85D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533898"/>
            <a:ext cx="11522075" cy="6061849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A9F03720-40A5-447A-9090-5D7139CE5719}"/>
              </a:ext>
            </a:extLst>
          </p:cNvPr>
          <p:cNvGrpSpPr/>
          <p:nvPr userDrawn="1"/>
        </p:nvGrpSpPr>
        <p:grpSpPr>
          <a:xfrm>
            <a:off x="11056093" y="6687315"/>
            <a:ext cx="123877" cy="123877"/>
            <a:chOff x="8664606" y="6121154"/>
            <a:chExt cx="736846" cy="736846"/>
          </a:xfrm>
        </p:grpSpPr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754FE2E1-F87E-4986-AAD3-B01F61C72B41}"/>
                </a:ext>
              </a:extLst>
            </p:cNvPr>
            <p:cNvSpPr/>
            <p:nvPr/>
          </p:nvSpPr>
          <p:spPr>
            <a:xfrm>
              <a:off x="8664606" y="6121154"/>
              <a:ext cx="736846" cy="736846"/>
            </a:xfrm>
            <a:prstGeom prst="ellipse">
              <a:avLst/>
            </a:prstGeom>
            <a:solidFill>
              <a:srgbClr val="3CF2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4C1B39BE-8EA7-40DD-8745-4C9FC549025D}"/>
                </a:ext>
              </a:extLst>
            </p:cNvPr>
            <p:cNvSpPr/>
            <p:nvPr/>
          </p:nvSpPr>
          <p:spPr>
            <a:xfrm>
              <a:off x="8775922" y="6277783"/>
              <a:ext cx="514214" cy="423589"/>
            </a:xfrm>
            <a:custGeom>
              <a:avLst/>
              <a:gdLst>
                <a:gd name="connsiteX0" fmla="*/ 1746250 w 4201160"/>
                <a:gd name="connsiteY0" fmla="*/ 6351 h 3460751"/>
                <a:gd name="connsiteX1" fmla="*/ 2156460 w 4201160"/>
                <a:gd name="connsiteY1" fmla="*/ 6351 h 3460751"/>
                <a:gd name="connsiteX2" fmla="*/ 2550160 w 4201160"/>
                <a:gd name="connsiteY2" fmla="*/ 876301 h 3460751"/>
                <a:gd name="connsiteX3" fmla="*/ 1210310 w 4201160"/>
                <a:gd name="connsiteY3" fmla="*/ 3460751 h 3460751"/>
                <a:gd name="connsiteX4" fmla="*/ 0 w 4201160"/>
                <a:gd name="connsiteY4" fmla="*/ 3454401 h 3460751"/>
                <a:gd name="connsiteX5" fmla="*/ 3820160 w 4201160"/>
                <a:gd name="connsiteY5" fmla="*/ 0 h 3460751"/>
                <a:gd name="connsiteX6" fmla="*/ 4201160 w 4201160"/>
                <a:gd name="connsiteY6" fmla="*/ 874059 h 3460751"/>
                <a:gd name="connsiteX7" fmla="*/ 3496310 w 4201160"/>
                <a:gd name="connsiteY7" fmla="*/ 2235199 h 3460751"/>
                <a:gd name="connsiteX8" fmla="*/ 2343150 w 4201160"/>
                <a:gd name="connsiteY8" fmla="*/ 2250141 h 3460751"/>
                <a:gd name="connsiteX9" fmla="*/ 3039110 w 4201160"/>
                <a:gd name="connsiteY9" fmla="*/ 863601 h 3460751"/>
                <a:gd name="connsiteX10" fmla="*/ 2654300 w 4201160"/>
                <a:gd name="connsiteY10" fmla="*/ 6350 h 3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1160" h="3460751">
                  <a:moveTo>
                    <a:pt x="1746250" y="6351"/>
                  </a:moveTo>
                  <a:lnTo>
                    <a:pt x="2156460" y="6351"/>
                  </a:lnTo>
                  <a:lnTo>
                    <a:pt x="2550160" y="876301"/>
                  </a:lnTo>
                  <a:lnTo>
                    <a:pt x="1210310" y="3460751"/>
                  </a:lnTo>
                  <a:lnTo>
                    <a:pt x="0" y="3454401"/>
                  </a:lnTo>
                  <a:close/>
                  <a:moveTo>
                    <a:pt x="3820160" y="0"/>
                  </a:moveTo>
                  <a:lnTo>
                    <a:pt x="4201160" y="874059"/>
                  </a:lnTo>
                  <a:lnTo>
                    <a:pt x="3496310" y="2235199"/>
                  </a:lnTo>
                  <a:lnTo>
                    <a:pt x="2343150" y="2250141"/>
                  </a:lnTo>
                  <a:lnTo>
                    <a:pt x="3039110" y="863601"/>
                  </a:lnTo>
                  <a:lnTo>
                    <a:pt x="2654300" y="6350"/>
                  </a:lnTo>
                  <a:close/>
                </a:path>
              </a:pathLst>
            </a:custGeom>
            <a:solidFill>
              <a:srgbClr val="0000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ru-RU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8BB6117C-7CF8-4E67-9FCF-9051F4CF8AAD}"/>
              </a:ext>
            </a:extLst>
          </p:cNvPr>
          <p:cNvSpPr txBox="1"/>
          <p:nvPr userDrawn="1"/>
        </p:nvSpPr>
        <p:spPr>
          <a:xfrm>
            <a:off x="11118032" y="6641531"/>
            <a:ext cx="81044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800" b="1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РАЗВИТИЕ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75ED43A8-C0BF-4053-98E4-977C6AD7D55D}"/>
              </a:ext>
            </a:extLst>
          </p:cNvPr>
          <p:cNvSpPr txBox="1">
            <a:spLocks/>
          </p:cNvSpPr>
          <p:nvPr userDrawn="1"/>
        </p:nvSpPr>
        <p:spPr>
          <a:xfrm>
            <a:off x="11512697" y="6566691"/>
            <a:ext cx="6793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F8B3EF-6FCB-5342-834B-72C623FC3BE6}" type="slidenum">
              <a:rPr lang="en-RU" sz="800" smtClean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/>
              <a:t>‹#›</a:t>
            </a:fld>
            <a:endParaRPr lang="en-RU" sz="800" dirty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45D370C2-EE74-4E02-BECD-714A3B994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-10269"/>
            <a:ext cx="11522075" cy="544168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810096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-разделитель">
    <p:bg>
      <p:bgPr>
        <a:solidFill>
          <a:srgbClr val="2931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8E577BB-A2F4-4685-95FC-C6378065F10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590920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4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8E577BB-A2F4-4685-95FC-C6378065F1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55F7FA1-2F5D-03ED-F04A-E9F6B60D8FF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22ADBB-BC54-5D04-A3BB-76BE67567F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90375" y="3917092"/>
            <a:ext cx="3816178" cy="2940908"/>
          </a:xfrm>
          <a:prstGeom prst="rect">
            <a:avLst/>
          </a:prstGeom>
        </p:spPr>
        <p:txBody>
          <a:bodyPr vert="horz" anchor="b">
            <a:noAutofit/>
          </a:bodyPr>
          <a:lstStyle>
            <a:lvl1pPr algn="r">
              <a:defRPr sz="20000">
                <a:solidFill>
                  <a:srgbClr val="B3BDDA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ru-RU" dirty="0"/>
              <a:t>01.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CE2A75F-C987-C85D-2664-9EC11F26D9A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4113" y="5778097"/>
            <a:ext cx="595699" cy="595699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EAD114CF-9245-35E9-4C0F-A1DAA61E28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113" y="617538"/>
            <a:ext cx="10832439" cy="67644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70000"/>
              </a:lnSpc>
              <a:buNone/>
              <a:defRPr sz="36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Название раздела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8391D41E-AFF0-6BB7-1DA7-89FB467F73F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4113" y="1377828"/>
            <a:ext cx="5521887" cy="3078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4572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  <a:latin typeface="Aeonik Pro TRIAL" panose="020B0503030300000000" pitchFamily="34" charset="0"/>
              </a:defRPr>
            </a:lvl5pPr>
          </a:lstStyle>
          <a:p>
            <a:pPr lvl="0"/>
            <a:r>
              <a:rPr lang="ru-RU" dirty="0"/>
              <a:t>Описание раздела (при наличии), например, его содержание или подпись </a:t>
            </a:r>
          </a:p>
        </p:txBody>
      </p:sp>
    </p:spTree>
    <p:extLst>
      <p:ext uri="{BB962C8B-B14F-4D97-AF65-F5344CB8AC3E}">
        <p14:creationId xmlns:p14="http://schemas.microsoft.com/office/powerpoint/2010/main" val="19306169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6146577-AE95-4234-A829-50A15A76089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837348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8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6146577-AE95-4234-A829-50A15A76089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C4F3716-7ABD-CFBE-8B4B-32F823FC3CD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4074289"/>
            <a:ext cx="6291805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6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Спасибо </a:t>
            </a:r>
          </a:p>
          <a:p>
            <a:pPr lvl="0"/>
            <a:r>
              <a:rPr lang="ru-RU" dirty="0"/>
              <a:t>за внимание!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E3BD787A-FE5B-9333-1134-452F81E9AB9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927312" y="5935761"/>
            <a:ext cx="3707334" cy="359156"/>
          </a:xfrm>
          <a:prstGeom prst="rect">
            <a:avLst/>
          </a:prstGeom>
        </p:spPr>
        <p:txBody>
          <a:bodyPr anchor="b"/>
          <a:lstStyle>
            <a:lvl1pPr algn="r">
              <a:defRPr sz="14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Москва, 2024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54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(контакты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3F0C41D-57CC-4A04-85ED-2BCB1FCBE3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510517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2" name="Слайд think-cell" r:id="rId4" imgW="359" imgH="360" progId="TCLayout.ActiveDocument.1">
                  <p:embed/>
                </p:oleObj>
              </mc:Choice>
              <mc:Fallback>
                <p:oleObj name="Слайд think-cell" r:id="rId4" imgW="359" imgH="360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3F0C41D-57CC-4A04-85ED-2BCB1FCBE3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8B18E58-6FF1-94FE-D60C-7B098B2B20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1559" b="11559"/>
          <a:stretch/>
        </p:blipFill>
        <p:spPr>
          <a:xfrm>
            <a:off x="4036715" y="-1"/>
            <a:ext cx="6610447" cy="6858001"/>
          </a:xfrm>
          <a:prstGeom prst="rect">
            <a:avLst/>
          </a:prstGeom>
        </p:spPr>
      </p:pic>
      <p:sp>
        <p:nvSpPr>
          <p:cNvPr id="10" name="Текст 9">
            <a:extLst>
              <a:ext uri="{FF2B5EF4-FFF2-40B4-BE49-F238E27FC236}">
                <a16:creationId xmlns:a16="http://schemas.microsoft.com/office/drawing/2014/main" id="{82A42826-FC98-95C6-EF85-491190F24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5138" y="402101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1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38B74350-96C2-5C61-0E3E-43B2BD656D4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5138" y="430315"/>
            <a:ext cx="2464270" cy="10241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E59C88-1BF8-B356-19C5-AF2F39CEB86C}"/>
              </a:ext>
            </a:extLst>
          </p:cNvPr>
          <p:cNvSpPr txBox="1"/>
          <p:nvPr userDrawn="1"/>
        </p:nvSpPr>
        <p:spPr>
          <a:xfrm>
            <a:off x="8774703" y="5962692"/>
            <a:ext cx="2648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/>
            <a:r>
              <a:rPr lang="en-GB" sz="1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WWW.RAZVITIYE.RU</a:t>
            </a:r>
            <a:endParaRPr lang="ru-RU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5" name="Текст 9">
            <a:extLst>
              <a:ext uri="{FF2B5EF4-FFF2-40B4-BE49-F238E27FC236}">
                <a16:creationId xmlns:a16="http://schemas.microsoft.com/office/drawing/2014/main" id="{62328D92-94C2-7A57-5B44-EE7105BB60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36349" y="4022545"/>
            <a:ext cx="3276600" cy="2272372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marL="0" indent="0" algn="l">
              <a:lnSpc>
                <a:spcPct val="80000"/>
              </a:lnSpc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Блок с контактами </a:t>
            </a:r>
            <a:r>
              <a:rPr lang="en-GB" dirty="0"/>
              <a:t>2 </a:t>
            </a:r>
          </a:p>
          <a:p>
            <a:pPr lvl="0"/>
            <a:r>
              <a:rPr lang="ru-RU" dirty="0"/>
              <a:t>+7 999 234-56-78</a:t>
            </a:r>
          </a:p>
          <a:p>
            <a:pPr lvl="0"/>
            <a:r>
              <a:rPr lang="ru-RU" dirty="0" err="1"/>
              <a:t>i</a:t>
            </a:r>
            <a:r>
              <a:rPr lang="en-GB" dirty="0" err="1"/>
              <a:t>nfo@mail.ru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02043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vmlDrawing" Target="../drawings/vmlDrawing1.vml"/><Relationship Id="rId20" Type="http://schemas.openxmlformats.org/officeDocument/2006/relationships/tags" Target="../tags/tag2.xml"/><Relationship Id="rId21" Type="http://schemas.openxmlformats.org/officeDocument/2006/relationships/oleObject" Target="../embeddings/oleObject1.bin"/><Relationship Id="rId2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BE4D52E-C9E9-427F-A401-79B11E674DB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0"/>
            </p:custDataLst>
            <p:extLst>
              <p:ext uri="{D42A27DB-BD31-4B8C-83A1-F6EECF244321}">
                <p14:modId xmlns:p14="http://schemas.microsoft.com/office/powerpoint/2010/main" val="30670209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7" name="Слайд think-cell" r:id="rId21" imgW="359" imgH="360" progId="TCLayout.ActiveDocument.1">
                  <p:embed/>
                </p:oleObj>
              </mc:Choice>
              <mc:Fallback>
                <p:oleObj name="Слайд think-cell" r:id="rId21" imgW="359" imgH="36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D787A43-ACEA-4E8D-96C1-D23CF3BE4AE6}"/>
              </a:ext>
            </a:extLst>
          </p:cNvPr>
          <p:cNvSpPr/>
          <p:nvPr userDrawn="1"/>
        </p:nvSpPr>
        <p:spPr>
          <a:xfrm>
            <a:off x="-1343690" y="3164208"/>
            <a:ext cx="1201480" cy="540000"/>
          </a:xfrm>
          <a:prstGeom prst="rect">
            <a:avLst/>
          </a:prstGeom>
          <a:solidFill>
            <a:srgbClr val="214C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#214C3B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3C59518-5F6C-47B6-85A3-FE4CF327001C}"/>
              </a:ext>
            </a:extLst>
          </p:cNvPr>
          <p:cNvSpPr/>
          <p:nvPr userDrawn="1"/>
        </p:nvSpPr>
        <p:spPr>
          <a:xfrm>
            <a:off x="-1343690" y="2533450"/>
            <a:ext cx="1201480" cy="5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#F5F5F5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A011856-2F03-4B82-BE5A-B2E9CE894347}"/>
              </a:ext>
            </a:extLst>
          </p:cNvPr>
          <p:cNvSpPr/>
          <p:nvPr userDrawn="1"/>
        </p:nvSpPr>
        <p:spPr>
          <a:xfrm>
            <a:off x="-1343690" y="10418"/>
            <a:ext cx="1201480" cy="540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#3EF0AF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9B896-79A5-4B6C-AFEA-0B783B15C6D7}"/>
              </a:ext>
            </a:extLst>
          </p:cNvPr>
          <p:cNvSpPr/>
          <p:nvPr userDrawn="1"/>
        </p:nvSpPr>
        <p:spPr>
          <a:xfrm>
            <a:off x="-1343690" y="1271934"/>
            <a:ext cx="1201480" cy="540000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#2A3138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16FA57B-58CF-432C-B479-8C2B3503E772}"/>
              </a:ext>
            </a:extLst>
          </p:cNvPr>
          <p:cNvSpPr/>
          <p:nvPr userDrawn="1"/>
        </p:nvSpPr>
        <p:spPr>
          <a:xfrm>
            <a:off x="-1343690" y="4425724"/>
            <a:ext cx="1201480" cy="540000"/>
          </a:xfrm>
          <a:prstGeom prst="rect">
            <a:avLst/>
          </a:prstGeom>
          <a:solidFill>
            <a:srgbClr val="7E83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#7E83FA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AE792A6-FD87-44EA-873B-8E40FAC5C9ED}"/>
              </a:ext>
            </a:extLst>
          </p:cNvPr>
          <p:cNvSpPr/>
          <p:nvPr userDrawn="1"/>
        </p:nvSpPr>
        <p:spPr>
          <a:xfrm>
            <a:off x="-1343690" y="5687240"/>
            <a:ext cx="1201480" cy="540000"/>
          </a:xfrm>
          <a:prstGeom prst="rect">
            <a:avLst/>
          </a:prstGeom>
          <a:solidFill>
            <a:srgbClr val="83DC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#83DCDF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70CFC79-495C-46DA-A7B2-96D497CE5DF5}"/>
              </a:ext>
            </a:extLst>
          </p:cNvPr>
          <p:cNvSpPr/>
          <p:nvPr userDrawn="1"/>
        </p:nvSpPr>
        <p:spPr>
          <a:xfrm>
            <a:off x="-1343690" y="6318000"/>
            <a:ext cx="1201480" cy="540000"/>
          </a:xfrm>
          <a:prstGeom prst="rect">
            <a:avLst/>
          </a:prstGeom>
          <a:solidFill>
            <a:srgbClr val="B3BD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#B3BDDC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C38A6F-5170-4F97-A74A-C522981794CB}"/>
              </a:ext>
            </a:extLst>
          </p:cNvPr>
          <p:cNvSpPr/>
          <p:nvPr userDrawn="1"/>
        </p:nvSpPr>
        <p:spPr>
          <a:xfrm>
            <a:off x="-1343690" y="5056482"/>
            <a:ext cx="1201480" cy="540000"/>
          </a:xfrm>
          <a:prstGeom prst="rect">
            <a:avLst/>
          </a:prstGeom>
          <a:solidFill>
            <a:srgbClr val="53F3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#53F3F3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48AFC98-3137-4786-8C58-9E67E6465872}"/>
              </a:ext>
            </a:extLst>
          </p:cNvPr>
          <p:cNvSpPr/>
          <p:nvPr userDrawn="1"/>
        </p:nvSpPr>
        <p:spPr>
          <a:xfrm>
            <a:off x="-1343690" y="3794966"/>
            <a:ext cx="1201480" cy="540000"/>
          </a:xfrm>
          <a:prstGeom prst="rect">
            <a:avLst/>
          </a:prstGeom>
          <a:solidFill>
            <a:srgbClr val="B668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#B668E4</a:t>
            </a:r>
            <a:endParaRPr lang="ru-RU" sz="105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9A6C4903-18D9-47AD-860F-596D47DC28B5}"/>
              </a:ext>
            </a:extLst>
          </p:cNvPr>
          <p:cNvSpPr/>
          <p:nvPr userDrawn="1"/>
        </p:nvSpPr>
        <p:spPr>
          <a:xfrm>
            <a:off x="-1343690" y="641176"/>
            <a:ext cx="1201480" cy="540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#05080E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1151D00-56B0-4154-9D17-C5E1DD3F3807}"/>
              </a:ext>
            </a:extLst>
          </p:cNvPr>
          <p:cNvSpPr/>
          <p:nvPr userDrawn="1"/>
        </p:nvSpPr>
        <p:spPr>
          <a:xfrm>
            <a:off x="-1343690" y="1902692"/>
            <a:ext cx="1201480" cy="540000"/>
          </a:xfrm>
          <a:prstGeom prst="rect">
            <a:avLst/>
          </a:prstGeom>
          <a:solidFill>
            <a:srgbClr val="8086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0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#80868B</a:t>
            </a:r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C1CA98-945C-4501-9BDB-CFBE3B297AA8}"/>
              </a:ext>
            </a:extLst>
          </p:cNvPr>
          <p:cNvSpPr txBox="1"/>
          <p:nvPr userDrawn="1"/>
        </p:nvSpPr>
        <p:spPr>
          <a:xfrm rot="16200000">
            <a:off x="-3213032" y="1559283"/>
            <a:ext cx="34055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Ключевые цвета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024FEE-F3B8-49B4-983F-DC4887C9F12C}"/>
              </a:ext>
            </a:extLst>
          </p:cNvPr>
          <p:cNvSpPr txBox="1"/>
          <p:nvPr userDrawn="1"/>
        </p:nvSpPr>
        <p:spPr>
          <a:xfrm rot="16200000">
            <a:off x="-3213033" y="5001359"/>
            <a:ext cx="34055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Вспомогательные цвета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A4E508-6528-478F-8E07-FC454F171EE2}"/>
              </a:ext>
            </a:extLst>
          </p:cNvPr>
          <p:cNvSpPr/>
          <p:nvPr userDrawn="1"/>
        </p:nvSpPr>
        <p:spPr>
          <a:xfrm>
            <a:off x="-1664167" y="-38101"/>
            <a:ext cx="1575932" cy="31313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E98BEE3-0784-4A43-A63C-AD8515D468B7}"/>
              </a:ext>
            </a:extLst>
          </p:cNvPr>
          <p:cNvSpPr/>
          <p:nvPr userDrawn="1"/>
        </p:nvSpPr>
        <p:spPr>
          <a:xfrm>
            <a:off x="-1664167" y="3141764"/>
            <a:ext cx="1575932" cy="375433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28A5332-96F7-439A-BC2B-C998714A2F91}"/>
              </a:ext>
            </a:extLst>
          </p:cNvPr>
          <p:cNvSpPr/>
          <p:nvPr userDrawn="1"/>
        </p:nvSpPr>
        <p:spPr>
          <a:xfrm rot="16200000">
            <a:off x="6236893" y="-456789"/>
            <a:ext cx="333373" cy="504000"/>
          </a:xfrm>
          <a:prstGeom prst="rect">
            <a:avLst/>
          </a:prstGeom>
          <a:solidFill>
            <a:srgbClr val="05080E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18E93F0-4AC8-4DEC-8E9F-3F74536215CF}"/>
              </a:ext>
            </a:extLst>
          </p:cNvPr>
          <p:cNvSpPr/>
          <p:nvPr userDrawn="1"/>
        </p:nvSpPr>
        <p:spPr>
          <a:xfrm rot="16200000">
            <a:off x="6852051" y="-456789"/>
            <a:ext cx="333373" cy="504000"/>
          </a:xfrm>
          <a:prstGeom prst="rect">
            <a:avLst/>
          </a:prstGeom>
          <a:solidFill>
            <a:srgbClr val="05080E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1093867-12CB-4B4F-83D8-E5D767982016}"/>
              </a:ext>
            </a:extLst>
          </p:cNvPr>
          <p:cNvSpPr/>
          <p:nvPr userDrawn="1"/>
        </p:nvSpPr>
        <p:spPr>
          <a:xfrm rot="16200000">
            <a:off x="7467209" y="-456789"/>
            <a:ext cx="333373" cy="504000"/>
          </a:xfrm>
          <a:prstGeom prst="rect">
            <a:avLst/>
          </a:prstGeom>
          <a:solidFill>
            <a:srgbClr val="05080E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8AE2343-019C-4192-9D2B-A43117BBF96C}"/>
              </a:ext>
            </a:extLst>
          </p:cNvPr>
          <p:cNvSpPr/>
          <p:nvPr userDrawn="1"/>
        </p:nvSpPr>
        <p:spPr>
          <a:xfrm rot="16200000">
            <a:off x="8082367" y="-456789"/>
            <a:ext cx="333373" cy="504000"/>
          </a:xfrm>
          <a:prstGeom prst="rect">
            <a:avLst/>
          </a:prstGeom>
          <a:solidFill>
            <a:srgbClr val="05080E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3192A3F-1803-422F-8609-643FB76C4B70}"/>
              </a:ext>
            </a:extLst>
          </p:cNvPr>
          <p:cNvSpPr/>
          <p:nvPr userDrawn="1"/>
        </p:nvSpPr>
        <p:spPr>
          <a:xfrm rot="16200000">
            <a:off x="8697525" y="-456789"/>
            <a:ext cx="333373" cy="504000"/>
          </a:xfrm>
          <a:prstGeom prst="rect">
            <a:avLst/>
          </a:prstGeom>
          <a:solidFill>
            <a:srgbClr val="05080E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97BDA31-60D9-4792-96AE-BFC4C140D285}"/>
              </a:ext>
            </a:extLst>
          </p:cNvPr>
          <p:cNvSpPr/>
          <p:nvPr userDrawn="1"/>
        </p:nvSpPr>
        <p:spPr>
          <a:xfrm rot="16200000">
            <a:off x="9312683" y="-456789"/>
            <a:ext cx="333373" cy="504000"/>
          </a:xfrm>
          <a:prstGeom prst="rect">
            <a:avLst/>
          </a:prstGeom>
          <a:solidFill>
            <a:srgbClr val="05080E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5FBBFFE-4FDF-478E-B0BB-BA7E899C78C7}"/>
              </a:ext>
            </a:extLst>
          </p:cNvPr>
          <p:cNvSpPr/>
          <p:nvPr userDrawn="1"/>
        </p:nvSpPr>
        <p:spPr>
          <a:xfrm rot="16200000">
            <a:off x="9927841" y="-456789"/>
            <a:ext cx="333373" cy="504000"/>
          </a:xfrm>
          <a:prstGeom prst="rect">
            <a:avLst/>
          </a:prstGeom>
          <a:solidFill>
            <a:srgbClr val="05080E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9E071C1-2CB4-4D5A-8CC6-C75B1CD72525}"/>
              </a:ext>
            </a:extLst>
          </p:cNvPr>
          <p:cNvSpPr/>
          <p:nvPr userDrawn="1"/>
        </p:nvSpPr>
        <p:spPr>
          <a:xfrm rot="16200000">
            <a:off x="10542999" y="-456789"/>
            <a:ext cx="333373" cy="504000"/>
          </a:xfrm>
          <a:prstGeom prst="rect">
            <a:avLst/>
          </a:prstGeom>
          <a:solidFill>
            <a:srgbClr val="05080E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1DA9D7-2BFF-4882-BFB4-19DB95ED9B0C}"/>
              </a:ext>
            </a:extLst>
          </p:cNvPr>
          <p:cNvSpPr/>
          <p:nvPr userDrawn="1"/>
        </p:nvSpPr>
        <p:spPr>
          <a:xfrm rot="16200000">
            <a:off x="11158157" y="-456789"/>
            <a:ext cx="333373" cy="504000"/>
          </a:xfrm>
          <a:prstGeom prst="rect">
            <a:avLst/>
          </a:prstGeom>
          <a:solidFill>
            <a:srgbClr val="05080E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529A71B2-7155-4700-B9AD-63391A6CAE48}"/>
              </a:ext>
            </a:extLst>
          </p:cNvPr>
          <p:cNvSpPr/>
          <p:nvPr userDrawn="1"/>
        </p:nvSpPr>
        <p:spPr>
          <a:xfrm rot="16200000">
            <a:off x="11773313" y="-456789"/>
            <a:ext cx="333373" cy="504000"/>
          </a:xfrm>
          <a:prstGeom prst="rect">
            <a:avLst/>
          </a:prstGeom>
          <a:solidFill>
            <a:srgbClr val="0508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C96C393-737B-41F0-B346-B2ABC0D83F42}"/>
              </a:ext>
            </a:extLst>
          </p:cNvPr>
          <p:cNvSpPr/>
          <p:nvPr userDrawn="1"/>
        </p:nvSpPr>
        <p:spPr>
          <a:xfrm rot="5400000">
            <a:off x="5621735" y="-456789"/>
            <a:ext cx="333373" cy="504000"/>
          </a:xfrm>
          <a:prstGeom prst="rect">
            <a:avLst/>
          </a:prstGeom>
          <a:solidFill>
            <a:srgbClr val="3EF0A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6B1318B0-BB02-4019-89A3-75095BB01F00}"/>
              </a:ext>
            </a:extLst>
          </p:cNvPr>
          <p:cNvSpPr/>
          <p:nvPr userDrawn="1"/>
        </p:nvSpPr>
        <p:spPr>
          <a:xfrm rot="5400000">
            <a:off x="5006577" y="-456789"/>
            <a:ext cx="333373" cy="504000"/>
          </a:xfrm>
          <a:prstGeom prst="rect">
            <a:avLst/>
          </a:prstGeom>
          <a:solidFill>
            <a:srgbClr val="3EF0A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5B9935E-3645-48CE-9881-73D6E9E6CDC8}"/>
              </a:ext>
            </a:extLst>
          </p:cNvPr>
          <p:cNvSpPr/>
          <p:nvPr userDrawn="1"/>
        </p:nvSpPr>
        <p:spPr>
          <a:xfrm rot="5400000">
            <a:off x="4391419" y="-456789"/>
            <a:ext cx="333373" cy="504000"/>
          </a:xfrm>
          <a:prstGeom prst="rect">
            <a:avLst/>
          </a:prstGeom>
          <a:solidFill>
            <a:srgbClr val="3EF0A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2DD01A44-DC87-4D56-95E1-ADB7A247626C}"/>
              </a:ext>
            </a:extLst>
          </p:cNvPr>
          <p:cNvSpPr/>
          <p:nvPr userDrawn="1"/>
        </p:nvSpPr>
        <p:spPr>
          <a:xfrm rot="5400000">
            <a:off x="3776261" y="-456789"/>
            <a:ext cx="333373" cy="504000"/>
          </a:xfrm>
          <a:prstGeom prst="rect">
            <a:avLst/>
          </a:prstGeom>
          <a:solidFill>
            <a:srgbClr val="3EF0A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0F351D3-5190-4645-A3BF-A0B8585A7446}"/>
              </a:ext>
            </a:extLst>
          </p:cNvPr>
          <p:cNvSpPr/>
          <p:nvPr userDrawn="1"/>
        </p:nvSpPr>
        <p:spPr>
          <a:xfrm rot="5400000">
            <a:off x="3161103" y="-456789"/>
            <a:ext cx="333373" cy="504000"/>
          </a:xfrm>
          <a:prstGeom prst="rect">
            <a:avLst/>
          </a:prstGeom>
          <a:solidFill>
            <a:srgbClr val="3EF0A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E038461-4DFC-4935-A9E2-E2E4E40DD2F8}"/>
              </a:ext>
            </a:extLst>
          </p:cNvPr>
          <p:cNvSpPr/>
          <p:nvPr userDrawn="1"/>
        </p:nvSpPr>
        <p:spPr>
          <a:xfrm rot="5400000">
            <a:off x="2545945" y="-456789"/>
            <a:ext cx="333373" cy="504000"/>
          </a:xfrm>
          <a:prstGeom prst="rect">
            <a:avLst/>
          </a:prstGeom>
          <a:solidFill>
            <a:srgbClr val="3EF0A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2EE85FFB-78B7-43A2-87AC-8664BFCBF67C}"/>
              </a:ext>
            </a:extLst>
          </p:cNvPr>
          <p:cNvSpPr/>
          <p:nvPr userDrawn="1"/>
        </p:nvSpPr>
        <p:spPr>
          <a:xfrm rot="5400000">
            <a:off x="1930787" y="-456789"/>
            <a:ext cx="333373" cy="504000"/>
          </a:xfrm>
          <a:prstGeom prst="rect">
            <a:avLst/>
          </a:prstGeom>
          <a:solidFill>
            <a:srgbClr val="3EF0A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FA6C2CB7-43F9-4A90-B615-C0CBB5342376}"/>
              </a:ext>
            </a:extLst>
          </p:cNvPr>
          <p:cNvSpPr/>
          <p:nvPr userDrawn="1"/>
        </p:nvSpPr>
        <p:spPr>
          <a:xfrm rot="5400000">
            <a:off x="1315629" y="-456789"/>
            <a:ext cx="333373" cy="504000"/>
          </a:xfrm>
          <a:prstGeom prst="rect">
            <a:avLst/>
          </a:prstGeom>
          <a:solidFill>
            <a:srgbClr val="3EF0A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47655E81-F847-4C11-8031-44AE7D4F3294}"/>
              </a:ext>
            </a:extLst>
          </p:cNvPr>
          <p:cNvSpPr/>
          <p:nvPr userDrawn="1"/>
        </p:nvSpPr>
        <p:spPr>
          <a:xfrm rot="5400000">
            <a:off x="700471" y="-456789"/>
            <a:ext cx="333373" cy="504000"/>
          </a:xfrm>
          <a:prstGeom prst="rect">
            <a:avLst/>
          </a:prstGeom>
          <a:solidFill>
            <a:srgbClr val="3EF0AF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145AECB8-3745-42ED-A62B-5BC08BC58197}"/>
              </a:ext>
            </a:extLst>
          </p:cNvPr>
          <p:cNvSpPr/>
          <p:nvPr userDrawn="1"/>
        </p:nvSpPr>
        <p:spPr>
          <a:xfrm rot="5400000">
            <a:off x="85313" y="-456789"/>
            <a:ext cx="333373" cy="504000"/>
          </a:xfrm>
          <a:prstGeom prst="rect">
            <a:avLst/>
          </a:prstGeom>
          <a:solidFill>
            <a:srgbClr val="3EF0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lvl="0"/>
            <a:endParaRPr lang="ru-RU" sz="105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7756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2651760"/>
            <a:ext cx="5120640" cy="2926080"/>
          </a:xfrm>
        </p:spPr>
        <p:txBody>
          <a:bodyPr/>
          <a:lstStyle/>
          <a:p>
            <a:r>
              <a:rPr sz="3400"/>
              <a:t>Экскаваторы WK:</a:t>
            </a:r>
          </a:p>
          <a:p>
            <a:r>
              <a:rPr sz="3400"/>
              <a:t>исполнение 2024–2026</a:t>
            </a:r>
          </a:p>
          <a:p>
            <a:r>
              <a:rPr sz="3400"/>
              <a:t>и план 2027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>
          <a:xfrm>
            <a:off x="777240" y="5751576"/>
            <a:ext cx="5120640" cy="868680"/>
          </a:xfrm>
        </p:spPr>
        <p:txBody>
          <a:bodyPr/>
          <a:lstStyle/>
          <a:p>
            <a:r>
              <a:t>Данные на 14.09.2026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Главное на одной странице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28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бортов WK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 площадки · WK-20, WK-20C, WK-35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163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0451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факт 2,78 из 2,96 млрд 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377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665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104%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факт 3,74 из 3,58 млрд 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879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54%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исполнение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на 14.09.2026: 2,13 из 3,96 млрд 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805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093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2,78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млрд ₽ — план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+ 1,18 млрд ₽ позиций ППР без заказа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50196" y="1124712"/>
            <a:ext cx="1699260" cy="1417320"/>
          </a:xfrm>
          <a:prstGeom prst="roundRect">
            <a:avLst>
              <a:gd name="adj" fmla="val 103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33076" y="1216152"/>
            <a:ext cx="13335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D2454F"/>
                </a:solidFill>
                <a:latin typeface="Arial"/>
              </a:rPr>
              <a:t>61%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обеспеченность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не покрыто 745 млн ₽; 2026 — 99%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2770632"/>
            <a:ext cx="11109960" cy="310896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301752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62456" y="290779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2024–2025 выполнены.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Факт 94% и 104% плана; закрыто технически и коммерчески 81% и 85% плана.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" y="3749039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2456" y="363931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2026 отстаёт от календаря.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К середине сентября освоено 54%. 604 млн ₽ деблокированы без факта, 1 119 млн ₽ ещё на согласовании.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" y="4480559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62456" y="4370831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Затраты сосредоточены.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Пять бортов — WK-35 №04, WK-35 №06, WK-35 №07 и ещё два — дали 48% факта 2024–2026.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" y="521208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62456" y="5102352"/>
            <a:ext cx="10012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2027 — главный риск по МТР.</a:t>
            </a:r>
            <a:r>
              <a:rPr sz="1400" b="0" i="0">
                <a:solidFill>
                  <a:srgbClr val="2A3138"/>
                </a:solidFill>
                <a:latin typeface="Arial"/>
              </a:rPr>
              <a:t> Не покрыто 745 млн ₽; 1 184 млн ₽ потребности закупка не видит до деблокирования заказов. Медианный срок поставки — 276 дней.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Парк и готовность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 экскаваторов на трёх площадках, КТГ по годам, месяцам и бортам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Парк WK по площадкам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949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Красноярск / Еруда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4 · WK-35 ×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6265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693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295144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99816" y="2318003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510296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99816" y="2533156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725449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№8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99816" y="2748309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940602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№09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99816" y="2963462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155755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99816" y="3178615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370908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99816" y="3393768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586061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99816" y="3608921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801214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№07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K1839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99816" y="3824074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016367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№10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99816" y="4039227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231520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99816" y="4254380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4446673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99816" y="4469533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" y="4661826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K1866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099816" y="4684686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" y="4876979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99816" y="4899839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5092132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99816" y="5114992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" y="5307285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K1849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099816" y="5330145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5522438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№17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K1853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99816" y="5545298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" y="5737591"/>
            <a:ext cx="2240280" cy="2151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№18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K1853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99816" y="5760451"/>
            <a:ext cx="731520" cy="169432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3425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33425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3425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6285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Магадан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2 · WK-20C ×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5741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6285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1169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62856" y="229514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94576" y="2318003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78%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62856" y="2519172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№2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94576" y="2542032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86%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62856" y="2743200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№3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94576" y="2766060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62856" y="2967227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№4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94576" y="2990087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91%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62856" y="3191256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№5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894576" y="3214115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92%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62856" y="341528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№6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K1637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894576" y="3438144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93%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2901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29016" y="1124712"/>
            <a:ext cx="3520440" cy="868680"/>
          </a:xfrm>
          <a:prstGeom prst="roundRect">
            <a:avLst>
              <a:gd name="adj" fmla="val 1894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29016" y="1627631"/>
            <a:ext cx="3520440" cy="365760"/>
          </a:xfrm>
          <a:prstGeom prst="rect">
            <a:avLst/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7616" y="1170432"/>
            <a:ext cx="22402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Сухой Лог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D8D8D8"/>
                </a:solidFill>
                <a:latin typeface="Arial"/>
              </a:rPr>
              <a:t>WK-20 × 1 · WK-20C × 1 · WK-35 × 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52176" y="1170432"/>
            <a:ext cx="91440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spcAft>
                <a:spcPts val="400"/>
              </a:spcAft>
              <a:buNone/>
            </a:pPr>
            <a:r>
              <a:rPr sz="3000" b="1" i="0">
                <a:solidFill>
                  <a:srgbClr val="3EF0AF"/>
                </a:solidFill>
                <a:latin typeface="Arial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57616" y="2066543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Борт · книга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06456" y="2066543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КТГ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57616" y="2295144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 №1220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K1626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689336" y="2318003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57616" y="2519172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WK-20C №1221</a:t>
            </a:r>
            <a:r>
              <a:rPr sz="900" b="0" i="0">
                <a:solidFill>
                  <a:srgbClr val="5B6167"/>
                </a:solidFill>
                <a:latin typeface="Arial"/>
              </a:rPr>
              <a:t>  K1641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689336" y="2542032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900" b="1" i="0">
                <a:solidFill>
                  <a:srgbClr val="2A3138"/>
                </a:solidFill>
                <a:latin typeface="Arial"/>
              </a:rPr>
              <a:t>88%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57616" y="2743200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№1222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0689336" y="2766060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57616" y="2967227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№1223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689336" y="2990087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57616" y="3191256"/>
            <a:ext cx="2240280" cy="2240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WK-35 №1224</a:t>
            </a:r>
            <a:r>
              <a:rPr sz="900" b="0" i="0">
                <a:solidFill>
                  <a:srgbClr val="D2454F"/>
                </a:solidFill>
                <a:latin typeface="Arial"/>
              </a:rPr>
              <a:t>  нет книги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0689336" y="3214115"/>
            <a:ext cx="731520" cy="178308"/>
          </a:xfrm>
          <a:prstGeom prst="roundRect">
            <a:avLst>
              <a:gd name="adj" fmla="val 50000"/>
            </a:avLst>
          </a:prstGeom>
          <a:solidFill>
            <a:srgbClr val="EE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700" b="0" i="0">
                <a:solidFill>
                  <a:srgbClr val="2A3138"/>
                </a:solidFill>
                <a:latin typeface="Arial"/>
              </a:rPr>
              <a:t>нет данных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9496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0664" y="5925312"/>
            <a:ext cx="1088967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КТГ факт ≥ плана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058231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259399" y="5925312"/>
            <a:ext cx="1338349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ниже плана до 5 п.п.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826348" y="598017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8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027516" y="5925312"/>
            <a:ext cx="158773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ниже более чем на 5 п.п.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КТГ парка: план и факт по месяцам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2237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7665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Парк WK, среднее по бортам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70408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037576" y="1124712"/>
            <a:ext cx="3611880" cy="4754880"/>
          </a:xfrm>
          <a:prstGeom prst="roundRect">
            <a:avLst>
              <a:gd name="adj" fmla="val 45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66176" y="1216151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площадкам, план / факт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0456" y="1627631"/>
          <a:ext cx="3246118" cy="17007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21386"/>
                <a:gridCol w="708244"/>
                <a:gridCol w="708244"/>
                <a:gridCol w="7082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87% / 89%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63%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86% / 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0456" y="3730752"/>
            <a:ext cx="3246120" cy="2011680"/>
          </a:xfrm>
          <a:prstGeom prst="roundRect">
            <a:avLst>
              <a:gd name="adj" fmla="val 6363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Разброс по бортам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Лучший: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WK-35 №13 — 93%</a:t>
            </a:r>
          </a:p>
          <a:p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Худший: </a:t>
            </a:r>
            <a:r>
              <a:rPr sz="1200" b="1" i="0">
                <a:solidFill>
                  <a:srgbClr val="2A3138"/>
                </a:solidFill>
                <a:latin typeface="Arial"/>
              </a:rPr>
              <a:t>WK-20 №03 — 75%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Сухой Лог: КТГ факт есть не по всем бортам — WK-20 №1220 без данных с 2025 года.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КТГ по каждому борту: план и факт 2024–2026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4846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88963"/>
                <a:gridCol w="1488963"/>
                <a:gridCol w="1145356"/>
                <a:gridCol w="1145356"/>
                <a:gridCol w="1145356"/>
                <a:gridCol w="1145356"/>
                <a:gridCol w="1145356"/>
                <a:gridCol w="1145356"/>
                <a:gridCol w="1259892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2024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2024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2025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2025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2026 план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2026 факт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2026, п.п.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№09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№07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 №1220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WK-20C №1221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Сухой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2A3138"/>
                          </a:solidFill>
                          <a:latin typeface="Arial"/>
                        </a:rPr>
                        <a:t>WK-35 №1224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Исполнение 2024–2026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План и факт по годам, площадкам, моделям, видам работ и каждому борту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Программа ремонтов WK: план и факт по годам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6809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444752"/>
          <a:ext cx="7498080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494776" y="112471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77656" y="121615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94%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закрыто 81% плана · 1 382 заказов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94776" y="231343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77656" y="240487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104%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закрыто 85% плана · 2 797 заказов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94776" y="3502152"/>
            <a:ext cx="3154680" cy="1078992"/>
          </a:xfrm>
          <a:prstGeom prst="roundRect">
            <a:avLst>
              <a:gd name="adj" fmla="val 13559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77656" y="3593592"/>
            <a:ext cx="2788920" cy="89611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54%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исполнение 2026 на 14.09.2026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закрыто 52% плана · 2 791 заказов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94776" y="4690872"/>
            <a:ext cx="315468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77656" y="4782312"/>
            <a:ext cx="278892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200" b="1" i="0">
                <a:solidFill>
                  <a:srgbClr val="2A3138"/>
                </a:solidFill>
                <a:latin typeface="Arial"/>
              </a:rPr>
              <a:t>2 783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план 2027 в заказах SAP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567 заказов · МТР 2 181 · УСО 602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площадкам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Красноярск / Еруда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8521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96%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917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102%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1025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57%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17 · заказов 2026: 1 798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Магадан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37997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6285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91%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8393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D5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122%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501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42%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6 · заказов 2026: 857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1124712"/>
            <a:ext cx="3520440" cy="475488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121615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Сухой Лог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8174736" y="1536192"/>
          <a:ext cx="3429000" cy="29260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835761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85%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7869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FCE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92%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99776" y="4599432"/>
            <a:ext cx="929640" cy="822960"/>
          </a:xfrm>
          <a:prstGeom prst="roundRect">
            <a:avLst>
              <a:gd name="adj" fmla="val 13333"/>
            </a:avLst>
          </a:prstGeom>
          <a:solidFill>
            <a:srgbClr val="E3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tIns="18288" rIns="18288" bIns="18288"/>
          <a:lstStyle/>
          <a:p>
            <a:pPr algn="ctr">
              <a:spcAft>
                <a:spcPts val="0"/>
              </a:spcAft>
              <a:buNone/>
            </a:pPr>
            <a:r>
              <a:rPr sz="1800" b="1" i="0">
                <a:solidFill>
                  <a:srgbClr val="2A3138"/>
                </a:solidFill>
                <a:latin typeface="Arial"/>
              </a:rPr>
              <a:t>61%</a:t>
            </a:r>
          </a:p>
          <a:p>
            <a:pPr algn="ctr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исполнение 2026 · на 14.09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7616" y="5486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Бортов: 5 · заказов 2026: 136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Где находятся заказы: стадии SAP по годам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67512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Все площадки, доля плана по стадиям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4922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488936" y="1124712"/>
            <a:ext cx="4160520" cy="4754880"/>
          </a:xfrm>
          <a:prstGeom prst="roundRect">
            <a:avLst>
              <a:gd name="adj" fmla="val 39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17536" y="1216151"/>
            <a:ext cx="37033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2026 по площадкам, доли; подписи — млн ₽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80375" y="1536192"/>
          <a:ext cx="3977640" cy="28346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71815" y="4462272"/>
            <a:ext cx="3794760" cy="1325880"/>
          </a:xfrm>
          <a:prstGeom prst="roundRect">
            <a:avLst>
              <a:gd name="adj" fmla="val 9655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604 млн ₽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— 111 заказов 2026 деблокированы, но без факта и подтверждений.</a:t>
            </a:r>
          </a:p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1 119 млн ₽</a:t>
            </a:r>
            <a:r>
              <a:rPr sz="1100" b="0" i="0">
                <a:solidFill>
                  <a:srgbClr val="2A3138"/>
                </a:solidFill>
                <a:latin typeface="Arial"/>
              </a:rPr>
              <a:t> на согласовании в сентябре: пересмотрите, что реально выполнится до конца года.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На что уходят деньги: виды работ и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4066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216151"/>
          <a:ext cx="7223759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0456" y="1124712"/>
            <a:ext cx="3429000" cy="4754880"/>
          </a:xfrm>
          <a:prstGeom prst="roundRect">
            <a:avLst>
              <a:gd name="adj" fmla="val 479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49056" y="121615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Исполнение по моделям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403336" y="1627631"/>
          <a:ext cx="3063238" cy="14813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0720"/>
                <a:gridCol w="567266"/>
                <a:gridCol w="567266"/>
                <a:gridCol w="567266"/>
                <a:gridCol w="6807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701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WK-20C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WK-35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1 740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49056" y="3364991"/>
            <a:ext cx="29718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статье затрат, факт 2024–2026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9056" y="3776472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OPEX (ремонты и ТО)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4050791"/>
            <a:ext cx="726027" cy="219456"/>
          </a:xfrm>
          <a:prstGeom prst="roundRect">
            <a:avLst>
              <a:gd name="adj" fmla="val 20833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66523" y="4014215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3 715 млн ₽ · 43%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49056" y="4453128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OPEX УПА (CAPEX Рудных БЕ)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9056" y="4727448"/>
            <a:ext cx="591568" cy="219456"/>
          </a:xfrm>
          <a:prstGeom prst="roundRect">
            <a:avLst>
              <a:gd name="adj" fmla="val 20833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32064" y="4690872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3 027 млн ₽ · 35%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9056" y="5129783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1" i="0">
                <a:solidFill>
                  <a:srgbClr val="2A3138"/>
                </a:solidFill>
                <a:latin typeface="Arial"/>
              </a:rPr>
              <a:t>Компоненты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49056" y="5404103"/>
            <a:ext cx="264900" cy="219456"/>
          </a:xfrm>
          <a:prstGeom prst="roundRect">
            <a:avLst>
              <a:gd name="adj" fmla="val 2083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05396" y="5367527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1 356 млн ₽ · 16%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Затраты на каждый борт: факт 2024–2026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бортам: Красноярск / Еруда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4626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6392"/>
                <a:gridCol w="1091887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773420"/>
                <a:gridCol w="68242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ППР 27*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Обесп.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КТГ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№09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№07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51%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39496" y="598932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млн ₽. * ППР 27 — позиции графика ППР без заказа SAP, в план не входят. Обесп. 27 — доля потребности МТР 2027, покрытая складом и закупкой к сроку. КТГ 26 — факт январь–август.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Исполнение по бортам: Магадан и Сухой Лог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033271"/>
          <a:ext cx="11109954" cy="33467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6392"/>
                <a:gridCol w="1091887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564142"/>
                <a:gridCol w="727925"/>
                <a:gridCol w="727925"/>
                <a:gridCol w="773420"/>
                <a:gridCol w="68242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Борт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Факт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План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ППР 27*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Обесп.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КТГ 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122%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135%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93%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 №1220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86%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WK-20C №1221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A3138"/>
                          </a:solidFill>
                          <a:latin typeface="Arial"/>
                        </a:rPr>
                        <a:t>WK-35 №1228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5B616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39496" y="5989320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млн ₽. * ППР 27 — позиции графика ППР без заказа SAP, в план не входят. Обесп. 27 — доля потребности МТР 2027, покрытая складом и закупкой к сроку. КТГ 26 — факт январь–август.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Крупнейшие материалы: факт 2024–2026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8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5643"/>
                <a:gridCol w="888796"/>
                <a:gridCol w="4937760"/>
                <a:gridCol w="888796"/>
                <a:gridCol w="1086307"/>
                <a:gridCol w="2962656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Кол-во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Факт,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K1839.01.00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1248033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Синтофлекс Арктик 1-100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282 552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подъем.K1801.05.10.00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985386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Карбофлекс OG 000-1500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152 105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1101027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Цепь гусеничной ленты K1605.18.04.00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опор.K1605.18.03.00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953566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Пластина гусеничной ленты K1812.18.04.01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889503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K1623.01.00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подъем.промежут.K1801.05.03.00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напр.перед.K1605.18.05.00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1291661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Смазка Карбофлекс OG 0-4000 HD Лукойл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63 037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778240" y="1527048"/>
            <a:ext cx="2734056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778240" y="1874520"/>
            <a:ext cx="1645214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0" y="2221992"/>
            <a:ext cx="1293387" cy="164592"/>
          </a:xfrm>
          <a:prstGeom prst="roundRect">
            <a:avLst>
              <a:gd name="adj" fmla="val 22222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78240" y="2569464"/>
            <a:ext cx="972777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778240" y="2916936"/>
            <a:ext cx="939697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0" y="3264408"/>
            <a:ext cx="78553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0" y="3611880"/>
            <a:ext cx="711134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0" y="3959352"/>
            <a:ext cx="66110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778240" y="4306824"/>
            <a:ext cx="587296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778240" y="4654296"/>
            <a:ext cx="534585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78240" y="5001768"/>
            <a:ext cx="459631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78240" y="5349240"/>
            <a:ext cx="429590" cy="164592"/>
          </a:xfrm>
          <a:prstGeom prst="roundRect">
            <a:avLst>
              <a:gd name="adj" fmla="val 22222"/>
            </a:avLst>
          </a:prstGeom>
          <a:solidFill>
            <a:srgbClr val="7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План 2027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Объём, готовность заказов, разрез по площадкам и бортам, крупнейшие МТР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План 2027: объём и готовность заказов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9494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492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 площадкам, 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76655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63256" y="112471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46136" y="121615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2 783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план 2027 в заказах SAP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567 заказов · из них 94% ещё открыты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3256" y="240487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46136" y="249631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1 175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позиции ППР без заказа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770 позиций · не входят в план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63256" y="3685032"/>
            <a:ext cx="388620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46136" y="3776472"/>
            <a:ext cx="352044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602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из плана — МТР подрядчика (УСО)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Магадан: 528 млн 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63256" y="4965192"/>
            <a:ext cx="3886200" cy="914400"/>
          </a:xfrm>
          <a:prstGeom prst="roundRect">
            <a:avLst>
              <a:gd name="adj" fmla="val 14000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Деблокировано </a:t>
            </a:r>
            <a:r>
              <a:rPr sz="1100" b="0" i="0">
                <a:solidFill>
                  <a:srgbClr val="2A3138"/>
                </a:solidFill>
                <a:latin typeface="Arial"/>
              </a:rPr>
              <a:t>164 млн ₽ — остальное закупка увидит только после ДЕБЛ, если у строк «Начиная с деблок.».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План 2027 по бортам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Крупнейшие МТР плана 2027 и их обеспеченность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7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8743"/>
                <a:gridCol w="896768"/>
                <a:gridCol w="4583481"/>
                <a:gridCol w="697486"/>
                <a:gridCol w="797127"/>
                <a:gridCol w="1096049"/>
                <a:gridCol w="1096049"/>
                <a:gridCol w="1594254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Бортов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Кол-во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План,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Обеспечено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Вывод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СБ K1839.01.00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подъем.K1801.05.10.00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поворот.вертик.K1801.07.01.00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1335553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Масло редук. Sypres Extra 220 Teboil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112 586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1 356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обеспечено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1129639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Цепь гусеничной ленты K1812.18.04.00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1230357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натяжное СБ K1842.18.05.00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961123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Зубцедержатель K1802.01.10.00-11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обеспечено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1174071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Шестерня венцовая K1801.15.03.00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обеспечено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Стак.фильтр.K1838.22.01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1 872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1195742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Стрела K1801.03.15.00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Обеспеченность МТР 2026–2027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Склад, закупка, дефицит — по годам, площадкам и бортам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потребности WK по годам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498079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7040879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Потребность, 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731519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311896" y="1124712"/>
            <a:ext cx="3337560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94776" y="1216152"/>
            <a:ext cx="29718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2A3138"/>
                </a:solidFill>
                <a:latin typeface="Arial"/>
              </a:rPr>
              <a:t>99%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обеспечено к сроку 2026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не покрыто 14 млн 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11896" y="2404872"/>
            <a:ext cx="3337560" cy="1143000"/>
          </a:xfrm>
          <a:prstGeom prst="roundRect">
            <a:avLst>
              <a:gd name="adj" fmla="val 12800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94776" y="2496312"/>
            <a:ext cx="2971800" cy="960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800" b="1" i="0">
                <a:solidFill>
                  <a:srgbClr val="3EF0AF"/>
                </a:solidFill>
                <a:latin typeface="Arial"/>
              </a:rPr>
              <a:t>61%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обеспечено к сроку 2027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не покрыто 745 млн 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11896" y="3730752"/>
            <a:ext cx="3337560" cy="2148840"/>
          </a:xfrm>
          <a:prstGeom prst="roundRect">
            <a:avLst>
              <a:gd name="adj" fmla="val 5957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Что ещё можно успеть</a:t>
            </a:r>
          </a:p>
          <a:p>
            <a:pPr algn="l" marL="182880" indent="-182880">
              <a:spcAft>
                <a:spcPts val="300"/>
              </a:spcAft>
              <a:buClr>
                <a:srgbClr val="12A06E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Успеем, если заказать сейчас: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422 млн ₽</a:t>
            </a:r>
          </a:p>
          <a:p>
            <a:pPr algn="l" marL="182880" indent="-182880">
              <a:spcAft>
                <a:spcPts val="300"/>
              </a:spcAft>
              <a:buClr>
                <a:srgbClr val="E0A030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Опоздаем до 3 мес.: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59 млн ₽</a:t>
            </a:r>
          </a:p>
          <a:p>
            <a:pPr algn="l" marL="182880" indent="-182880">
              <a:spcAft>
                <a:spcPts val="300"/>
              </a:spcAft>
              <a:buClr>
                <a:srgbClr val="D2454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Опоздаем более чем на 3 мес.: </a:t>
            </a:r>
            <a:r>
              <a:rPr sz="1100" b="1" i="0">
                <a:solidFill>
                  <a:srgbClr val="2A3138"/>
                </a:solidFill>
                <a:latin typeface="Arial"/>
              </a:rPr>
              <a:t>274 млн ₽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Срок — медиана фактических поставок по коду.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по площадкам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7498079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216151"/>
          <a:ext cx="7315199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11896" y="1124712"/>
          <a:ext cx="3337559" cy="17007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89511"/>
                <a:gridCol w="606829"/>
                <a:gridCol w="606829"/>
                <a:gridCol w="83439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покр. 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99%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91%</a:t>
                      </a:r>
                    </a:p>
                  </a:txBody>
                  <a:tcPr marL="54864" marR="54864" marT="9144" marB="9144" anchor="ctr">
                    <a:solidFill>
                      <a:srgbClr val="D5F5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311896" y="3182111"/>
            <a:ext cx="3337560" cy="2697480"/>
          </a:xfrm>
          <a:prstGeom prst="roundRect">
            <a:avLst>
              <a:gd name="adj" fmla="val 4745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2A3138"/>
                </a:solidFill>
                <a:latin typeface="Arial"/>
              </a:rPr>
              <a:t>93% дефицита 2027 — Красноярск</a:t>
            </a:r>
          </a:p>
          <a:p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Больше всего не покрыто у WK-35 №16, WK-35 №17, WK-35 №07, WK-35 №18, WK-35 №15 — 522 млн ₽. Крупнейшая позиция — ковш K1839 (164 млн ₽).</a:t>
            </a:r>
          </a:p>
          <a:p>
            <a:pPr algn="l">
              <a:spcAft>
                <a:spcPts val="4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Магадан и Сухой Лог на 2026 обеспечены складом почти полностью.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Обеспеченность 2027 по бортам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11109960" cy="4800600"/>
          </a:xfrm>
          <a:prstGeom prst="roundRect">
            <a:avLst>
              <a:gd name="adj" fmla="val 3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30936" y="1170432"/>
          <a:ext cx="1092708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Видит ли закупка потребность 2027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76656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3093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2027 по признаку, 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5836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580376" y="1124712"/>
            <a:ext cx="4069080" cy="1325880"/>
          </a:xfrm>
          <a:prstGeom prst="roundRect">
            <a:avLst>
              <a:gd name="adj" fmla="val 11034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63256" y="1216152"/>
            <a:ext cx="3703320" cy="1143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1 184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закупка не видит до деблокирования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из них не покрыто 426 млн 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0376" y="2587752"/>
            <a:ext cx="406908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63256" y="2679192"/>
            <a:ext cx="370332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82 млн ₽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строки «Никогда»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в заявку не попадут совсем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0376" y="3959352"/>
            <a:ext cx="4069080" cy="1920240"/>
          </a:xfrm>
          <a:prstGeom prst="roundRect">
            <a:avLst>
              <a:gd name="adj" fmla="val 6666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Что сделать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Деблокировать заказы 2027 с длинными позициями раньше — с запасом на срок поставки.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Либо перевести такие строки на «Немедленно».</a:t>
            </a:r>
          </a:p>
          <a:p>
            <a:pPr algn="l" marL="182880" indent="-182880">
              <a:spcAft>
                <a:spcPts val="400"/>
              </a:spcAft>
              <a:buClr>
                <a:srgbClr val="3EF0AF"/>
              </a:buClr>
              <a:buFont typeface="Arial"/>
              <a:buChar char="•"/>
            </a:pPr>
            <a:r>
              <a:rPr sz="1100" b="0" i="0">
                <a:solidFill>
                  <a:srgbClr val="2A3138"/>
                </a:solidFill>
                <a:latin typeface="Arial"/>
              </a:rPr>
              <a:t>Строки «Никогда» проверить: реальная ли это потребность.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Критичные позиции дефицита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39496" y="1124712"/>
          <a:ext cx="11109955" cy="4480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3794"/>
                <a:gridCol w="4031462"/>
                <a:gridCol w="796916"/>
                <a:gridCol w="1265691"/>
                <a:gridCol w="796916"/>
                <a:gridCol w="984426"/>
                <a:gridCol w="1031304"/>
                <a:gridCol w="1359446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Потребн.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покрыто,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Срок, дн.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Нужно с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Заказать до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Вывод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976755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Ковш в сборе K1839.01.00,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163,6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01.11.2026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14.04.2026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поворота вертикальный K1801.07.01.00,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77,8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04.01.2027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12.06.2026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20.06.2027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12.10.2026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Стакан фильтрующий K1838.22.01,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2 808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53,1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01.10.2026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01.03.2026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1195742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Стрела K1801.03.15.00,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51,8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01.03.2027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29.05.2026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подъема K1801.05.10.00,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25.08.2026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22.07.2026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976494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Насос пневматический 1904,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18.07.2026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08.09.2026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1233003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подъемный K1627.05.04,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30.08.2026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21.09.2026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приводной (к-т) K1605.18.02.00,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06.07.2026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29.10.2026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1230357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натяжное в сборе K1842.18.05.00,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01.11.2026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10.01.2027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975744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Штифт гусеничной ленты K1812.18.04.02,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14,2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25.08.2026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01.04.2026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не успеем</a:t>
                      </a:r>
                    </a:p>
                  </a:txBody>
                  <a:tcPr marL="54864" marR="54864" marT="9144" marB="9144" anchor="ctr">
                    <a:solidFill>
                      <a:srgbClr val="F8DAD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976506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Реле потока DWE-FGR200G34A3TS75L,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15.09.2026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12.11.2026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успеем заказать</a:t>
                      </a:r>
                    </a:p>
                  </a:txBody>
                  <a:tcPr marL="54864" marR="54864" marT="9144" marB="9144" anchor="ctr">
                    <a:solidFill>
                      <a:srgbClr val="FCEFD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Заказать сегодня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743200" cy="1371600"/>
          </a:xfrm>
          <a:prstGeom prst="roundRect">
            <a:avLst>
              <a:gd name="adj" fmla="val 10666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3EF0AF"/>
                </a:solidFill>
                <a:latin typeface="Arial"/>
              </a:rPr>
              <a:t>95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позиций ещё успеваем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если заказать сейчас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9496" y="2679191"/>
            <a:ext cx="2743200" cy="13716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70632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2A3138"/>
                </a:solidFill>
                <a:latin typeface="Arial"/>
              </a:rPr>
              <a:t>422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— стоимость пакета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" y="4233672"/>
            <a:ext cx="2743200" cy="1645920"/>
          </a:xfrm>
          <a:prstGeom prst="roundRect">
            <a:avLst>
              <a:gd name="adj" fmla="val 8888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4325112"/>
            <a:ext cx="2377440" cy="1463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3200" b="1" i="0">
                <a:solidFill>
                  <a:srgbClr val="D2454F"/>
                </a:solidFill>
                <a:latin typeface="Arial"/>
              </a:rPr>
              <a:t>334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— уже не успеть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нужны аналоги, перенос сроков или ремонт узла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557015" y="1124712"/>
          <a:ext cx="8092438" cy="43525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99160"/>
                <a:gridCol w="3796453"/>
                <a:gridCol w="1298786"/>
                <a:gridCol w="1298786"/>
                <a:gridCol w="79925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ЕКМТР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Не покрыто,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Ещё успеем, 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Срок, дн.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1116816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Каток опорный K1801.18.03.00,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63,7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975783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поворота вертикальный K1801.07.01.00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77,8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59,9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948715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подъема K1801.05.10.00,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1233003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Канат подъемный K1627.05.04,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976494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Насос пневматический 1904,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975551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Вал приводной (к-т) K1605.18.02.00,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1230357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Колесо натяжное в сборе K1842.18.05.00, 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920820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Стакан фильтрующий K1838.22.01, TZ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53,1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976506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Реле потока DWE-FGR200G34A3TS75L,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1195832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Подшипник седловой в сборе K1812.03.21.0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A3138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A3138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557015" y="5605272"/>
            <a:ext cx="8092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«Ещё успеем» — часть дефицита, потребность по которой наступает позже срока поставки; остальное уже не закрыть заказом.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Запасы, закупки и подрядчики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Склад WK, график поставок, сроки и МТР подрядчика (УСО)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Запасы WK на складах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3,52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— весь запас WK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997 кодов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270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4558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12A06E"/>
                </a:solidFill>
                <a:latin typeface="Arial"/>
              </a:rPr>
              <a:t>3,38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млрд ₽ доступно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96% запаса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591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879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D2454F"/>
                </a:solidFill>
                <a:latin typeface="Arial"/>
              </a:rPr>
              <a:t>140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млн ₽ ограничено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7 кодов целиком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9126" y="1124712"/>
            <a:ext cx="2640330" cy="1188720"/>
          </a:xfrm>
          <a:prstGeom prst="roundRect">
            <a:avLst>
              <a:gd name="adj" fmla="val 12307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92006" y="1216152"/>
            <a:ext cx="227457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2,34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млрд ₽ — коды с потребностью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доступный остаток кодов 2026–2027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" y="2542032"/>
            <a:ext cx="6400800" cy="3337560"/>
          </a:xfrm>
          <a:prstGeom prst="roundRect">
            <a:avLst>
              <a:gd name="adj" fmla="val 49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633472"/>
            <a:ext cx="5943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Крупнейшие склады, млн ₽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" y="2953511"/>
          <a:ext cx="6217920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214616" y="2542032"/>
            <a:ext cx="44348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Крупнейшие позиции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214616" y="2907791"/>
          <a:ext cx="4434839" cy="3200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44991"/>
                <a:gridCol w="753086"/>
                <a:gridCol w="83676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Наименование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млн ₽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В потребн.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Цепь гусеничной ленты K1605.18.0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Шестерня венцовая K1801.15.03.00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да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Редуктор хода K1844.16.01.00, TZ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Редуктор поворота в сборе K1803.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Коронка зубца K1802.01.10.00-12,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Зубцедержатель K1802.01.10.00-11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да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Шестерня венцовая K1601.17.01.00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Колесо натяжное в сборе K1842.18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да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Закупки: график поставок и сроки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460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кодов в закупке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310 с потребностью 26–27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270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4558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2A3138"/>
                </a:solidFill>
                <a:latin typeface="Arial"/>
              </a:rPr>
              <a:t>6 575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ед. ещё поставить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в пути 89 ед.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591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879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D2454F"/>
                </a:solidFill>
                <a:latin typeface="Arial"/>
              </a:rPr>
              <a:t>1 310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ед. просрочено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месяц поставки прошёл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9126" y="1124712"/>
            <a:ext cx="2640330" cy="1097280"/>
          </a:xfrm>
          <a:prstGeom prst="roundRect">
            <a:avLst>
              <a:gd name="adj" fmla="val 1333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92006" y="1216152"/>
            <a:ext cx="227457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400" b="1" i="0">
                <a:solidFill>
                  <a:srgbClr val="3EF0AF"/>
                </a:solidFill>
                <a:latin typeface="Arial"/>
              </a:rPr>
              <a:t>276 дн.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медианный срок поставки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по 460 кодам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" y="2404872"/>
            <a:ext cx="7680960" cy="347472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496312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Открытое количество по месяцу поставки, ед.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" y="2816352"/>
          <a:ext cx="749808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8494776" y="2404872"/>
            <a:ext cx="3154680" cy="34747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2496312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300" b="1" i="0">
                <a:solidFill>
                  <a:srgbClr val="2A3138"/>
                </a:solidFill>
                <a:latin typeface="Arial"/>
              </a:rPr>
              <a:t>Фактический срок поставки, кодов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8586216" y="2816352"/>
          <a:ext cx="2971800" cy="30175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МТР подрядчика (УСО)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6949440" cy="4754880"/>
          </a:xfrm>
          <a:prstGeom prst="roundRect">
            <a:avLst>
              <a:gd name="adj" fmla="val 34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216151"/>
            <a:ext cx="6492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УСО по годам, млн ₽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30936" y="1536192"/>
          <a:ext cx="676655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63256" y="1124712"/>
          <a:ext cx="3886200" cy="16824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43584"/>
                <a:gridCol w="699516"/>
                <a:gridCol w="699516"/>
                <a:gridCol w="699516"/>
                <a:gridCol w="544068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Площадка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4864" marR="54864" marT="9144" marB="9144" anchor="ctr">
                    <a:solidFill>
                      <a:srgbClr val="2A31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Красноярск / Еруда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 / 43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 / 95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125 / 86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Магадан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11 / 31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20 / 136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107 / 88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528</a:t>
                      </a:r>
                    </a:p>
                  </a:txBody>
                  <a:tcPr marL="54864" marR="54864" marT="9144" marB="9144" anchor="ctr">
                    <a:solidFill>
                      <a:srgbClr val="F4F5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Сухой Лог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0 / 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17 / 26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2 / 10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A3138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63256" y="2862072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900" b="0" i="0">
                <a:solidFill>
                  <a:srgbClr val="5B6167"/>
                </a:solidFill>
                <a:latin typeface="Arial"/>
              </a:rPr>
              <a:t>план / факт, млн 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3256" y="3273552"/>
            <a:ext cx="3886200" cy="2606040"/>
          </a:xfrm>
          <a:prstGeom prst="roundRect">
            <a:avLst>
              <a:gd name="adj" fmla="val 4912"/>
            </a:avLst>
          </a:prstGeom>
          <a:solidFill>
            <a:srgbClr val="D5F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План МТР подрядчика заполнен не полностью</a:t>
            </a:r>
          </a:p>
          <a:p>
            <a:pPr algn="l">
              <a:spcAft>
                <a:spcPts val="600"/>
              </a:spcAft>
              <a:buNone/>
            </a:pPr>
            <a:r>
              <a:rPr sz="1100" b="0" i="0">
                <a:solidFill>
                  <a:srgbClr val="2A3138"/>
                </a:solidFill>
                <a:latin typeface="Arial"/>
              </a:rPr>
              <a:t>В 2024–2025 факт УСО в 5 и 6 раз выше плана строк МТР подрядчика. Процент исполнения по УСО не показателен — смотрите факт и открытый остаток.</a:t>
            </a:r>
          </a:p>
          <a:p>
            <a:pPr algn="l">
              <a:spcAft>
                <a:spcPts val="400"/>
              </a:spcAft>
              <a:buNone/>
            </a:pPr>
            <a:r>
              <a:rPr sz="1100" b="1" i="0">
                <a:solidFill>
                  <a:srgbClr val="2A3138"/>
                </a:solidFill>
                <a:latin typeface="Arial"/>
              </a:rPr>
              <a:t>2027: 528 млн ₽ из 602 — Магадан.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Справочники и качество данных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Каталог, кодификация, взаимозаменяемость и ограничения расчёта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Каталог, кодификация и взаимозаменяемость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264033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16152"/>
            <a:ext cx="227457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3 042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позиций прайса ДП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УСО — 3 038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2706" y="1124712"/>
            <a:ext cx="264033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45586" y="1216152"/>
            <a:ext cx="227457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E0A030"/>
                </a:solidFill>
                <a:latin typeface="Arial"/>
              </a:rPr>
              <a:t>42%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кодифицировано ЕКМТР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1 279 позиций; 103 неоднозначно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5916" y="1124712"/>
            <a:ext cx="2640330" cy="1234440"/>
          </a:xfrm>
          <a:prstGeom prst="roundRect">
            <a:avLst>
              <a:gd name="adj" fmla="val 11851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8796" y="1216152"/>
            <a:ext cx="227457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3EF0AF"/>
                </a:solidFill>
                <a:latin typeface="Arial"/>
              </a:rPr>
              <a:t>1 763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позиций без ЕКМТР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Arial"/>
              </a:rPr>
              <a:t>нет расхода, остатка и закупки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9126" y="1124712"/>
            <a:ext cx="2640330" cy="1234440"/>
          </a:xfrm>
          <a:prstGeom prst="roundRect">
            <a:avLst>
              <a:gd name="adj" fmla="val 118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92006" y="1216152"/>
            <a:ext cx="2274570" cy="10515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200"/>
              </a:spcAft>
              <a:buNone/>
            </a:pPr>
            <a:r>
              <a:rPr sz="2600" b="1" i="0">
                <a:solidFill>
                  <a:srgbClr val="2A3138"/>
                </a:solidFill>
                <a:latin typeface="Arial"/>
              </a:rPr>
              <a:t>800</a:t>
            </a:r>
          </a:p>
          <a:p>
            <a:pPr algn="l">
              <a:spcAft>
                <a:spcPts val="2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позиций в дереве узлов</a:t>
            </a:r>
          </a:p>
          <a:p>
            <a:pPr algn="l">
              <a:spcAft>
                <a:spcPts val="400"/>
              </a:spcAft>
              <a:buNone/>
            </a:pPr>
            <a:r>
              <a:rPr sz="1000" b="0" i="0">
                <a:solidFill>
                  <a:srgbClr val="5B6167"/>
                </a:solidFill>
                <a:latin typeface="Arial"/>
              </a:rPr>
              <a:t>механизм → узел → деталь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" y="2587752"/>
            <a:ext cx="548640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679191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Кодификация прайса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" y="2999232"/>
          <a:ext cx="5303520" cy="2834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300216" y="2587752"/>
            <a:ext cx="53492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0216" y="3044952"/>
            <a:ext cx="5349240" cy="28346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5" y="2587752"/>
            <a:ext cx="51663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Ведомость взаимозаменяемости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3172968"/>
            <a:ext cx="4983480" cy="2651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1 533 групп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замен, 2 199 деталей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1 747 связей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между книгами WK-20, WK-20C и WK-35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1" i="0">
                <a:solidFill>
                  <a:srgbClr val="2A3138"/>
                </a:solidFill>
                <a:latin typeface="Arial"/>
              </a:rPr>
              <a:t>187 строк</a:t>
            </a:r>
            <a:r>
              <a:rPr sz="1300" b="0" i="0">
                <a:solidFill>
                  <a:srgbClr val="2A3138"/>
                </a:solidFill>
                <a:latin typeface="Arial"/>
              </a:rPr>
              <a:t> с комментарием — ограничение применения</a:t>
            </a:r>
          </a:p>
          <a:p>
            <a:pPr algn="l">
              <a:spcAft>
                <a:spcPts val="500"/>
              </a:spcAft>
              <a:buNone/>
            </a:pPr>
            <a:r>
              <a:rPr sz="1100" b="0" i="0">
                <a:solidFill>
                  <a:srgbClr val="5B6167"/>
                </a:solidFill>
                <a:latin typeface="Arial"/>
              </a:rPr>
              <a:t>Прямые замены видны в обеспеченности. Транзитивные замены и пересчёт склада «как будто замена» сознательно не делаются.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Ограничения данных и расчёта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Статус — на дату выгрузки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Стадия заказов 2024–2025 взята из годовых выгрузок PM-06. Если заказ закрыли позже, в презентации он может быть «в работе».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3425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569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2026 — незавершённый 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Факт на 14.09.2026. Низкий % исполнения 2026 — не отставание само по себе; смотрите деблокированные заказы без факта.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247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29016" y="15819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0456" y="11247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Позиции ППР и копии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1896" y="17099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1 175 млн ₽ позиций ППР 2027 и неисполненный план оригиналов БЕ исключены из плана по правилам PM-06.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Срок поставки — до месяца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Обеспеченность считается по месяцу: приход внутри месяца потребности считается успевающим.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3425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569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rial"/>
              </a:rPr>
              <a:t>Парк и книги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13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В парке 28 бортов после схлопывания дублей. У 4 бортов нет книги; №1228 есть в заказах, но нет в витрине «Парк».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3639312"/>
            <a:ext cx="3520440" cy="777240"/>
          </a:xfrm>
          <a:prstGeom prst="roundRect">
            <a:avLst>
              <a:gd name="adj" fmla="val 18823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29016" y="4096512"/>
            <a:ext cx="35204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0456" y="3639312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400" b="1" i="0">
                <a:solidFill>
                  <a:srgbClr val="2A3138"/>
                </a:solidFill>
                <a:latin typeface="Arial"/>
              </a:rPr>
              <a:t>Стоимость закупок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4224528"/>
            <a:ext cx="31546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500"/>
              </a:spcAft>
              <a:buNone/>
            </a:pPr>
            <a:r>
              <a:rPr sz="1200" b="0" i="0">
                <a:solidFill>
                  <a:srgbClr val="2A3138"/>
                </a:solidFill>
                <a:latin typeface="Arial"/>
              </a:rPr>
              <a:t>В выгрузке закупки стоимость в валюте документа (в основном ZCNY) — сравнивать её с рублями нельзя.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Выводы и что сделать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8096" y="15361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E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45336" y="12161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Закрыть хвосты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111 деблокированных заказов на 604 млн ₽ без факта: провести факт, перенести или закрыть до конца года.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1636" y="11247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60236" y="15361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556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7475" y="12161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Ревизия согласования 2026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1 119 млн ₽ ещё на согласовании в сентябре — решить, что переходит в 2027.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" y="27249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31363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336" y="28163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Деблокировать 2027 раньше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1 184 млн ₽ потребности закупка не видит до ДЕБЛ при сроке поставки 276 дней.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27249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60236" y="31363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2A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7475" y="28163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Заказать сегодня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95 позиций на 422 млн ₽ ещё успеваем; по 334 млн ₽ — аналоги или перенос.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" y="43251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47365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D2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36" y="44165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Просроченные поставки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1 310 ед. с прошедшим месяцем поставки — эскалация поставщикам.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4325112"/>
            <a:ext cx="5417820" cy="1417320"/>
          </a:xfrm>
          <a:prstGeom prst="roundRect">
            <a:avLst>
              <a:gd name="adj" fmla="val 1161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60236" y="4736592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808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40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7475" y="4416552"/>
            <a:ext cx="422910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Данные</a:t>
            </a:r>
          </a:p>
          <a:p>
            <a:pPr algn="l">
              <a:spcAft>
                <a:spcPts val="400"/>
              </a:spcAft>
              <a:buNone/>
            </a:pPr>
            <a:r>
              <a:rPr sz="1200" b="0" i="0">
                <a:solidFill>
                  <a:srgbClr val="5B6167"/>
                </a:solidFill>
                <a:latin typeface="Arial"/>
              </a:rPr>
              <a:t>Кодифицировать 1 763 позиций прайса, подтвердить книги 4 бортов, восстановить КТГ Сухого Лога.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Arial"/>
              </a:rPr>
              <a:t>Методика и источники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496" y="1124712"/>
            <a:ext cx="5417820" cy="777240"/>
          </a:xfrm>
          <a:prstGeom prst="roundRect">
            <a:avLst>
              <a:gd name="adj" fmla="val 18823"/>
            </a:avLst>
          </a:prstGeom>
          <a:solidFill>
            <a:srgbClr val="2A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" y="1581912"/>
            <a:ext cx="541782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124712"/>
            <a:ext cx="52349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Как считали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709928"/>
            <a:ext cx="5052059" cy="411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Исполнение = факт / план МТР + УСО по заказам ТОРО WK.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Позиции графика ППР без заказа SAP в план не входят.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Оригинал БЕ с копией в «Развитии»: факт учитывается, неисполненный план — нет.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Стадия заказа — по статусам PM-06: ЗАКР &gt; ТЗКР &gt; ДЕБЛ &gt; ОТКР.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Площадка — по борту (вкладка «Парк»).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Обеспеченность: склад, затем закупка с датой до потребности, по месяцам.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124712"/>
            <a:ext cx="5417820" cy="777240"/>
          </a:xfrm>
          <a:prstGeom prst="roundRect">
            <a:avLst>
              <a:gd name="adj" fmla="val 18823"/>
            </a:avLst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31636" y="1581912"/>
            <a:ext cx="5417820" cy="429768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3075" y="1124712"/>
            <a:ext cx="52349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400"/>
              </a:spcAft>
              <a:buNone/>
            </a:pPr>
            <a:r>
              <a:rPr sz="1500" b="1" i="0">
                <a:solidFill>
                  <a:srgbClr val="2A3138"/>
                </a:solidFill>
                <a:latin typeface="Arial"/>
              </a:rPr>
              <a:t>Источники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1709928"/>
            <a:ext cx="5052059" cy="411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Выгрузки BW PM-M06 2024–2027, площадки 1100, 1200, 1400 (2400 — по бортам)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Статусы заказов PM-06 (TOPO/pm06_meta)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КТГ — витрина TOPO ktg.json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Остатки и ограниченный запас на 14.09.2026</a:t>
            </a:r>
          </a:p>
          <a:p>
            <a:pPr algn="l" marL="182880" indent="-182880">
              <a:spcAft>
                <a:spcPts val="6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Закупка ALL «Развитие» на 11.09.2026</a:t>
            </a:r>
          </a:p>
          <a:p>
            <a:pPr algn="l" marL="182880" indent="-182880">
              <a:spcAft>
                <a:spcPts val="500"/>
              </a:spcAft>
              <a:buClr>
                <a:srgbClr val="3EF0AF"/>
              </a:buClr>
              <a:buFont typeface="Arial"/>
              <a:buChar char="•"/>
            </a:pPr>
            <a:r>
              <a:rPr sz="1300" b="0" i="0">
                <a:solidFill>
                  <a:srgbClr val="2A3138"/>
                </a:solidFill>
                <a:latin typeface="Arial"/>
              </a:rPr>
              <a:t>МТР подрядчика — rawdata/УСО; прайсы ДП и УСО; ведомость взаимозаменяемости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Вопросы и обсуждение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>
              <a:buNone/>
            </a:pPr>
            <a:r>
              <a:t>Экскаваторы WK · данные на 14.09.2026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Тема Office">
  <a:themeElements>
    <a:clrScheme name="Другая 1">
      <a:dk1>
        <a:srgbClr val="2A3138"/>
      </a:dk1>
      <a:lt1>
        <a:srgbClr val="FFFFFF"/>
      </a:lt1>
      <a:dk2>
        <a:srgbClr val="2A3138"/>
      </a:dk2>
      <a:lt2>
        <a:srgbClr val="E7E6E6"/>
      </a:lt2>
      <a:accent1>
        <a:srgbClr val="3EF0AF"/>
      </a:accent1>
      <a:accent2>
        <a:srgbClr val="80868B"/>
      </a:accent2>
      <a:accent3>
        <a:srgbClr val="D8D8D8"/>
      </a:accent3>
      <a:accent4>
        <a:srgbClr val="F5F5F5"/>
      </a:accent4>
      <a:accent5>
        <a:srgbClr val="2A3138"/>
      </a:accent5>
      <a:accent6>
        <a:srgbClr val="B3BDDC"/>
      </a:accent6>
      <a:hlink>
        <a:srgbClr val="B668E4"/>
      </a:hlink>
      <a:folHlink>
        <a:srgbClr val="7E83FA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482</Words>
  <Application>Microsoft Office PowerPoint</Application>
  <PresentationFormat>Широкоэкранный</PresentationFormat>
  <Paragraphs>68</Paragraphs>
  <Slides>5</Slides>
  <Notes>2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1" baseType="lpstr">
      <vt:lpstr>Aeonik Pro TRIAL</vt:lpstr>
      <vt:lpstr>Arial</vt:lpstr>
      <vt:lpstr>Calibri</vt:lpstr>
      <vt:lpstr>Wingdings</vt:lpstr>
      <vt:lpstr>Тема Office</vt:lpstr>
      <vt:lpstr>Слайд think-cell</vt:lpstr>
      <vt:lpstr>Презентация PowerPoint</vt:lpstr>
      <vt:lpstr>Пример оформления текста</vt:lpstr>
      <vt:lpstr>Пример оформления таблиц и диаграмм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Зайцев Павел Юрьевич</dc:creator>
  <cp:lastModifiedBy>Кузнецов Виктор Евгеньевич</cp:lastModifiedBy>
  <cp:revision>9</cp:revision>
  <dcterms:created xsi:type="dcterms:W3CDTF">2024-06-03T08:05:05Z</dcterms:created>
  <dcterms:modified xsi:type="dcterms:W3CDTF">2026-07-20T07:52:25Z</dcterms:modified>
</cp:coreProperties>
</file>