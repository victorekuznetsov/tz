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15.vml" ContentType="application/vnd.openxmlformats-officedocument.vmlDrawing"/>
  <Override PartName="/ppt/drawings/vmlDrawing16.vml" ContentType="application/vnd.openxmlformats-officedocument.vmlDrawing"/>
  <Override PartName="/ppt/drawings/vmlDrawing17.vml" ContentType="application/vnd.openxmlformats-officedocument.vmlDrawing"/>
  <Override PartName="/ppt/drawings/vmlDrawing18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2.svg" ContentType="image/svg+xml"/>
  <Override PartName="/ppt/media/image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2000" cy="6858000"/>
  <p:notesSz cx="6858000" cy="9144000"/>
  <p:custDataLst>
    <p:tags r:id="rId8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BDDA"/>
    <a:srgbClr val="7E83FA"/>
    <a:srgbClr val="3EF0AF"/>
    <a:srgbClr val="293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51" d="100"/>
          <a:sy n="151" d="100"/>
        </p:scale>
        <p:origin x="1200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КТГ план</c:v>
                </c:pt>
              </c:strCache>
            </c:strRef>
          </c:tx>
          <c:spPr>
            <a:ln w="28575">
              <a:solidFill>
                <a:srgbClr val="9AA3AB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янв 24</c:v>
                </c:pt>
                <c:pt idx="1">
                  <c:v>фев 24</c:v>
                </c:pt>
                <c:pt idx="2">
                  <c:v>мар 24</c:v>
                </c:pt>
                <c:pt idx="3">
                  <c:v>апр 24</c:v>
                </c:pt>
                <c:pt idx="4">
                  <c:v>май 24</c:v>
                </c:pt>
                <c:pt idx="5">
                  <c:v>июн 24</c:v>
                </c:pt>
                <c:pt idx="6">
                  <c:v>июл 24</c:v>
                </c:pt>
                <c:pt idx="7">
                  <c:v>авг 24</c:v>
                </c:pt>
                <c:pt idx="8">
                  <c:v>сен 24</c:v>
                </c:pt>
                <c:pt idx="9">
                  <c:v>окт 24</c:v>
                </c:pt>
                <c:pt idx="10">
                  <c:v>ноя 24</c:v>
                </c:pt>
                <c:pt idx="11">
                  <c:v>дек 24</c:v>
                </c:pt>
                <c:pt idx="12">
                  <c:v>янв 25</c:v>
                </c:pt>
                <c:pt idx="13">
                  <c:v>фев 25</c:v>
                </c:pt>
                <c:pt idx="14">
                  <c:v>мар 25</c:v>
                </c:pt>
                <c:pt idx="15">
                  <c:v>апр 25</c:v>
                </c:pt>
                <c:pt idx="16">
                  <c:v>май 25</c:v>
                </c:pt>
                <c:pt idx="17">
                  <c:v>июн 25</c:v>
                </c:pt>
                <c:pt idx="18">
                  <c:v>июл 25</c:v>
                </c:pt>
                <c:pt idx="19">
                  <c:v>авг 25</c:v>
                </c:pt>
                <c:pt idx="20">
                  <c:v>сен 25</c:v>
                </c:pt>
                <c:pt idx="21">
                  <c:v>окт 25</c:v>
                </c:pt>
                <c:pt idx="22">
                  <c:v>ноя 25</c:v>
                </c:pt>
                <c:pt idx="23">
                  <c:v>дек 25</c:v>
                </c:pt>
                <c:pt idx="24">
                  <c:v>янв 26</c:v>
                </c:pt>
                <c:pt idx="25">
                  <c:v>фев 26</c:v>
                </c:pt>
                <c:pt idx="26">
                  <c:v>мар 26</c:v>
                </c:pt>
                <c:pt idx="27">
                  <c:v>апр 26</c:v>
                </c:pt>
                <c:pt idx="28">
                  <c:v>май 26</c:v>
                </c:pt>
                <c:pt idx="29">
                  <c:v>июн 26</c:v>
                </c:pt>
                <c:pt idx="30">
                  <c:v>июл 26</c:v>
                </c:pt>
                <c:pt idx="31">
                  <c:v>авг 26</c:v>
                </c:pt>
                <c:pt idx="32">
                  <c:v>сен 26</c:v>
                </c:pt>
                <c:pt idx="33">
                  <c:v>окт 26</c:v>
                </c:pt>
                <c:pt idx="34">
                  <c:v>ноя 26</c:v>
                </c:pt>
                <c:pt idx="35">
                  <c:v>дек 26</c:v>
                </c:pt>
              </c:strCache>
            </c: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0.8911076923076924</c:v>
                </c:pt>
                <c:pt idx="1">
                  <c:v>0.8788142857142857</c:v>
                </c:pt>
                <c:pt idx="2">
                  <c:v>0.85291875</c:v>
                </c:pt>
                <c:pt idx="3">
                  <c:v>0.7817333333333333</c:v>
                </c:pt>
                <c:pt idx="4">
                  <c:v>0.8666357142857143</c:v>
                </c:pt>
                <c:pt idx="5">
                  <c:v>0.859294117647059</c:v>
                </c:pt>
                <c:pt idx="6">
                  <c:v>0.8724473684210527</c:v>
                </c:pt>
                <c:pt idx="7">
                  <c:v>0.830135</c:v>
                </c:pt>
                <c:pt idx="8">
                  <c:v>0.8727750000000001</c:v>
                </c:pt>
                <c:pt idx="9">
                  <c:v>0.876747619047619</c:v>
                </c:pt>
                <c:pt idx="10">
                  <c:v>0.8793499999999999</c:v>
                </c:pt>
                <c:pt idx="11">
                  <c:v>0.8538227272727273</c:v>
                </c:pt>
                <c:pt idx="12">
                  <c:v>0.8704761904761905</c:v>
                </c:pt>
                <c:pt idx="13">
                  <c:v>0.8262952380952381</c:v>
                </c:pt>
                <c:pt idx="14">
                  <c:v>0.8548761904761906</c:v>
                </c:pt>
                <c:pt idx="15">
                  <c:v>0.8489666666666666</c:v>
                </c:pt>
                <c:pt idx="16">
                  <c:v>0.8673285714285712</c:v>
                </c:pt>
                <c:pt idx="17">
                  <c:v>0.8508499999999998</c:v>
                </c:pt>
                <c:pt idx="18">
                  <c:v>0.8706545454545456</c:v>
                </c:pt>
                <c:pt idx="19">
                  <c:v>0.87671875</c:v>
                </c:pt>
                <c:pt idx="20">
                  <c:v>0.8741681818181818</c:v>
                </c:pt>
                <c:pt idx="21">
                  <c:v>0.8935619047619048</c:v>
                </c:pt>
                <c:pt idx="22">
                  <c:v>0.818309090909091</c:v>
                </c:pt>
                <c:pt idx="23">
                  <c:v>0.8729363636363637</c:v>
                </c:pt>
                <c:pt idx="24">
                  <c:v>0.8755454545454545</c:v>
                </c:pt>
                <c:pt idx="25">
                  <c:v>0.8712909090909092</c:v>
                </c:pt>
                <c:pt idx="26">
                  <c:v>0.8557318181818179</c:v>
                </c:pt>
                <c:pt idx="27">
                  <c:v>0.8479954545454546</c:v>
                </c:pt>
                <c:pt idx="28">
                  <c:v>0.8653434782608695</c:v>
                </c:pt>
                <c:pt idx="29">
                  <c:v>0.8678090909090909</c:v>
                </c:pt>
                <c:pt idx="30">
                  <c:v>0.8163130434782608</c:v>
                </c:pt>
                <c:pt idx="31">
                  <c:v>0.840682608695652</c:v>
                </c:pt>
                <c:pt idx="32">
                  <c:v>0.8795347826086958</c:v>
                </c:pt>
                <c:pt idx="33">
                  <c:v>0.8734279999999999</c:v>
                </c:pt>
                <c:pt idx="34">
                  <c:v>0.8945384615384616</c:v>
                </c:pt>
                <c:pt idx="35">
                  <c:v>0.9054538461538459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КТГ факт</c:v>
                </c:pt>
              </c:strCache>
            </c:strRef>
          </c:tx>
          <c:spPr>
            <a:ln w="28575">
              <a:solidFill>
                <a:srgbClr val="12A06E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янв 24</c:v>
                </c:pt>
                <c:pt idx="1">
                  <c:v>фев 24</c:v>
                </c:pt>
                <c:pt idx="2">
                  <c:v>мар 24</c:v>
                </c:pt>
                <c:pt idx="3">
                  <c:v>апр 24</c:v>
                </c:pt>
                <c:pt idx="4">
                  <c:v>май 24</c:v>
                </c:pt>
                <c:pt idx="5">
                  <c:v>июн 24</c:v>
                </c:pt>
                <c:pt idx="6">
                  <c:v>июл 24</c:v>
                </c:pt>
                <c:pt idx="7">
                  <c:v>авг 24</c:v>
                </c:pt>
                <c:pt idx="8">
                  <c:v>сен 24</c:v>
                </c:pt>
                <c:pt idx="9">
                  <c:v>окт 24</c:v>
                </c:pt>
                <c:pt idx="10">
                  <c:v>ноя 24</c:v>
                </c:pt>
                <c:pt idx="11">
                  <c:v>дек 24</c:v>
                </c:pt>
                <c:pt idx="12">
                  <c:v>янв 25</c:v>
                </c:pt>
                <c:pt idx="13">
                  <c:v>фев 25</c:v>
                </c:pt>
                <c:pt idx="14">
                  <c:v>мар 25</c:v>
                </c:pt>
                <c:pt idx="15">
                  <c:v>апр 25</c:v>
                </c:pt>
                <c:pt idx="16">
                  <c:v>май 25</c:v>
                </c:pt>
                <c:pt idx="17">
                  <c:v>июн 25</c:v>
                </c:pt>
                <c:pt idx="18">
                  <c:v>июл 25</c:v>
                </c:pt>
                <c:pt idx="19">
                  <c:v>авг 25</c:v>
                </c:pt>
                <c:pt idx="20">
                  <c:v>сен 25</c:v>
                </c:pt>
                <c:pt idx="21">
                  <c:v>окт 25</c:v>
                </c:pt>
                <c:pt idx="22">
                  <c:v>ноя 25</c:v>
                </c:pt>
                <c:pt idx="23">
                  <c:v>дек 25</c:v>
                </c:pt>
                <c:pt idx="24">
                  <c:v>янв 26</c:v>
                </c:pt>
                <c:pt idx="25">
                  <c:v>фев 26</c:v>
                </c:pt>
                <c:pt idx="26">
                  <c:v>мар 26</c:v>
                </c:pt>
                <c:pt idx="27">
                  <c:v>апр 26</c:v>
                </c:pt>
                <c:pt idx="28">
                  <c:v>май 26</c:v>
                </c:pt>
                <c:pt idx="29">
                  <c:v>июн 26</c:v>
                </c:pt>
                <c:pt idx="30">
                  <c:v>июл 26</c:v>
                </c:pt>
                <c:pt idx="31">
                  <c:v>авг 26</c:v>
                </c:pt>
                <c:pt idx="32">
                  <c:v>сен 26</c:v>
                </c:pt>
                <c:pt idx="33">
                  <c:v>окт 26</c:v>
                </c:pt>
                <c:pt idx="34">
                  <c:v>ноя 26</c:v>
                </c:pt>
                <c:pt idx="35">
                  <c:v>дек 26</c:v>
                </c:pt>
              </c:strCache>
            </c: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0.8777615384615385</c:v>
                </c:pt>
                <c:pt idx="1">
                  <c:v>0.8900066666666667</c:v>
                </c:pt>
                <c:pt idx="2">
                  <c:v>0.8574928571428571</c:v>
                </c:pt>
                <c:pt idx="3">
                  <c:v>0.8656687499999999</c:v>
                </c:pt>
                <c:pt idx="4">
                  <c:v>0.86590625</c:v>
                </c:pt>
                <c:pt idx="5">
                  <c:v>0.882164705882353</c:v>
                </c:pt>
                <c:pt idx="6">
                  <c:v>0.9219368421052634</c:v>
                </c:pt>
                <c:pt idx="7">
                  <c:v>0.8825842105263156</c:v>
                </c:pt>
                <c:pt idx="8">
                  <c:v>0.9182</c:v>
                </c:pt>
                <c:pt idx="9">
                  <c:v>0.9274450000000002</c:v>
                </c:pt>
                <c:pt idx="10">
                  <c:v>0.9071666666666667</c:v>
                </c:pt>
                <c:pt idx="11">
                  <c:v>0.8638681818181818</c:v>
                </c:pt>
                <c:pt idx="12">
                  <c:v>0.8997636363636361</c:v>
                </c:pt>
                <c:pt idx="13">
                  <c:v>0.8973318181818182</c:v>
                </c:pt>
                <c:pt idx="14">
                  <c:v>0.8977590909090908</c:v>
                </c:pt>
                <c:pt idx="15">
                  <c:v>0.8871136363636366</c:v>
                </c:pt>
                <c:pt idx="16">
                  <c:v>0.8904363636363637</c:v>
                </c:pt>
                <c:pt idx="17">
                  <c:v>0.9117695652173914</c:v>
                </c:pt>
                <c:pt idx="18">
                  <c:v>0.9082782608695649</c:v>
                </c:pt>
                <c:pt idx="19">
                  <c:v>0.8911173913043478</c:v>
                </c:pt>
                <c:pt idx="20">
                  <c:v>0.9024000000000002</c:v>
                </c:pt>
                <c:pt idx="21">
                  <c:v>0.8666909090909093</c:v>
                </c:pt>
                <c:pt idx="22">
                  <c:v>0.8736636363636362</c:v>
                </c:pt>
                <c:pt idx="23">
                  <c:v>0.8683608695652175</c:v>
                </c:pt>
                <c:pt idx="24">
                  <c:v>0.8851521739130436</c:v>
                </c:pt>
                <c:pt idx="25">
                  <c:v>0.884104347826087</c:v>
                </c:pt>
                <c:pt idx="26">
                  <c:v>0.8637304347826087</c:v>
                </c:pt>
                <c:pt idx="27">
                  <c:v>0.8759478260869566</c:v>
                </c:pt>
                <c:pt idx="28">
                  <c:v>0.9135083333333335</c:v>
                </c:pt>
                <c:pt idx="29">
                  <c:v>0.9127913043478262</c:v>
                </c:pt>
                <c:pt idx="30">
                  <c:v>0.8509041666666666</c:v>
                </c:pt>
                <c:pt idx="31">
                  <c:v>0.8773375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000" b="0">
                <a:solidFill>
                  <a:srgbClr val="2A3138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3"/>
        <c:tickMarkSkip val="3"/>
        <c:noMultiLvlLbl val="0"/>
      </c:catAx>
      <c:valAx>
        <c:axId val="2140495176"/>
        <c:scaling>
          <c:max val="1.0"/>
          <c:min val="0.6"/>
        </c:scaling>
        <c:delete val="0"/>
        <c:axPos val="l"/>
        <c:majorGridlines>
          <c:spPr>
            <a:ln w="9525">
              <a:solidFill>
                <a:srgbClr val="E3E5E8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="0">
                <a:solidFill>
                  <a:srgbClr val="5B6167"/>
                </a:solidFill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 b="0">
              <a:solidFill>
                <a:srgbClr val="2A3138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C3C8CE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12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 · на 14.09</c:v>
                </c:pt>
                <c:pt idx="3">
                  <c:v>2027 · план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2962.409562</c:v>
                </c:pt>
                <c:pt idx="1">
                  <c:v>3583.138297</c:v>
                </c:pt>
                <c:pt idx="2">
                  <c:v>3961.827551</c:v>
                </c:pt>
                <c:pt idx="3">
                  <c:v>2783.124928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12A06E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12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 · на 14.09</c:v>
                </c:pt>
                <c:pt idx="3">
                  <c:v>2027 · план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2779.13274</c:v>
                </c:pt>
                <c:pt idx="1">
                  <c:v>3744.168978</c:v>
                </c:pt>
                <c:pt idx="2">
                  <c:v>2133.723951</c:v>
                </c:pt>
              </c:numCache>
            </c:numRef>
          </c:val>
        </c:ser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20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437.246857120001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 b="0">
              <a:solidFill>
                <a:srgbClr val="2A313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C3C8CE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10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 план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2050.797462</c:v>
                </c:pt>
                <c:pt idx="1">
                  <c:v>2779.653655</c:v>
                </c:pt>
                <c:pt idx="2">
                  <c:v>2716.059001</c:v>
                </c:pt>
                <c:pt idx="3">
                  <c:v>1941.321306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12A06E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10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 план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1966.705318</c:v>
                </c:pt>
                <c:pt idx="1">
                  <c:v>2840.780119</c:v>
                </c:pt>
                <c:pt idx="2">
                  <c:v>1541.53386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00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79.9913128999997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 b="0">
              <a:solidFill>
                <a:srgbClr val="2A313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C3C8CE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10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 план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592.89815</c:v>
                </c:pt>
                <c:pt idx="1">
                  <c:v>548.036576</c:v>
                </c:pt>
                <c:pt idx="2">
                  <c:v>869.265613</c:v>
                </c:pt>
                <c:pt idx="3">
                  <c:v>635.394998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12A06E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10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 план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541.516545</c:v>
                </c:pt>
                <c:pt idx="1">
                  <c:v>667.44976</c:v>
                </c:pt>
                <c:pt idx="2">
                  <c:v>363.833991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00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25.73342334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 b="0">
              <a:solidFill>
                <a:srgbClr val="2A313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C3C8CE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10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 план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318.71395</c:v>
                </c:pt>
                <c:pt idx="1">
                  <c:v>255.448066</c:v>
                </c:pt>
                <c:pt idx="2">
                  <c:v>376.502937</c:v>
                </c:pt>
                <c:pt idx="3">
                  <c:v>206.408624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12A06E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10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 план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270.910877</c:v>
                </c:pt>
                <c:pt idx="1">
                  <c:v>235.939099</c:v>
                </c:pt>
                <c:pt idx="2">
                  <c:v>228.3561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00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44.27346565999994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 b="0">
              <a:solidFill>
                <a:srgbClr val="2A313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Закрыт</c:v>
                </c:pt>
              </c:strCache>
            </c:strRef>
          </c:tx>
          <c:spPr>
            <a:solidFill>
              <a:srgbClr val="0E7A54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3"/>
              <c:delete val="1"/>
            </c:dLbl>
            <c:numFmt formatCode="# ##0" sourceLinked="0"/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 план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1882.158981</c:v>
                </c:pt>
                <c:pt idx="1">
                  <c:v>3050.543603</c:v>
                </c:pt>
                <c:pt idx="2">
                  <c:v>1171.038653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Тех. закрыт</c:v>
                </c:pt>
              </c:strCache>
            </c:strRef>
          </c:tx>
          <c:spPr>
            <a:solidFill>
              <a:srgbClr val="12A06E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1"/>
              <c:delete val="1"/>
            </c:dLbl>
            <c:dLbl>
              <c:idx val="3"/>
              <c:delete val="1"/>
            </c:dLbl>
            <c:numFmt formatCode="# ##0" sourceLinked="0"/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 план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526.175402</c:v>
                </c:pt>
                <c:pt idx="1">
                  <c:v>5.833477</c:v>
                </c:pt>
                <c:pt idx="2">
                  <c:v>903.355888</c:v>
                </c:pt>
                <c:pt idx="3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В работе</c:v>
                </c:pt>
              </c:strCache>
            </c:strRef>
          </c:tx>
          <c:spPr>
            <a:solidFill>
              <a:srgbClr val="7FD8B4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3"/>
              <c:delete val="1"/>
            </c:dLbl>
            <c:numFmt formatCode="# ##0" sourceLinked="0"/>
            <c:txPr>
              <a:bodyPr/>
              <a:lstStyle/>
              <a:p>
                <a:pPr>
                  <a:defRPr sz="1000" b="1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 план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558.316023</c:v>
                </c:pt>
                <c:pt idx="1">
                  <c:v>532.163505</c:v>
                </c:pt>
                <c:pt idx="2">
                  <c:v>174.495268</c:v>
                </c:pt>
                <c:pt idx="3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Деблокирован, пусто</c:v>
                </c:pt>
              </c:strCache>
            </c:strRef>
          </c:tx>
          <c:spPr>
            <a:solidFill>
              <a:srgbClr val="E0A030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numFmt formatCode="# ##0" sourceLinked="0"/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 план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604.04894</c:v>
                </c:pt>
                <c:pt idx="3">
                  <c:v>163.569286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Согласование</c:v>
                </c:pt>
              </c:strCache>
            </c:strRef>
          </c:tx>
          <c:spPr>
            <a:solidFill>
              <a:srgbClr val="5566C9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numFmt formatCode="# ##0" sourceLinked="0"/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 план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1119.242219</c:v>
                </c:pt>
                <c:pt idx="3">
                  <c:v>2627.961875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ППР без заказа</c:v>
                </c:pt>
              </c:strCache>
            </c:strRef>
          </c:tx>
          <c:spPr>
            <a:solidFill>
              <a:srgbClr val="C3C8CE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 ##0" sourceLinked="0"/>
            <c:txPr>
              <a:bodyPr/>
              <a:lstStyle/>
              <a:p>
                <a:pPr>
                  <a:defRPr sz="1000" b="1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 план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1175.416361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00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one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 b="0">
              <a:solidFill>
                <a:srgbClr val="2A313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Закрыт</c:v>
                </c:pt>
              </c:strCache>
            </c:strRef>
          </c:tx>
          <c:spPr>
            <a:solidFill>
              <a:srgbClr val="0E7A54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Красноярск</c:v>
                </c:pt>
                <c:pt idx="1">
                  <c:v>Магадан</c:v>
                </c:pt>
                <c:pt idx="2">
                  <c:v>Сухой Лог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833.803128</c:v>
                </c:pt>
                <c:pt idx="1">
                  <c:v>189.657707</c:v>
                </c:pt>
                <c:pt idx="2">
                  <c:v>147.577818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Тех. закрыт</c:v>
                </c:pt>
              </c:strCache>
            </c:strRef>
          </c:tx>
          <c:spPr>
            <a:solidFill>
              <a:srgbClr val="12A06E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Красноярск</c:v>
                </c:pt>
                <c:pt idx="1">
                  <c:v>Магадан</c:v>
                </c:pt>
                <c:pt idx="2">
                  <c:v>Сухой Лог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752.67908</c:v>
                </c:pt>
                <c:pt idx="1">
                  <c:v>101.669599</c:v>
                </c:pt>
                <c:pt idx="2">
                  <c:v>49.007209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В работе</c:v>
                </c:pt>
              </c:strCache>
            </c:strRef>
          </c:tx>
          <c:spPr>
            <a:solidFill>
              <a:srgbClr val="7FD8B4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numFmt formatCode="# ##0" sourceLinked="0"/>
            <c:txPr>
              <a:bodyPr/>
              <a:lstStyle/>
              <a:p>
                <a:pPr>
                  <a:defRPr sz="900" b="1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Красноярск</c:v>
                </c:pt>
                <c:pt idx="1">
                  <c:v>Магадан</c:v>
                </c:pt>
                <c:pt idx="2">
                  <c:v>Сухой Лог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97.671578</c:v>
                </c:pt>
                <c:pt idx="1">
                  <c:v>29.94324</c:v>
                </c:pt>
                <c:pt idx="2">
                  <c:v>46.88045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Деблокирован, пусто</c:v>
                </c:pt>
              </c:strCache>
            </c:strRef>
          </c:tx>
          <c:spPr>
            <a:solidFill>
              <a:srgbClr val="E0A030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dLbl>
              <c:idx val="2"/>
              <c:delete val="1"/>
            </c:dLbl>
            <c:numFmt formatCode="# ##0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Красноярск</c:v>
                </c:pt>
                <c:pt idx="1">
                  <c:v>Магадан</c:v>
                </c:pt>
                <c:pt idx="2">
                  <c:v>Сухой Лог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185.169417</c:v>
                </c:pt>
                <c:pt idx="1">
                  <c:v>407.872616</c:v>
                </c:pt>
                <c:pt idx="2">
                  <c:v>11.006907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Согласование</c:v>
                </c:pt>
              </c:strCache>
            </c:strRef>
          </c:tx>
          <c:spPr>
            <a:solidFill>
              <a:srgbClr val="5566C9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Красноярск</c:v>
                </c:pt>
                <c:pt idx="1">
                  <c:v>Магадан</c:v>
                </c:pt>
                <c:pt idx="2">
                  <c:v>Сухой Лог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857.028402</c:v>
                </c:pt>
                <c:pt idx="1">
                  <c:v>140.122451</c:v>
                </c:pt>
                <c:pt idx="2">
                  <c:v>122.091366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90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one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Факт 2024</c:v>
                </c:pt>
              </c:strCache>
            </c:strRef>
          </c:tx>
          <c:spPr>
            <a:solidFill>
              <a:srgbClr val="B9C1EE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5"/>
              <c:delete val="1"/>
            </c:dLbl>
            <c:dLbl>
              <c:idx val="7"/>
              <c:delete val="1"/>
            </c:dLbl>
            <c:numFmt formatCode="# ##0" sourceLinked="0"/>
            <c:txPr>
              <a:bodyPr/>
              <a:lstStyle/>
              <a:p>
                <a:pPr>
                  <a:defRPr sz="9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Текущий ремонт</c:v>
                </c:pt>
                <c:pt idx="1">
                  <c:v>Капитальный ремонт</c:v>
                </c:pt>
                <c:pt idx="2">
                  <c:v>Не присвоено (компоненты)</c:v>
                </c:pt>
                <c:pt idx="3">
                  <c:v>Регулярно-потребляемые МТР</c:v>
                </c:pt>
                <c:pt idx="4">
                  <c:v>Техническое обслуживание 1</c:v>
                </c:pt>
                <c:pt idx="5">
                  <c:v>КР ходовой части</c:v>
                </c:pt>
                <c:pt idx="6">
                  <c:v>Техническое обслуживание 2</c:v>
                </c:pt>
                <c:pt idx="7">
                  <c:v>Сезонное ТО1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692.797095</c:v>
                </c:pt>
                <c:pt idx="1">
                  <c:v>676.727658</c:v>
                </c:pt>
                <c:pt idx="2">
                  <c:v>584.373581</c:v>
                </c:pt>
                <c:pt idx="3">
                  <c:v>226.439372</c:v>
                </c:pt>
                <c:pt idx="4">
                  <c:v>125.046819</c:v>
                </c:pt>
                <c:pt idx="5">
                  <c:v>0.0</c:v>
                </c:pt>
                <c:pt idx="6">
                  <c:v>65.535647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 2025</c:v>
                </c:pt>
              </c:strCache>
            </c:strRef>
          </c:tx>
          <c:spPr>
            <a:solidFill>
              <a:srgbClr val="8793E0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5"/>
              <c:delete val="1"/>
            </c:dLbl>
            <c:dLbl>
              <c:idx val="7"/>
              <c:delete val="1"/>
            </c:dLbl>
            <c:numFmt formatCode="# ##0" sourceLinked="0"/>
            <c:txPr>
              <a:bodyPr/>
              <a:lstStyle/>
              <a:p>
                <a:pPr>
                  <a:defRPr sz="9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Текущий ремонт</c:v>
                </c:pt>
                <c:pt idx="1">
                  <c:v>Капитальный ремонт</c:v>
                </c:pt>
                <c:pt idx="2">
                  <c:v>Не присвоено (компоненты)</c:v>
                </c:pt>
                <c:pt idx="3">
                  <c:v>Регулярно-потребляемые МТР</c:v>
                </c:pt>
                <c:pt idx="4">
                  <c:v>Техническое обслуживание 1</c:v>
                </c:pt>
                <c:pt idx="5">
                  <c:v>КР ходовой части</c:v>
                </c:pt>
                <c:pt idx="6">
                  <c:v>Техническое обслуживание 2</c:v>
                </c:pt>
                <c:pt idx="7">
                  <c:v>Сезонное ТО1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1080.704391</c:v>
                </c:pt>
                <c:pt idx="1">
                  <c:v>1052.160021</c:v>
                </c:pt>
                <c:pt idx="2">
                  <c:v>671.396649</c:v>
                </c:pt>
                <c:pt idx="3">
                  <c:v>365.319975</c:v>
                </c:pt>
                <c:pt idx="4">
                  <c:v>236.182697</c:v>
                </c:pt>
                <c:pt idx="5">
                  <c:v>0.0</c:v>
                </c:pt>
                <c:pt idx="6">
                  <c:v>151.959252</c:v>
                </c:pt>
                <c:pt idx="7">
                  <c:v>30.905903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Факт 2026</c:v>
                </c:pt>
              </c:strCache>
            </c:strRef>
          </c:tx>
          <c:spPr>
            <a:solidFill>
              <a:srgbClr val="5566C9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9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Текущий ремонт</c:v>
                </c:pt>
                <c:pt idx="1">
                  <c:v>Капитальный ремонт</c:v>
                </c:pt>
                <c:pt idx="2">
                  <c:v>Не присвоено (компоненты)</c:v>
                </c:pt>
                <c:pt idx="3">
                  <c:v>Регулярно-потребляемые МТР</c:v>
                </c:pt>
                <c:pt idx="4">
                  <c:v>Техническое обслуживание 1</c:v>
                </c:pt>
                <c:pt idx="5">
                  <c:v>КР ходовой части</c:v>
                </c:pt>
                <c:pt idx="6">
                  <c:v>Техническое обслуживание 2</c:v>
                </c:pt>
                <c:pt idx="7">
                  <c:v>Сезонное ТО1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823.16863</c:v>
                </c:pt>
                <c:pt idx="1">
                  <c:v>348.773855</c:v>
                </c:pt>
                <c:pt idx="2">
                  <c:v>99.868575</c:v>
                </c:pt>
                <c:pt idx="3">
                  <c:v>219.177986</c:v>
                </c:pt>
                <c:pt idx="4">
                  <c:v>163.658588</c:v>
                </c:pt>
                <c:pt idx="5">
                  <c:v>129.681436</c:v>
                </c:pt>
                <c:pt idx="6">
                  <c:v>94.66461</c:v>
                </c:pt>
                <c:pt idx="7">
                  <c:v>57.368507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План 2027</c:v>
                </c:pt>
              </c:strCache>
            </c:strRef>
          </c:tx>
          <c:spPr>
            <a:solidFill>
              <a:srgbClr val="12A06E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3"/>
              <c:delete val="1"/>
            </c:dLbl>
            <c:dLbl>
              <c:idx val="4"/>
              <c:delete val="1"/>
            </c:dLbl>
            <c:dLbl>
              <c:idx val="6"/>
              <c:delete val="1"/>
            </c:dLbl>
            <c:numFmt formatCode="# ##0" sourceLinked="0"/>
            <c:txPr>
              <a:bodyPr/>
              <a:lstStyle/>
              <a:p>
                <a:pPr>
                  <a:defRPr sz="9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Текущий ремонт</c:v>
                </c:pt>
                <c:pt idx="1">
                  <c:v>Капитальный ремонт</c:v>
                </c:pt>
                <c:pt idx="2">
                  <c:v>Не присвоено (компоненты)</c:v>
                </c:pt>
                <c:pt idx="3">
                  <c:v>Регулярно-потребляемые МТР</c:v>
                </c:pt>
                <c:pt idx="4">
                  <c:v>Техническое обслуживание 1</c:v>
                </c:pt>
                <c:pt idx="5">
                  <c:v>КР ходовой части</c:v>
                </c:pt>
                <c:pt idx="6">
                  <c:v>Техническое обслуживание 2</c:v>
                </c:pt>
                <c:pt idx="7">
                  <c:v>Сезонное ТО1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1244.425378</c:v>
                </c:pt>
                <c:pt idx="1">
                  <c:v>660.557405</c:v>
                </c:pt>
                <c:pt idx="2">
                  <c:v>215.407309</c:v>
                </c:pt>
                <c:pt idx="3">
                  <c:v>0.0</c:v>
                </c:pt>
                <c:pt idx="4">
                  <c:v>0.0</c:v>
                </c:pt>
                <c:pt idx="5">
                  <c:v>343.628694</c:v>
                </c:pt>
                <c:pt idx="6">
                  <c:v>0.0</c:v>
                </c:pt>
                <c:pt idx="7">
                  <c:v>175.691228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90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one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 b="0">
              <a:solidFill>
                <a:srgbClr val="2A313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Факт 2024</c:v>
                </c:pt>
              </c:strCache>
            </c:strRef>
          </c:tx>
          <c:spPr>
            <a:solidFill>
              <a:srgbClr val="B9C1EE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11"/>
              <c:delete val="1"/>
            </c:dLbl>
            <c:dLbl>
              <c:idx val="12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numFmt formatCode="# ##0" sourceLinked="0"/>
            <c:txPr>
              <a:bodyPr/>
              <a:lstStyle/>
              <a:p>
                <a:pPr>
                  <a:defRPr sz="800" b="1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WK-35 №04 · Красноярск</c:v>
                </c:pt>
                <c:pt idx="1">
                  <c:v>WK-35 №06 · Красноярск</c:v>
                </c:pt>
                <c:pt idx="2">
                  <c:v>WK-35 №07 · Красноярск</c:v>
                </c:pt>
                <c:pt idx="3">
                  <c:v>WK-20 №1220 · Сухой Лог</c:v>
                </c:pt>
                <c:pt idx="4">
                  <c:v>WK-35 №05 · Красноярск</c:v>
                </c:pt>
                <c:pt idx="5">
                  <c:v>WK-20 №03 · Красноярск</c:v>
                </c:pt>
                <c:pt idx="6">
                  <c:v>WK-20 №8 · Красноярск</c:v>
                </c:pt>
                <c:pt idx="7">
                  <c:v>WK-20 №1 · Магадан</c:v>
                </c:pt>
                <c:pt idx="8">
                  <c:v>WK-20 №2 · Магадан</c:v>
                </c:pt>
                <c:pt idx="9">
                  <c:v>WK-20 №02 · Красноярск</c:v>
                </c:pt>
                <c:pt idx="10">
                  <c:v>WK-35 №10 · Красноярск</c:v>
                </c:pt>
                <c:pt idx="11">
                  <c:v>WK-35 №11 · Красноярск</c:v>
                </c:pt>
                <c:pt idx="12">
                  <c:v>WK-35 №12 · Красноярск</c:v>
                </c:pt>
                <c:pt idx="13">
                  <c:v>WK-35 №14 · Красноярск</c:v>
                </c:pt>
                <c:pt idx="14">
                  <c:v>WK-20C №3 · Магадан</c:v>
                </c:pt>
                <c:pt idx="15">
                  <c:v>WK-20C №5 · Магадан</c:v>
                </c:pt>
                <c:pt idx="16">
                  <c:v>WK-20C №4 · Магадан</c:v>
                </c:pt>
                <c:pt idx="17">
                  <c:v>WK-20C №6 · Магадан</c:v>
                </c:pt>
                <c:pt idx="18">
                  <c:v>WK-35 №15 · Красноярск</c:v>
                </c:pt>
                <c:pt idx="19">
                  <c:v>WK-35 №18 · Красноярск</c:v>
                </c:pt>
                <c:pt idx="20">
                  <c:v>WK-35 №16 · Красноярск</c:v>
                </c:pt>
                <c:pt idx="21">
                  <c:v>WK-20C №1221 · Сухой Лог</c:v>
                </c:pt>
                <c:pt idx="22">
                  <c:v>WK-35 №17 · Красноярск</c:v>
                </c:pt>
                <c:pt idx="23">
                  <c:v>WK-35 №13 · Красноярск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187.987493</c:v>
                </c:pt>
                <c:pt idx="1">
                  <c:v>384.348565</c:v>
                </c:pt>
                <c:pt idx="2">
                  <c:v>324.4751</c:v>
                </c:pt>
                <c:pt idx="3">
                  <c:v>270.910877</c:v>
                </c:pt>
                <c:pt idx="4">
                  <c:v>178.41065</c:v>
                </c:pt>
                <c:pt idx="5">
                  <c:v>256.371013</c:v>
                </c:pt>
                <c:pt idx="6">
                  <c:v>179.269991</c:v>
                </c:pt>
                <c:pt idx="7">
                  <c:v>208.478434</c:v>
                </c:pt>
                <c:pt idx="8">
                  <c:v>230.535031</c:v>
                </c:pt>
                <c:pt idx="9">
                  <c:v>213.445094</c:v>
                </c:pt>
                <c:pt idx="10">
                  <c:v>45.78421</c:v>
                </c:pt>
                <c:pt idx="11">
                  <c:v>26.145609</c:v>
                </c:pt>
                <c:pt idx="12">
                  <c:v>41.779448</c:v>
                </c:pt>
                <c:pt idx="13">
                  <c:v>98.491894</c:v>
                </c:pt>
                <c:pt idx="14">
                  <c:v>25.509452</c:v>
                </c:pt>
                <c:pt idx="15">
                  <c:v>36.362559</c:v>
                </c:pt>
                <c:pt idx="16">
                  <c:v>23.677079</c:v>
                </c:pt>
                <c:pt idx="17">
                  <c:v>16.95399</c:v>
                </c:pt>
                <c:pt idx="18">
                  <c:v>13.111201</c:v>
                </c:pt>
                <c:pt idx="19">
                  <c:v>2.636993</c:v>
                </c:pt>
                <c:pt idx="20">
                  <c:v>9.73163</c:v>
                </c:pt>
                <c:pt idx="21">
                  <c:v>0.0</c:v>
                </c:pt>
                <c:pt idx="22">
                  <c:v>4.716427</c:v>
                </c:pt>
                <c:pt idx="2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 2025</c:v>
                </c:pt>
              </c:strCache>
            </c:strRef>
          </c:tx>
          <c:spPr>
            <a:solidFill>
              <a:srgbClr val="8793E0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18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numFmt formatCode="# ##0" sourceLinked="0"/>
            <c:txPr>
              <a:bodyPr/>
              <a:lstStyle/>
              <a:p>
                <a:pPr>
                  <a:defRPr sz="800" b="1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WK-35 №04 · Красноярск</c:v>
                </c:pt>
                <c:pt idx="1">
                  <c:v>WK-35 №06 · Красноярск</c:v>
                </c:pt>
                <c:pt idx="2">
                  <c:v>WK-35 №07 · Красноярск</c:v>
                </c:pt>
                <c:pt idx="3">
                  <c:v>WK-20 №1220 · Сухой Лог</c:v>
                </c:pt>
                <c:pt idx="4">
                  <c:v>WK-35 №05 · Красноярск</c:v>
                </c:pt>
                <c:pt idx="5">
                  <c:v>WK-20 №03 · Красноярск</c:v>
                </c:pt>
                <c:pt idx="6">
                  <c:v>WK-20 №8 · Красноярск</c:v>
                </c:pt>
                <c:pt idx="7">
                  <c:v>WK-20 №1 · Магадан</c:v>
                </c:pt>
                <c:pt idx="8">
                  <c:v>WK-20 №2 · Магадан</c:v>
                </c:pt>
                <c:pt idx="9">
                  <c:v>WK-20 №02 · Красноярск</c:v>
                </c:pt>
                <c:pt idx="10">
                  <c:v>WK-35 №10 · Красноярск</c:v>
                </c:pt>
                <c:pt idx="11">
                  <c:v>WK-35 №11 · Красноярск</c:v>
                </c:pt>
                <c:pt idx="12">
                  <c:v>WK-35 №12 · Красноярск</c:v>
                </c:pt>
                <c:pt idx="13">
                  <c:v>WK-35 №14 · Красноярск</c:v>
                </c:pt>
                <c:pt idx="14">
                  <c:v>WK-20C №3 · Магадан</c:v>
                </c:pt>
                <c:pt idx="15">
                  <c:v>WK-20C №5 · Магадан</c:v>
                </c:pt>
                <c:pt idx="16">
                  <c:v>WK-20C №4 · Магадан</c:v>
                </c:pt>
                <c:pt idx="17">
                  <c:v>WK-20C №6 · Магадан</c:v>
                </c:pt>
                <c:pt idx="18">
                  <c:v>WK-35 №15 · Красноярск</c:v>
                </c:pt>
                <c:pt idx="19">
                  <c:v>WK-35 №18 · Красноярск</c:v>
                </c:pt>
                <c:pt idx="20">
                  <c:v>WK-35 №16 · Красноярск</c:v>
                </c:pt>
                <c:pt idx="21">
                  <c:v>WK-20C №1221 · Сухой Лог</c:v>
                </c:pt>
                <c:pt idx="22">
                  <c:v>WK-35 №17 · Красноярск</c:v>
                </c:pt>
                <c:pt idx="23">
                  <c:v>WK-35 №13 · Красноярск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834.970101</c:v>
                </c:pt>
                <c:pt idx="1">
                  <c:v>369.171874</c:v>
                </c:pt>
                <c:pt idx="2">
                  <c:v>398.33647</c:v>
                </c:pt>
                <c:pt idx="3">
                  <c:v>206.048997</c:v>
                </c:pt>
                <c:pt idx="4">
                  <c:v>110.435758</c:v>
                </c:pt>
                <c:pt idx="5">
                  <c:v>157.189047</c:v>
                </c:pt>
                <c:pt idx="6">
                  <c:v>210.984492</c:v>
                </c:pt>
                <c:pt idx="7">
                  <c:v>196.693004</c:v>
                </c:pt>
                <c:pt idx="8">
                  <c:v>108.426011</c:v>
                </c:pt>
                <c:pt idx="9">
                  <c:v>143.062223</c:v>
                </c:pt>
                <c:pt idx="10">
                  <c:v>130.023038</c:v>
                </c:pt>
                <c:pt idx="11">
                  <c:v>135.583947</c:v>
                </c:pt>
                <c:pt idx="12">
                  <c:v>137.436237</c:v>
                </c:pt>
                <c:pt idx="13">
                  <c:v>54.612137</c:v>
                </c:pt>
                <c:pt idx="14">
                  <c:v>114.473052</c:v>
                </c:pt>
                <c:pt idx="15">
                  <c:v>94.42685</c:v>
                </c:pt>
                <c:pt idx="16">
                  <c:v>80.342557</c:v>
                </c:pt>
                <c:pt idx="17">
                  <c:v>73.088286</c:v>
                </c:pt>
                <c:pt idx="18">
                  <c:v>34.768215</c:v>
                </c:pt>
                <c:pt idx="19">
                  <c:v>49.136547</c:v>
                </c:pt>
                <c:pt idx="20">
                  <c:v>38.358245</c:v>
                </c:pt>
                <c:pt idx="21">
                  <c:v>29.890102</c:v>
                </c:pt>
                <c:pt idx="22">
                  <c:v>36.711788</c:v>
                </c:pt>
                <c:pt idx="23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Факт 2026</c:v>
                </c:pt>
              </c:strCache>
            </c:strRef>
          </c:tx>
          <c:spPr>
            <a:solidFill>
              <a:srgbClr val="5566C9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7"/>
              <c:delete val="1"/>
            </c:dLbl>
            <c:dLbl>
              <c:idx val="9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2"/>
              <c:delete val="1"/>
            </c:dLbl>
            <c:numFmt formatCode="# 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WK-35 №04 · Красноярск</c:v>
                </c:pt>
                <c:pt idx="1">
                  <c:v>WK-35 №06 · Красноярск</c:v>
                </c:pt>
                <c:pt idx="2">
                  <c:v>WK-35 №07 · Красноярск</c:v>
                </c:pt>
                <c:pt idx="3">
                  <c:v>WK-20 №1220 · Сухой Лог</c:v>
                </c:pt>
                <c:pt idx="4">
                  <c:v>WK-35 №05 · Красноярск</c:v>
                </c:pt>
                <c:pt idx="5">
                  <c:v>WK-20 №03 · Красноярск</c:v>
                </c:pt>
                <c:pt idx="6">
                  <c:v>WK-20 №8 · Красноярск</c:v>
                </c:pt>
                <c:pt idx="7">
                  <c:v>WK-20 №1 · Магадан</c:v>
                </c:pt>
                <c:pt idx="8">
                  <c:v>WK-20 №2 · Магадан</c:v>
                </c:pt>
                <c:pt idx="9">
                  <c:v>WK-20 №02 · Красноярск</c:v>
                </c:pt>
                <c:pt idx="10">
                  <c:v>WK-35 №10 · Красноярск</c:v>
                </c:pt>
                <c:pt idx="11">
                  <c:v>WK-35 №11 · Красноярск</c:v>
                </c:pt>
                <c:pt idx="12">
                  <c:v>WK-35 №12 · Красноярск</c:v>
                </c:pt>
                <c:pt idx="13">
                  <c:v>WK-35 №14 · Красноярск</c:v>
                </c:pt>
                <c:pt idx="14">
                  <c:v>WK-20C №3 · Магадан</c:v>
                </c:pt>
                <c:pt idx="15">
                  <c:v>WK-20C №5 · Магадан</c:v>
                </c:pt>
                <c:pt idx="16">
                  <c:v>WK-20C №4 · Магадан</c:v>
                </c:pt>
                <c:pt idx="17">
                  <c:v>WK-20C №6 · Магадан</c:v>
                </c:pt>
                <c:pt idx="18">
                  <c:v>WK-35 №15 · Красноярск</c:v>
                </c:pt>
                <c:pt idx="19">
                  <c:v>WK-35 №18 · Красноярск</c:v>
                </c:pt>
                <c:pt idx="20">
                  <c:v>WK-35 №16 · Красноярск</c:v>
                </c:pt>
                <c:pt idx="21">
                  <c:v>WK-20C №1221 · Сухой Лог</c:v>
                </c:pt>
                <c:pt idx="22">
                  <c:v>WK-35 №17 · Красноярск</c:v>
                </c:pt>
                <c:pt idx="23">
                  <c:v>WK-35 №13 · Красноярск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209.415128</c:v>
                </c:pt>
                <c:pt idx="1">
                  <c:v>69.724631</c:v>
                </c:pt>
                <c:pt idx="2">
                  <c:v>69.223114</c:v>
                </c:pt>
                <c:pt idx="3">
                  <c:v>172.439607</c:v>
                </c:pt>
                <c:pt idx="4">
                  <c:v>340.843596</c:v>
                </c:pt>
                <c:pt idx="5">
                  <c:v>197.489287</c:v>
                </c:pt>
                <c:pt idx="6">
                  <c:v>127.09378</c:v>
                </c:pt>
                <c:pt idx="7">
                  <c:v>35.362358</c:v>
                </c:pt>
                <c:pt idx="8">
                  <c:v>98.219382</c:v>
                </c:pt>
                <c:pt idx="9">
                  <c:v>44.657801</c:v>
                </c:pt>
                <c:pt idx="10">
                  <c:v>75.103244</c:v>
                </c:pt>
                <c:pt idx="11">
                  <c:v>87.762315</c:v>
                </c:pt>
                <c:pt idx="12">
                  <c:v>49.058012</c:v>
                </c:pt>
                <c:pt idx="13">
                  <c:v>57.733727</c:v>
                </c:pt>
                <c:pt idx="14">
                  <c:v>54.549123</c:v>
                </c:pt>
                <c:pt idx="15">
                  <c:v>60.853558</c:v>
                </c:pt>
                <c:pt idx="16">
                  <c:v>64.955032</c:v>
                </c:pt>
                <c:pt idx="17">
                  <c:v>49.894538</c:v>
                </c:pt>
                <c:pt idx="18">
                  <c:v>44.391808</c:v>
                </c:pt>
                <c:pt idx="19">
                  <c:v>35.878295</c:v>
                </c:pt>
                <c:pt idx="20">
                  <c:v>39.21913</c:v>
                </c:pt>
                <c:pt idx="21">
                  <c:v>55.916493</c:v>
                </c:pt>
                <c:pt idx="22">
                  <c:v>38.928385</c:v>
                </c:pt>
                <c:pt idx="23">
                  <c:v>55.011607</c:v>
                </c:pt>
              </c:numCache>
            </c:numRef>
          </c:val>
        </c:ser>
        <c:gapWidth val="3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85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one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 b="0">
              <a:solidFill>
                <a:srgbClr val="2A313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8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Деблокирован</c:v>
                </c:pt>
              </c:strCache>
            </c:strRef>
          </c:tx>
          <c:spPr>
            <a:solidFill>
              <a:srgbClr val="E0A030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1"/>
              <c:delete val="1"/>
            </c:dLbl>
            <c:dLbl>
              <c:idx val="2"/>
              <c:delete val="1"/>
            </c:dLbl>
            <c:numFmt formatCode="# ##0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Красноярск / Еруда</c:v>
                </c:pt>
                <c:pt idx="1">
                  <c:v>Магадан</c:v>
                </c:pt>
                <c:pt idx="2">
                  <c:v>Сухой Лог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163.569286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Открыт: согласование и СГГС</c:v>
                </c:pt>
              </c:strCache>
            </c:strRef>
          </c:tx>
          <c:spPr>
            <a:solidFill>
              <a:srgbClr val="5566C9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Красноярск / Еруда</c:v>
                </c:pt>
                <c:pt idx="1">
                  <c:v>Магадан</c:v>
                </c:pt>
                <c:pt idx="2">
                  <c:v>Сухой Лог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1782.25688</c:v>
                </c:pt>
                <c:pt idx="1">
                  <c:v>635.394998</c:v>
                </c:pt>
                <c:pt idx="2">
                  <c:v>210.309997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Позиции ППР без заказа</c:v>
                </c:pt>
              </c:strCache>
            </c:strRef>
          </c:tx>
          <c:spPr>
            <a:solidFill>
              <a:srgbClr val="C3C8CE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1100" b="1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Красноярск / Еруда</c:v>
                </c:pt>
                <c:pt idx="1">
                  <c:v>Магадан</c:v>
                </c:pt>
                <c:pt idx="2">
                  <c:v>Сухой Лог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733.215821</c:v>
                </c:pt>
                <c:pt idx="1">
                  <c:v>248.187003</c:v>
                </c:pt>
                <c:pt idx="2">
                  <c:v>194.013537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10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2A313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План в заказах SAP</c:v>
                </c:pt>
              </c:strCache>
            </c:strRef>
          </c:tx>
          <c:spPr>
            <a:solidFill>
              <a:srgbClr val="12A06E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 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WK-35 №07 · Красноярск</c:v>
                </c:pt>
                <c:pt idx="1">
                  <c:v>WK-20 №2 · Магадан</c:v>
                </c:pt>
                <c:pt idx="2">
                  <c:v>WK-35 №06 · Красноярск</c:v>
                </c:pt>
                <c:pt idx="3">
                  <c:v>WK-35 №16 · Красноярск</c:v>
                </c:pt>
                <c:pt idx="4">
                  <c:v>WK-35 №15 · Красноярск</c:v>
                </c:pt>
                <c:pt idx="5">
                  <c:v>WK-35 №17 · Красноярск</c:v>
                </c:pt>
                <c:pt idx="6">
                  <c:v>WK-20 №8 · Красноярск</c:v>
                </c:pt>
                <c:pt idx="7">
                  <c:v>WK-20 №1220 · Сухой Лог</c:v>
                </c:pt>
                <c:pt idx="8">
                  <c:v>WK-35 №18 · Красноярск</c:v>
                </c:pt>
                <c:pt idx="9">
                  <c:v>WK-35 №14 · Красноярск</c:v>
                </c:pt>
                <c:pt idx="10">
                  <c:v>WK-20C №3 · Магадан</c:v>
                </c:pt>
                <c:pt idx="11">
                  <c:v>WK-20C №1221 · Сухой Лог</c:v>
                </c:pt>
                <c:pt idx="12">
                  <c:v>WK-20 №1 · Магадан</c:v>
                </c:pt>
                <c:pt idx="13">
                  <c:v>WK-35 №10 · Красноярск</c:v>
                </c:pt>
                <c:pt idx="14">
                  <c:v>WK-20C №4 · Магадан</c:v>
                </c:pt>
                <c:pt idx="15">
                  <c:v>WK-20C №5 · Магадан</c:v>
                </c:pt>
                <c:pt idx="16">
                  <c:v>WK-35 №11 · Красноярск</c:v>
                </c:pt>
                <c:pt idx="17">
                  <c:v>WK-35 №12 · Красноярск</c:v>
                </c:pt>
                <c:pt idx="18">
                  <c:v>WK-35 №05 · Красноярск</c:v>
                </c:pt>
                <c:pt idx="19">
                  <c:v>WK-35 №04 · Красноярск</c:v>
                </c:pt>
                <c:pt idx="20">
                  <c:v>WK-20 №03 · Красноярск</c:v>
                </c:pt>
                <c:pt idx="21">
                  <c:v>WK-20 №02 · Красноярск</c:v>
                </c:pt>
                <c:pt idx="22">
                  <c:v>WK-35 №13 · Красноярск</c:v>
                </c:pt>
                <c:pt idx="23">
                  <c:v>WK-20C №6 · Магадан</c:v>
                </c:pt>
                <c:pt idx="24">
                  <c:v>WK-35 №1222 · Сухой Лог</c:v>
                </c:pt>
                <c:pt idx="25">
                  <c:v>WK-35 №1223 · Сухой Лог</c:v>
                </c:pt>
                <c:pt idx="26">
                  <c:v>WK-35 №1224 · Сухой Лог</c:v>
                </c:pt>
                <c:pt idx="27">
                  <c:v>WK-35 №1228 · Сухой Лог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420.881242</c:v>
                </c:pt>
                <c:pt idx="1">
                  <c:v>302.923765</c:v>
                </c:pt>
                <c:pt idx="2">
                  <c:v>251.586884</c:v>
                </c:pt>
                <c:pt idx="3">
                  <c:v>191.340502</c:v>
                </c:pt>
                <c:pt idx="4">
                  <c:v>183.873158</c:v>
                </c:pt>
                <c:pt idx="5">
                  <c:v>168.119024</c:v>
                </c:pt>
                <c:pt idx="6">
                  <c:v>130.029979</c:v>
                </c:pt>
                <c:pt idx="7">
                  <c:v>118.179302</c:v>
                </c:pt>
                <c:pt idx="8">
                  <c:v>111.176837</c:v>
                </c:pt>
                <c:pt idx="9">
                  <c:v>102.717377</c:v>
                </c:pt>
                <c:pt idx="10">
                  <c:v>95.349728</c:v>
                </c:pt>
                <c:pt idx="11">
                  <c:v>88.229322</c:v>
                </c:pt>
                <c:pt idx="12">
                  <c:v>79.020081</c:v>
                </c:pt>
                <c:pt idx="13">
                  <c:v>72.174312</c:v>
                </c:pt>
                <c:pt idx="14">
                  <c:v>72.327413</c:v>
                </c:pt>
                <c:pt idx="15">
                  <c:v>63.552677</c:v>
                </c:pt>
                <c:pt idx="16">
                  <c:v>60.464295</c:v>
                </c:pt>
                <c:pt idx="17">
                  <c:v>58.724444</c:v>
                </c:pt>
                <c:pt idx="18">
                  <c:v>51.843572</c:v>
                </c:pt>
                <c:pt idx="19">
                  <c:v>44.565641</c:v>
                </c:pt>
                <c:pt idx="20">
                  <c:v>38.233153</c:v>
                </c:pt>
                <c:pt idx="21">
                  <c:v>32.82344</c:v>
                </c:pt>
                <c:pt idx="22">
                  <c:v>22.767446</c:v>
                </c:pt>
                <c:pt idx="23">
                  <c:v>22.221334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Позиции ППР без заказа</c:v>
                </c:pt>
              </c:strCache>
            </c:strRef>
          </c:tx>
          <c:spPr>
            <a:solidFill>
              <a:srgbClr val="C3C8CE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27"/>
              <c:delete val="1"/>
            </c:dLbl>
            <c:numFmt formatCode="# ##0" sourceLinked="0"/>
            <c:txPr>
              <a:bodyPr/>
              <a:lstStyle/>
              <a:p>
                <a:pPr>
                  <a:defRPr sz="800" b="1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WK-35 №07 · Красноярск</c:v>
                </c:pt>
                <c:pt idx="1">
                  <c:v>WK-20 №2 · Магадан</c:v>
                </c:pt>
                <c:pt idx="2">
                  <c:v>WK-35 №06 · Красноярск</c:v>
                </c:pt>
                <c:pt idx="3">
                  <c:v>WK-35 №16 · Красноярск</c:v>
                </c:pt>
                <c:pt idx="4">
                  <c:v>WK-35 №15 · Красноярск</c:v>
                </c:pt>
                <c:pt idx="5">
                  <c:v>WK-35 №17 · Красноярск</c:v>
                </c:pt>
                <c:pt idx="6">
                  <c:v>WK-20 №8 · Красноярск</c:v>
                </c:pt>
                <c:pt idx="7">
                  <c:v>WK-20 №1220 · Сухой Лог</c:v>
                </c:pt>
                <c:pt idx="8">
                  <c:v>WK-35 №18 · Красноярск</c:v>
                </c:pt>
                <c:pt idx="9">
                  <c:v>WK-35 №14 · Красноярск</c:v>
                </c:pt>
                <c:pt idx="10">
                  <c:v>WK-20C №3 · Магадан</c:v>
                </c:pt>
                <c:pt idx="11">
                  <c:v>WK-20C №1221 · Сухой Лог</c:v>
                </c:pt>
                <c:pt idx="12">
                  <c:v>WK-20 №1 · Магадан</c:v>
                </c:pt>
                <c:pt idx="13">
                  <c:v>WK-35 №10 · Красноярск</c:v>
                </c:pt>
                <c:pt idx="14">
                  <c:v>WK-20C №4 · Магадан</c:v>
                </c:pt>
                <c:pt idx="15">
                  <c:v>WK-20C №5 · Магадан</c:v>
                </c:pt>
                <c:pt idx="16">
                  <c:v>WK-35 №11 · Красноярск</c:v>
                </c:pt>
                <c:pt idx="17">
                  <c:v>WK-35 №12 · Красноярск</c:v>
                </c:pt>
                <c:pt idx="18">
                  <c:v>WK-35 №05 · Красноярск</c:v>
                </c:pt>
                <c:pt idx="19">
                  <c:v>WK-35 №04 · Красноярск</c:v>
                </c:pt>
                <c:pt idx="20">
                  <c:v>WK-20 №03 · Красноярск</c:v>
                </c:pt>
                <c:pt idx="21">
                  <c:v>WK-20 №02 · Красноярск</c:v>
                </c:pt>
                <c:pt idx="22">
                  <c:v>WK-35 №13 · Красноярск</c:v>
                </c:pt>
                <c:pt idx="23">
                  <c:v>WK-20C №6 · Магадан</c:v>
                </c:pt>
                <c:pt idx="24">
                  <c:v>WK-35 №1222 · Сухой Лог</c:v>
                </c:pt>
                <c:pt idx="25">
                  <c:v>WK-35 №1223 · Сухой Лог</c:v>
                </c:pt>
                <c:pt idx="26">
                  <c:v>WK-35 №1224 · Сухой Лог</c:v>
                </c:pt>
                <c:pt idx="27">
                  <c:v>WK-35 №1228 · Сухой Лог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46.312378</c:v>
                </c:pt>
                <c:pt idx="1">
                  <c:v>40.375269</c:v>
                </c:pt>
                <c:pt idx="2">
                  <c:v>45.291174</c:v>
                </c:pt>
                <c:pt idx="3">
                  <c:v>46.306918</c:v>
                </c:pt>
                <c:pt idx="4">
                  <c:v>46.306918</c:v>
                </c:pt>
                <c:pt idx="5">
                  <c:v>46.306918</c:v>
                </c:pt>
                <c:pt idx="6">
                  <c:v>46.630969</c:v>
                </c:pt>
                <c:pt idx="7">
                  <c:v>40.260009</c:v>
                </c:pt>
                <c:pt idx="8">
                  <c:v>45.287079</c:v>
                </c:pt>
                <c:pt idx="9">
                  <c:v>46.306918</c:v>
                </c:pt>
                <c:pt idx="10">
                  <c:v>41.258149</c:v>
                </c:pt>
                <c:pt idx="11">
                  <c:v>39.524011</c:v>
                </c:pt>
                <c:pt idx="12">
                  <c:v>41.741473</c:v>
                </c:pt>
                <c:pt idx="13">
                  <c:v>46.306918</c:v>
                </c:pt>
                <c:pt idx="14">
                  <c:v>41.087623</c:v>
                </c:pt>
                <c:pt idx="15">
                  <c:v>42.636866</c:v>
                </c:pt>
                <c:pt idx="16">
                  <c:v>45.877761</c:v>
                </c:pt>
                <c:pt idx="17">
                  <c:v>46.306918</c:v>
                </c:pt>
                <c:pt idx="18">
                  <c:v>47.496632</c:v>
                </c:pt>
                <c:pt idx="19">
                  <c:v>46.312378</c:v>
                </c:pt>
                <c:pt idx="20">
                  <c:v>43.450758</c:v>
                </c:pt>
                <c:pt idx="21">
                  <c:v>42.764217</c:v>
                </c:pt>
                <c:pt idx="22">
                  <c:v>45.950967</c:v>
                </c:pt>
                <c:pt idx="23">
                  <c:v>41.087623</c:v>
                </c:pt>
                <c:pt idx="24">
                  <c:v>37.377754</c:v>
                </c:pt>
                <c:pt idx="25">
                  <c:v>28.431876</c:v>
                </c:pt>
                <c:pt idx="26">
                  <c:v>28.431876</c:v>
                </c:pt>
                <c:pt idx="27">
                  <c:v>19.988011</c:v>
                </c:pt>
              </c:numCache>
            </c:numRef>
          </c:val>
        </c:ser>
        <c:gapWidth val="3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85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one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 b="0">
              <a:solidFill>
                <a:srgbClr val="2A313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8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Склад своей площадки</c:v>
                </c:pt>
              </c:strCache>
            </c:strRef>
          </c:tx>
          <c:spPr>
            <a:solidFill>
              <a:srgbClr val="12A06E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2026 · 1 066 млн ₽</c:v>
                </c:pt>
                <c:pt idx="1">
                  <c:v>2027 · 1 931 млн ₽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992.47949845</c:v>
                </c:pt>
                <c:pt idx="1">
                  <c:v>698.59773512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Закупка к сроку</c:v>
                </c:pt>
              </c:strCache>
            </c:strRef>
          </c:tx>
          <c:spPr>
            <a:solidFill>
              <a:srgbClr val="5566C9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numFmt formatCode="# ##0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2026 · 1 066 млн ₽</c:v>
                </c:pt>
                <c:pt idx="1">
                  <c:v>2027 · 1 931 млн ₽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4.14444384</c:v>
                </c:pt>
                <c:pt idx="1">
                  <c:v>318.98647835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Закупка опаздывает / без срока</c:v>
                </c:pt>
              </c:strCache>
            </c:strRef>
          </c:tx>
          <c:spPr>
            <a:solidFill>
              <a:srgbClr val="E0A030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numFmt formatCode="# ##0" sourceLinked="0"/>
            <c:txPr>
              <a:bodyPr/>
              <a:lstStyle/>
              <a:p>
                <a:pPr>
                  <a:defRPr sz="1200" b="1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2026 · 1 066 млн ₽</c:v>
                </c:pt>
                <c:pt idx="1">
                  <c:v>2027 · 1 931 млн ₽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21.97458034</c:v>
                </c:pt>
                <c:pt idx="1">
                  <c:v>233.78009713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Не покрыто, есть на другой площадке*</c:v>
                </c:pt>
              </c:strCache>
            </c:strRef>
          </c:tx>
          <c:spPr>
            <a:solidFill>
              <a:srgbClr val="F2B8BD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1200" b="1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2026 · 1 066 млн ₽</c:v>
                </c:pt>
                <c:pt idx="1">
                  <c:v>2027 · 1 931 млн ₽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37.788309229999996</c:v>
                </c:pt>
                <c:pt idx="1">
                  <c:v>179.5099544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Не покрыто</c:v>
                </c:pt>
              </c:strCache>
            </c:strRef>
          </c:tx>
          <c:spPr>
            <a:solidFill>
              <a:srgbClr val="D2454F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numFmt formatCode="# ##0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2026 · 1 066 млн ₽</c:v>
                </c:pt>
                <c:pt idx="1">
                  <c:v>2027 · 1 931 млн ₽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9.700972130000002</c:v>
                </c:pt>
                <c:pt idx="1">
                  <c:v>499.973463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20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one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 b="0">
              <a:solidFill>
                <a:srgbClr val="2A313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Склад своей площадки</c:v>
                </c:pt>
              </c:strCache>
            </c:strRef>
          </c:tx>
          <c:spPr>
            <a:solidFill>
              <a:srgbClr val="12A06E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5"/>
              <c:delete val="1"/>
            </c:dLbl>
            <c:numFmt formatCode="# ##0" sourceLinked="0"/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Красноярск / Еруда · 2026</c:v>
                </c:pt>
                <c:pt idx="1">
                  <c:v>Красноярск / Еруда · 2027</c:v>
                </c:pt>
                <c:pt idx="2">
                  <c:v>Магадан · 2026</c:v>
                </c:pt>
                <c:pt idx="3">
                  <c:v>Магадан · 2027</c:v>
                </c:pt>
                <c:pt idx="4">
                  <c:v>Сухой Лог · 2026</c:v>
                </c:pt>
                <c:pt idx="5">
                  <c:v>Сухой Лог · 2027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657.6316298300001</c:v>
                </c:pt>
                <c:pt idx="1">
                  <c:v>623.3980975600001</c:v>
                </c:pt>
                <c:pt idx="2">
                  <c:v>293.77160132</c:v>
                </c:pt>
                <c:pt idx="3">
                  <c:v>56.1560907</c:v>
                </c:pt>
                <c:pt idx="4">
                  <c:v>41.076267310000006</c:v>
                </c:pt>
                <c:pt idx="5">
                  <c:v>19.04354688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Закупка к сроку</c:v>
                </c:pt>
              </c:strCache>
            </c:strRef>
          </c:tx>
          <c:spPr>
            <a:solidFill>
              <a:srgbClr val="5566C9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 ##0" sourceLinked="0"/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Красноярск / Еруда · 2026</c:v>
                </c:pt>
                <c:pt idx="1">
                  <c:v>Красноярск / Еруда · 2027</c:v>
                </c:pt>
                <c:pt idx="2">
                  <c:v>Магадан · 2026</c:v>
                </c:pt>
                <c:pt idx="3">
                  <c:v>Магадан · 2027</c:v>
                </c:pt>
                <c:pt idx="4">
                  <c:v>Сухой Лог · 2026</c:v>
                </c:pt>
                <c:pt idx="5">
                  <c:v>Сухой Лог · 2027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0.139801</c:v>
                </c:pt>
                <c:pt idx="1">
                  <c:v>285.8004125499999</c:v>
                </c:pt>
                <c:pt idx="2">
                  <c:v>2.10952348</c:v>
                </c:pt>
                <c:pt idx="3">
                  <c:v>6.17265967</c:v>
                </c:pt>
                <c:pt idx="4">
                  <c:v>1.8951193599999998</c:v>
                </c:pt>
                <c:pt idx="5">
                  <c:v>27.01340612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Закупка опаздывает / без срока</c:v>
                </c:pt>
              </c:strCache>
            </c:strRef>
          </c:tx>
          <c:spPr>
            <a:solidFill>
              <a:srgbClr val="E0A030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 ##0" sourceLinked="0"/>
            <c:txPr>
              <a:bodyPr/>
              <a:lstStyle/>
              <a:p>
                <a:pPr>
                  <a:defRPr sz="1000" b="1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Красноярск / Еруда · 2026</c:v>
                </c:pt>
                <c:pt idx="1">
                  <c:v>Красноярск / Еруда · 2027</c:v>
                </c:pt>
                <c:pt idx="2">
                  <c:v>Магадан · 2026</c:v>
                </c:pt>
                <c:pt idx="3">
                  <c:v>Магадан · 2027</c:v>
                </c:pt>
                <c:pt idx="4">
                  <c:v>Сухой Лог · 2026</c:v>
                </c:pt>
                <c:pt idx="5">
                  <c:v>Сухой Лог · 2027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0.3880045</c:v>
                </c:pt>
                <c:pt idx="1">
                  <c:v>215.11712185</c:v>
                </c:pt>
                <c:pt idx="2">
                  <c:v>11.279626519999999</c:v>
                </c:pt>
                <c:pt idx="3">
                  <c:v>0.86971833</c:v>
                </c:pt>
                <c:pt idx="4">
                  <c:v>6.37498577</c:v>
                </c:pt>
                <c:pt idx="5">
                  <c:v>17.79325695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Не покрыто, есть на другой площадке*</c:v>
                </c:pt>
              </c:strCache>
            </c:strRef>
          </c:tx>
          <c:spPr>
            <a:solidFill>
              <a:srgbClr val="F2B8BD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 ##0" sourceLinked="0"/>
            <c:txPr>
              <a:bodyPr/>
              <a:lstStyle/>
              <a:p>
                <a:pPr>
                  <a:defRPr sz="1000" b="1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Красноярск / Еруда · 2026</c:v>
                </c:pt>
                <c:pt idx="1">
                  <c:v>Красноярск / Еруда · 2027</c:v>
                </c:pt>
                <c:pt idx="2">
                  <c:v>Магадан · 2026</c:v>
                </c:pt>
                <c:pt idx="3">
                  <c:v>Магадан · 2027</c:v>
                </c:pt>
                <c:pt idx="4">
                  <c:v>Сухой Лог · 2026</c:v>
                </c:pt>
                <c:pt idx="5">
                  <c:v>Сухой Лог · 2027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1.277987</c:v>
                </c:pt>
                <c:pt idx="1">
                  <c:v>86.00004705999999</c:v>
                </c:pt>
                <c:pt idx="2">
                  <c:v>27.03978066</c:v>
                </c:pt>
                <c:pt idx="3">
                  <c:v>6.792037</c:v>
                </c:pt>
                <c:pt idx="4">
                  <c:v>9.47054157</c:v>
                </c:pt>
                <c:pt idx="5">
                  <c:v>86.71787035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Не покрыто</c:v>
                </c:pt>
              </c:strCache>
            </c:strRef>
          </c:tx>
          <c:spPr>
            <a:solidFill>
              <a:srgbClr val="D2454F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 ##0" sourceLinked="0"/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Красноярск / Еруда · 2026</c:v>
                </c:pt>
                <c:pt idx="1">
                  <c:v>Красноярск / Еруда · 2027</c:v>
                </c:pt>
                <c:pt idx="2">
                  <c:v>Магадан · 2026</c:v>
                </c:pt>
                <c:pt idx="3">
                  <c:v>Магадан · 2027</c:v>
                </c:pt>
                <c:pt idx="4">
                  <c:v>Сухой Лог · 2026</c:v>
                </c:pt>
                <c:pt idx="5">
                  <c:v>Сухой Лог · 2027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1.32644367</c:v>
                </c:pt>
                <c:pt idx="1">
                  <c:v>458.82664797999996</c:v>
                </c:pt>
                <c:pt idx="2">
                  <c:v>12.306492030000005</c:v>
                </c:pt>
                <c:pt idx="3">
                  <c:v>24.9154333</c:v>
                </c:pt>
                <c:pt idx="4">
                  <c:v>0.0</c:v>
                </c:pt>
                <c:pt idx="5">
                  <c:v>16.231381700000018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00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one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 b="0">
              <a:solidFill>
                <a:srgbClr val="2A313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Склад своей площадки</c:v>
                </c:pt>
              </c:strCache>
            </c:strRef>
          </c:tx>
          <c:spPr>
            <a:solidFill>
              <a:srgbClr val="12A06E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4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10"/>
              <c:delete val="1"/>
            </c:dLbl>
            <c:dLbl>
              <c:idx val="14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numFmt formatCode="# 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WK-35 №16 · Красноярск</c:v>
                </c:pt>
                <c:pt idx="1">
                  <c:v>WK-35 №17 · Красноярск</c:v>
                </c:pt>
                <c:pt idx="2">
                  <c:v>WK-35 №07 · Красноярск</c:v>
                </c:pt>
                <c:pt idx="3">
                  <c:v>WK-35 №15 · Красноярск</c:v>
                </c:pt>
                <c:pt idx="4">
                  <c:v>WK-35 №18 · Красноярск</c:v>
                </c:pt>
                <c:pt idx="5">
                  <c:v>WK-20 №1220 · Сухой Лог</c:v>
                </c:pt>
                <c:pt idx="6">
                  <c:v>WK-20 №8 · Красноярск</c:v>
                </c:pt>
                <c:pt idx="7">
                  <c:v>WK-20C №1221 · Сухой Лог</c:v>
                </c:pt>
                <c:pt idx="8">
                  <c:v>WK-35 №12 · Красноярск</c:v>
                </c:pt>
                <c:pt idx="9">
                  <c:v>WK-35 №06 · Красноярск</c:v>
                </c:pt>
                <c:pt idx="10">
                  <c:v>WK-35 №05 · Красноярск</c:v>
                </c:pt>
                <c:pt idx="11">
                  <c:v>WK-35 №10 · Красноярск</c:v>
                </c:pt>
                <c:pt idx="12">
                  <c:v>WK-35 №11 · Красноярск</c:v>
                </c:pt>
                <c:pt idx="13">
                  <c:v>WK-35 №14 · Красноярск</c:v>
                </c:pt>
                <c:pt idx="14">
                  <c:v>WK-35 №04 · Красноярск</c:v>
                </c:pt>
                <c:pt idx="15">
                  <c:v>WK-20 №02 · Красноярск</c:v>
                </c:pt>
                <c:pt idx="16">
                  <c:v>WK-20 №1 · Магадан</c:v>
                </c:pt>
                <c:pt idx="17">
                  <c:v>WK-35 №13 · Красноярск</c:v>
                </c:pt>
                <c:pt idx="18">
                  <c:v>WK-20 №2 · Магадан</c:v>
                </c:pt>
                <c:pt idx="19">
                  <c:v>WK-20 №03 · Красноярск</c:v>
                </c:pt>
                <c:pt idx="20">
                  <c:v>WK-20C №3 · Магадан</c:v>
                </c:pt>
                <c:pt idx="21">
                  <c:v>WK-20C №6 · Магадан</c:v>
                </c:pt>
                <c:pt idx="22">
                  <c:v>WK-20C №5 · Магадан</c:v>
                </c:pt>
                <c:pt idx="23">
                  <c:v>WK-20C №4 · Магадан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36.416672</c:v>
                </c:pt>
                <c:pt idx="1">
                  <c:v>12.62642075</c:v>
                </c:pt>
                <c:pt idx="2">
                  <c:v>161.24822037</c:v>
                </c:pt>
                <c:pt idx="3">
                  <c:v>52.66069941</c:v>
                </c:pt>
                <c:pt idx="4">
                  <c:v>4.216297</c:v>
                </c:pt>
                <c:pt idx="5">
                  <c:v>16.68460838</c:v>
                </c:pt>
                <c:pt idx="6">
                  <c:v>53.39418503</c:v>
                </c:pt>
                <c:pt idx="7">
                  <c:v>2.3589385</c:v>
                </c:pt>
                <c:pt idx="8">
                  <c:v>6.7138255</c:v>
                </c:pt>
                <c:pt idx="9">
                  <c:v>141.067335</c:v>
                </c:pt>
                <c:pt idx="10">
                  <c:v>6.96065</c:v>
                </c:pt>
                <c:pt idx="11">
                  <c:v>24.202339</c:v>
                </c:pt>
                <c:pt idx="12">
                  <c:v>18.273345</c:v>
                </c:pt>
                <c:pt idx="13">
                  <c:v>62.30597978</c:v>
                </c:pt>
                <c:pt idx="14">
                  <c:v>7.028046560000001</c:v>
                </c:pt>
                <c:pt idx="15">
                  <c:v>15.66237733</c:v>
                </c:pt>
                <c:pt idx="16">
                  <c:v>7.7479057000000005</c:v>
                </c:pt>
                <c:pt idx="17">
                  <c:v>2.34527</c:v>
                </c:pt>
                <c:pt idx="18">
                  <c:v>7.620937</c:v>
                </c:pt>
                <c:pt idx="19">
                  <c:v>18.27643483</c:v>
                </c:pt>
                <c:pt idx="20">
                  <c:v>17.76913</c:v>
                </c:pt>
                <c:pt idx="21">
                  <c:v>6.796686</c:v>
                </c:pt>
                <c:pt idx="22">
                  <c:v>6.151829</c:v>
                </c:pt>
                <c:pt idx="23">
                  <c:v>10.069603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Закупка к сроку</c:v>
                </c:pt>
              </c:strCache>
            </c:strRef>
          </c:tx>
          <c:spPr>
            <a:solidFill>
              <a:srgbClr val="5566C9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numFmt formatCode="# 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WK-35 №16 · Красноярск</c:v>
                </c:pt>
                <c:pt idx="1">
                  <c:v>WK-35 №17 · Красноярск</c:v>
                </c:pt>
                <c:pt idx="2">
                  <c:v>WK-35 №07 · Красноярск</c:v>
                </c:pt>
                <c:pt idx="3">
                  <c:v>WK-35 №15 · Красноярск</c:v>
                </c:pt>
                <c:pt idx="4">
                  <c:v>WK-35 №18 · Красноярск</c:v>
                </c:pt>
                <c:pt idx="5">
                  <c:v>WK-20 №1220 · Сухой Лог</c:v>
                </c:pt>
                <c:pt idx="6">
                  <c:v>WK-20 №8 · Красноярск</c:v>
                </c:pt>
                <c:pt idx="7">
                  <c:v>WK-20C №1221 · Сухой Лог</c:v>
                </c:pt>
                <c:pt idx="8">
                  <c:v>WK-35 №12 · Красноярск</c:v>
                </c:pt>
                <c:pt idx="9">
                  <c:v>WK-35 №06 · Красноярск</c:v>
                </c:pt>
                <c:pt idx="10">
                  <c:v>WK-35 №05 · Красноярск</c:v>
                </c:pt>
                <c:pt idx="11">
                  <c:v>WK-35 №10 · Красноярск</c:v>
                </c:pt>
                <c:pt idx="12">
                  <c:v>WK-35 №11 · Красноярск</c:v>
                </c:pt>
                <c:pt idx="13">
                  <c:v>WK-35 №14 · Красноярск</c:v>
                </c:pt>
                <c:pt idx="14">
                  <c:v>WK-35 №04 · Красноярск</c:v>
                </c:pt>
                <c:pt idx="15">
                  <c:v>WK-20 №02 · Красноярск</c:v>
                </c:pt>
                <c:pt idx="16">
                  <c:v>WK-20 №1 · Магадан</c:v>
                </c:pt>
                <c:pt idx="17">
                  <c:v>WK-35 №13 · Красноярск</c:v>
                </c:pt>
                <c:pt idx="18">
                  <c:v>WK-20 №2 · Магадан</c:v>
                </c:pt>
                <c:pt idx="19">
                  <c:v>WK-20 №03 · Красноярск</c:v>
                </c:pt>
                <c:pt idx="20">
                  <c:v>WK-20C №3 · Магадан</c:v>
                </c:pt>
                <c:pt idx="21">
                  <c:v>WK-20C №6 · Магадан</c:v>
                </c:pt>
                <c:pt idx="22">
                  <c:v>WK-20C №5 · Магадан</c:v>
                </c:pt>
                <c:pt idx="23">
                  <c:v>WK-20C №4 · Магадан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26.59907928</c:v>
                </c:pt>
                <c:pt idx="1">
                  <c:v>22.836861</c:v>
                </c:pt>
                <c:pt idx="2">
                  <c:v>55.412386</c:v>
                </c:pt>
                <c:pt idx="3">
                  <c:v>28.66516595</c:v>
                </c:pt>
                <c:pt idx="4">
                  <c:v>5.910438</c:v>
                </c:pt>
                <c:pt idx="5">
                  <c:v>11.267097620000001</c:v>
                </c:pt>
                <c:pt idx="6">
                  <c:v>2.71206539</c:v>
                </c:pt>
                <c:pt idx="7">
                  <c:v>15.7463085</c:v>
                </c:pt>
                <c:pt idx="8">
                  <c:v>15.198666</c:v>
                </c:pt>
                <c:pt idx="9">
                  <c:v>44.71711412</c:v>
                </c:pt>
                <c:pt idx="10">
                  <c:v>13.413982879999999</c:v>
                </c:pt>
                <c:pt idx="11">
                  <c:v>12.6705375</c:v>
                </c:pt>
                <c:pt idx="12">
                  <c:v>15.367986</c:v>
                </c:pt>
                <c:pt idx="13">
                  <c:v>15.15308243</c:v>
                </c:pt>
                <c:pt idx="14">
                  <c:v>13.253677</c:v>
                </c:pt>
                <c:pt idx="15">
                  <c:v>3.59807</c:v>
                </c:pt>
                <c:pt idx="16">
                  <c:v>3.1314806699999997</c:v>
                </c:pt>
                <c:pt idx="17">
                  <c:v>6.570881</c:v>
                </c:pt>
                <c:pt idx="18">
                  <c:v>2.346471</c:v>
                </c:pt>
                <c:pt idx="19">
                  <c:v>3.72042</c:v>
                </c:pt>
                <c:pt idx="20">
                  <c:v>0.173677</c:v>
                </c:pt>
                <c:pt idx="21">
                  <c:v>0.173677</c:v>
                </c:pt>
                <c:pt idx="22">
                  <c:v>0.173677</c:v>
                </c:pt>
                <c:pt idx="23">
                  <c:v>0.173677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Закупка опаздывает / без срока</c:v>
                </c:pt>
              </c:strCache>
            </c:strRef>
          </c:tx>
          <c:spPr>
            <a:solidFill>
              <a:srgbClr val="E0A030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2"/>
              <c:delete val="1"/>
            </c:dLbl>
            <c:dLbl>
              <c:idx val="4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numFmt formatCode="# ##0" sourceLinked="0"/>
            <c:txPr>
              <a:bodyPr/>
              <a:lstStyle/>
              <a:p>
                <a:pPr>
                  <a:defRPr sz="800" b="1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WK-35 №16 · Красноярск</c:v>
                </c:pt>
                <c:pt idx="1">
                  <c:v>WK-35 №17 · Красноярск</c:v>
                </c:pt>
                <c:pt idx="2">
                  <c:v>WK-35 №07 · Красноярск</c:v>
                </c:pt>
                <c:pt idx="3">
                  <c:v>WK-35 №15 · Красноярск</c:v>
                </c:pt>
                <c:pt idx="4">
                  <c:v>WK-35 №18 · Красноярск</c:v>
                </c:pt>
                <c:pt idx="5">
                  <c:v>WK-20 №1220 · Сухой Лог</c:v>
                </c:pt>
                <c:pt idx="6">
                  <c:v>WK-20 №8 · Красноярск</c:v>
                </c:pt>
                <c:pt idx="7">
                  <c:v>WK-20C №1221 · Сухой Лог</c:v>
                </c:pt>
                <c:pt idx="8">
                  <c:v>WK-35 №12 · Красноярск</c:v>
                </c:pt>
                <c:pt idx="9">
                  <c:v>WK-35 №06 · Красноярск</c:v>
                </c:pt>
                <c:pt idx="10">
                  <c:v>WK-35 №05 · Красноярск</c:v>
                </c:pt>
                <c:pt idx="11">
                  <c:v>WK-35 №10 · Красноярск</c:v>
                </c:pt>
                <c:pt idx="12">
                  <c:v>WK-35 №11 · Красноярск</c:v>
                </c:pt>
                <c:pt idx="13">
                  <c:v>WK-35 №14 · Красноярск</c:v>
                </c:pt>
                <c:pt idx="14">
                  <c:v>WK-35 №04 · Красноярск</c:v>
                </c:pt>
                <c:pt idx="15">
                  <c:v>WK-20 №02 · Красноярск</c:v>
                </c:pt>
                <c:pt idx="16">
                  <c:v>WK-20 №1 · Магадан</c:v>
                </c:pt>
                <c:pt idx="17">
                  <c:v>WK-35 №13 · Красноярск</c:v>
                </c:pt>
                <c:pt idx="18">
                  <c:v>WK-20 №2 · Магадан</c:v>
                </c:pt>
                <c:pt idx="19">
                  <c:v>WK-20 №03 · Красноярск</c:v>
                </c:pt>
                <c:pt idx="20">
                  <c:v>WK-20C №3 · Магадан</c:v>
                </c:pt>
                <c:pt idx="21">
                  <c:v>WK-20C №6 · Магадан</c:v>
                </c:pt>
                <c:pt idx="22">
                  <c:v>WK-20C №5 · Магадан</c:v>
                </c:pt>
                <c:pt idx="23">
                  <c:v>WK-20C №4 · Магадан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61.7282815</c:v>
                </c:pt>
                <c:pt idx="1">
                  <c:v>47.60332775</c:v>
                </c:pt>
                <c:pt idx="2">
                  <c:v>9.6510935</c:v>
                </c:pt>
                <c:pt idx="3">
                  <c:v>61.381305</c:v>
                </c:pt>
                <c:pt idx="4">
                  <c:v>2.876969</c:v>
                </c:pt>
                <c:pt idx="5">
                  <c:v>14.2700383</c:v>
                </c:pt>
                <c:pt idx="6">
                  <c:v>5.09249</c:v>
                </c:pt>
                <c:pt idx="7">
                  <c:v>3.52321865</c:v>
                </c:pt>
                <c:pt idx="8">
                  <c:v>3.2023555</c:v>
                </c:pt>
                <c:pt idx="9">
                  <c:v>6.202015</c:v>
                </c:pt>
                <c:pt idx="10">
                  <c:v>2.628966</c:v>
                </c:pt>
                <c:pt idx="11">
                  <c:v>7.699785060000001</c:v>
                </c:pt>
                <c:pt idx="12">
                  <c:v>0.7900954299999999</c:v>
                </c:pt>
                <c:pt idx="13">
                  <c:v>2.326416</c:v>
                </c:pt>
                <c:pt idx="14">
                  <c:v>1.35310244</c:v>
                </c:pt>
                <c:pt idx="15">
                  <c:v>0.994784</c:v>
                </c:pt>
                <c:pt idx="16">
                  <c:v>0.23044033000000003</c:v>
                </c:pt>
                <c:pt idx="17">
                  <c:v>0.0</c:v>
                </c:pt>
                <c:pt idx="18">
                  <c:v>0.291924</c:v>
                </c:pt>
                <c:pt idx="19">
                  <c:v>1.58613567</c:v>
                </c:pt>
                <c:pt idx="20">
                  <c:v>0.173677</c:v>
                </c:pt>
                <c:pt idx="21">
                  <c:v>0.0</c:v>
                </c:pt>
                <c:pt idx="22">
                  <c:v>0.0</c:v>
                </c:pt>
                <c:pt idx="23">
                  <c:v>0.173677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Не покрыто, есть на другой площадке*</c:v>
                </c:pt>
              </c:strCache>
            </c:strRef>
          </c:tx>
          <c:spPr>
            <a:solidFill>
              <a:srgbClr val="F2B8BD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numFmt formatCode="# ##0" sourceLinked="0"/>
            <c:txPr>
              <a:bodyPr/>
              <a:lstStyle/>
              <a:p>
                <a:pPr>
                  <a:defRPr sz="800" b="1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WK-35 №16 · Красноярск</c:v>
                </c:pt>
                <c:pt idx="1">
                  <c:v>WK-35 №17 · Красноярск</c:v>
                </c:pt>
                <c:pt idx="2">
                  <c:v>WK-35 №07 · Красноярск</c:v>
                </c:pt>
                <c:pt idx="3">
                  <c:v>WK-35 №15 · Красноярск</c:v>
                </c:pt>
                <c:pt idx="4">
                  <c:v>WK-35 №18 · Красноярск</c:v>
                </c:pt>
                <c:pt idx="5">
                  <c:v>WK-20 №1220 · Сухой Лог</c:v>
                </c:pt>
                <c:pt idx="6">
                  <c:v>WK-20 №8 · Красноярск</c:v>
                </c:pt>
                <c:pt idx="7">
                  <c:v>WK-20C №1221 · Сухой Лог</c:v>
                </c:pt>
                <c:pt idx="8">
                  <c:v>WK-35 №12 · Красноярск</c:v>
                </c:pt>
                <c:pt idx="9">
                  <c:v>WK-35 №06 · Красноярск</c:v>
                </c:pt>
                <c:pt idx="10">
                  <c:v>WK-35 №05 · Красноярск</c:v>
                </c:pt>
                <c:pt idx="11">
                  <c:v>WK-35 №10 · Красноярск</c:v>
                </c:pt>
                <c:pt idx="12">
                  <c:v>WK-35 №11 · Красноярск</c:v>
                </c:pt>
                <c:pt idx="13">
                  <c:v>WK-35 №14 · Красноярск</c:v>
                </c:pt>
                <c:pt idx="14">
                  <c:v>WK-35 №04 · Красноярск</c:v>
                </c:pt>
                <c:pt idx="15">
                  <c:v>WK-20 №02 · Красноярск</c:v>
                </c:pt>
                <c:pt idx="16">
                  <c:v>WK-20 №1 · Магадан</c:v>
                </c:pt>
                <c:pt idx="17">
                  <c:v>WK-35 №13 · Красноярск</c:v>
                </c:pt>
                <c:pt idx="18">
                  <c:v>WK-20 №2 · Магадан</c:v>
                </c:pt>
                <c:pt idx="19">
                  <c:v>WK-20 №03 · Красноярск</c:v>
                </c:pt>
                <c:pt idx="20">
                  <c:v>WK-20C №3 · Магадан</c:v>
                </c:pt>
                <c:pt idx="21">
                  <c:v>WK-20C №6 · Магадан</c:v>
                </c:pt>
                <c:pt idx="22">
                  <c:v>WK-20C №5 · Магадан</c:v>
                </c:pt>
                <c:pt idx="23">
                  <c:v>WK-20C №4 · Магадан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2.801175</c:v>
                </c:pt>
                <c:pt idx="1">
                  <c:v>5.02778975</c:v>
                </c:pt>
                <c:pt idx="2">
                  <c:v>3.14412283</c:v>
                </c:pt>
                <c:pt idx="3">
                  <c:v>5.52138416</c:v>
                </c:pt>
                <c:pt idx="4">
                  <c:v>0.0</c:v>
                </c:pt>
                <c:pt idx="5">
                  <c:v>62.82927275</c:v>
                </c:pt>
                <c:pt idx="6">
                  <c:v>30.51108337</c:v>
                </c:pt>
                <c:pt idx="7">
                  <c:v>23.8885976</c:v>
                </c:pt>
                <c:pt idx="8">
                  <c:v>4.532346</c:v>
                </c:pt>
                <c:pt idx="9">
                  <c:v>5.60393938</c:v>
                </c:pt>
                <c:pt idx="10">
                  <c:v>5.16468212</c:v>
                </c:pt>
                <c:pt idx="11">
                  <c:v>3.087856</c:v>
                </c:pt>
                <c:pt idx="12">
                  <c:v>3.130511</c:v>
                </c:pt>
                <c:pt idx="13">
                  <c:v>3.4550891100000003</c:v>
                </c:pt>
                <c:pt idx="14">
                  <c:v>4.93189</c:v>
                </c:pt>
                <c:pt idx="15">
                  <c:v>6.56362267</c:v>
                </c:pt>
                <c:pt idx="16">
                  <c:v>3.7111158</c:v>
                </c:pt>
                <c:pt idx="17">
                  <c:v>0.0</c:v>
                </c:pt>
                <c:pt idx="18">
                  <c:v>3.0809212</c:v>
                </c:pt>
                <c:pt idx="19">
                  <c:v>2.52455567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Не покрыто</c:v>
                </c:pt>
              </c:strCache>
            </c:strRef>
          </c:tx>
          <c:spPr>
            <a:solidFill>
              <a:srgbClr val="D2454F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5"/>
              <c:delete val="1"/>
            </c:dLbl>
            <c:dLbl>
              <c:idx val="7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numFmt formatCode="# 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WK-35 №16 · Красноярск</c:v>
                </c:pt>
                <c:pt idx="1">
                  <c:v>WK-35 №17 · Красноярск</c:v>
                </c:pt>
                <c:pt idx="2">
                  <c:v>WK-35 №07 · Красноярск</c:v>
                </c:pt>
                <c:pt idx="3">
                  <c:v>WK-35 №15 · Красноярск</c:v>
                </c:pt>
                <c:pt idx="4">
                  <c:v>WK-35 №18 · Красноярск</c:v>
                </c:pt>
                <c:pt idx="5">
                  <c:v>WK-20 №1220 · Сухой Лог</c:v>
                </c:pt>
                <c:pt idx="6">
                  <c:v>WK-20 №8 · Красноярск</c:v>
                </c:pt>
                <c:pt idx="7">
                  <c:v>WK-20C №1221 · Сухой Лог</c:v>
                </c:pt>
                <c:pt idx="8">
                  <c:v>WK-35 №12 · Красноярск</c:v>
                </c:pt>
                <c:pt idx="9">
                  <c:v>WK-35 №06 · Красноярск</c:v>
                </c:pt>
                <c:pt idx="10">
                  <c:v>WK-35 №05 · Красноярск</c:v>
                </c:pt>
                <c:pt idx="11">
                  <c:v>WK-35 №10 · Красноярск</c:v>
                </c:pt>
                <c:pt idx="12">
                  <c:v>WK-35 №11 · Красноярск</c:v>
                </c:pt>
                <c:pt idx="13">
                  <c:v>WK-35 №14 · Красноярск</c:v>
                </c:pt>
                <c:pt idx="14">
                  <c:v>WK-35 №04 · Красноярск</c:v>
                </c:pt>
                <c:pt idx="15">
                  <c:v>WK-20 №02 · Красноярск</c:v>
                </c:pt>
                <c:pt idx="16">
                  <c:v>WK-20 №1 · Магадан</c:v>
                </c:pt>
                <c:pt idx="17">
                  <c:v>WK-35 №13 · Красноярск</c:v>
                </c:pt>
                <c:pt idx="18">
                  <c:v>WK-20 №2 · Магадан</c:v>
                </c:pt>
                <c:pt idx="19">
                  <c:v>WK-20 №03 · Красноярск</c:v>
                </c:pt>
                <c:pt idx="20">
                  <c:v>WK-20C №3 · Магадан</c:v>
                </c:pt>
                <c:pt idx="21">
                  <c:v>WK-20C №6 · Магадан</c:v>
                </c:pt>
                <c:pt idx="22">
                  <c:v>WK-20C №5 · Магадан</c:v>
                </c:pt>
                <c:pt idx="23">
                  <c:v>WK-20C №4 · Магадан</c:v>
                </c:pt>
              </c:strCache>
            </c:strRef>
          </c:cat>
          <c:val>
            <c:numRef>
              <c:f>Sheet1!$F$2:$F$25</c:f>
              <c:numCache>
                <c:formatCode>General</c:formatCode>
                <c:ptCount val="24"/>
                <c:pt idx="0">
                  <c:v>56.96462522</c:v>
                </c:pt>
                <c:pt idx="1">
                  <c:v>68.81137775</c:v>
                </c:pt>
                <c:pt idx="2">
                  <c:v>98.8767483</c:v>
                </c:pt>
                <c:pt idx="3">
                  <c:v>25.54975748</c:v>
                </c:pt>
                <c:pt idx="4">
                  <c:v>88.168873</c:v>
                </c:pt>
                <c:pt idx="5">
                  <c:v>5.651712950000003</c:v>
                </c:pt>
                <c:pt idx="6">
                  <c:v>31.621012209999996</c:v>
                </c:pt>
                <c:pt idx="7">
                  <c:v>10.57966875</c:v>
                </c:pt>
                <c:pt idx="8">
                  <c:v>18.899755</c:v>
                </c:pt>
                <c:pt idx="9">
                  <c:v>9.0511035</c:v>
                </c:pt>
                <c:pt idx="10">
                  <c:v>11.466518</c:v>
                </c:pt>
                <c:pt idx="11">
                  <c:v>7.91825144</c:v>
                </c:pt>
                <c:pt idx="12">
                  <c:v>14.24680157</c:v>
                </c:pt>
                <c:pt idx="13">
                  <c:v>9.49147868</c:v>
                </c:pt>
                <c:pt idx="14">
                  <c:v>6.545769</c:v>
                </c:pt>
                <c:pt idx="15">
                  <c:v>1.540386</c:v>
                </c:pt>
                <c:pt idx="16">
                  <c:v>4.4076785</c:v>
                </c:pt>
                <c:pt idx="17">
                  <c:v>7.568487</c:v>
                </c:pt>
                <c:pt idx="18">
                  <c:v>3.6383438</c:v>
                </c:pt>
                <c:pt idx="19">
                  <c:v>2.10570383</c:v>
                </c:pt>
                <c:pt idx="20">
                  <c:v>4.576465</c:v>
                </c:pt>
                <c:pt idx="21">
                  <c:v>4.553956</c:v>
                </c:pt>
                <c:pt idx="22">
                  <c:v>4.471902</c:v>
                </c:pt>
                <c:pt idx="23">
                  <c:v>3.267088</c:v>
                </c:pt>
              </c:numCache>
            </c:numRef>
          </c:val>
        </c:ser>
        <c:gapWidth val="3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85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one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 b="0">
              <a:solidFill>
                <a:srgbClr val="2A313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8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Склад своей площадки</c:v>
                </c:pt>
              </c:strCache>
            </c:strRef>
          </c:tx>
          <c:spPr>
            <a:solidFill>
              <a:srgbClr val="12A06E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2"/>
              <c:delete val="1"/>
            </c:dLbl>
            <c:numFmt formatCode="# ##0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Немедленно · 665</c:v>
                </c:pt>
                <c:pt idx="1">
                  <c:v>Начиная с деблок. · 1 184</c:v>
                </c:pt>
                <c:pt idx="2">
                  <c:v>Никогда · 82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298.03718496</c:v>
                </c:pt>
                <c:pt idx="1">
                  <c:v>399.87713717</c:v>
                </c:pt>
                <c:pt idx="2">
                  <c:v>0.683413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Закупка к сроку</c:v>
                </c:pt>
              </c:strCache>
            </c:strRef>
          </c:tx>
          <c:spPr>
            <a:solidFill>
              <a:srgbClr val="5566C9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2"/>
              <c:delete val="1"/>
            </c:dLbl>
            <c:numFmt formatCode="# ##0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Немедленно · 665</c:v>
                </c:pt>
                <c:pt idx="1">
                  <c:v>Начиная с деблок. · 1 184</c:v>
                </c:pt>
                <c:pt idx="2">
                  <c:v>Никогда · 82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95.85592770999999</c:v>
                </c:pt>
                <c:pt idx="1">
                  <c:v>223.13055064</c:v>
                </c:pt>
                <c:pt idx="2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Закупка опаздывает / без срока</c:v>
                </c:pt>
              </c:strCache>
            </c:strRef>
          </c:tx>
          <c:spPr>
            <a:solidFill>
              <a:srgbClr val="E0A030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2"/>
              <c:delete val="1"/>
            </c:dLbl>
            <c:numFmt formatCode="# ##0" sourceLinked="0"/>
            <c:txPr>
              <a:bodyPr/>
              <a:lstStyle/>
              <a:p>
                <a:pPr>
                  <a:defRPr sz="1100" b="1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Немедленно · 665</c:v>
                </c:pt>
                <c:pt idx="1">
                  <c:v>Начиная с деблок. · 1 184</c:v>
                </c:pt>
                <c:pt idx="2">
                  <c:v>Никогда · 82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192.56805085</c:v>
                </c:pt>
                <c:pt idx="1">
                  <c:v>41.21204628</c:v>
                </c:pt>
                <c:pt idx="2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Не покрыто, есть на другой площадке*</c:v>
                </c:pt>
              </c:strCache>
            </c:strRef>
          </c:tx>
          <c:spPr>
            <a:solidFill>
              <a:srgbClr val="F2B8BD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2"/>
              <c:delete val="1"/>
            </c:dLbl>
            <c:numFmt formatCode="# ##0" sourceLinked="0"/>
            <c:txPr>
              <a:bodyPr/>
              <a:lstStyle/>
              <a:p>
                <a:pPr>
                  <a:defRPr sz="1100" b="1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Немедленно · 665</c:v>
                </c:pt>
                <c:pt idx="1">
                  <c:v>Начиная с деблок. · 1 184</c:v>
                </c:pt>
                <c:pt idx="2">
                  <c:v>Никогда · 82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34.29087171</c:v>
                </c:pt>
                <c:pt idx="1">
                  <c:v>145.21908269</c:v>
                </c:pt>
                <c:pt idx="2">
                  <c:v>0.0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Не покрыто</c:v>
                </c:pt>
              </c:strCache>
            </c:strRef>
          </c:tx>
          <c:spPr>
            <a:solidFill>
              <a:srgbClr val="D2454F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Немедленно · 665</c:v>
                </c:pt>
                <c:pt idx="1">
                  <c:v>Начиная с деблок. · 1 184</c:v>
                </c:pt>
                <c:pt idx="2">
                  <c:v>Никогда · 82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44.620533779999995</c:v>
                </c:pt>
                <c:pt idx="1">
                  <c:v>374.21427922000004</c:v>
                </c:pt>
                <c:pt idx="2">
                  <c:v>81.13865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10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one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2A313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Запас</c:v>
                </c:pt>
              </c:strCache>
            </c:strRef>
          </c:tx>
          <c:spPr>
            <a:solidFill>
              <a:srgbClr val="5566C9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9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Красноярск · ПЛ ОХ КарьерОГОК · 7101</c:v>
                </c:pt>
                <c:pt idx="1">
                  <c:v>Красноярск · ПЛ ОХ КарьерОГОК · 1100</c:v>
                </c:pt>
                <c:pt idx="2">
                  <c:v>Красноярск · Стройматериалы · 7106 (ПБ)</c:v>
                </c:pt>
                <c:pt idx="3">
                  <c:v>Красноярск · Бывш. Вост. Техн · 1100</c:v>
                </c:pt>
                <c:pt idx="4">
                  <c:v>Магадан · ЗТК НаполХранУл · 7104</c:v>
                </c:pt>
                <c:pt idx="5">
                  <c:v>Магадан · Склад МТР · 7104</c:v>
                </c:pt>
                <c:pt idx="6">
                  <c:v>Магадан · Склад МТР · 1400</c:v>
                </c:pt>
                <c:pt idx="7">
                  <c:v>Магадан · ЗТК НаполХранУл · 1400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976.6489486000011</c:v>
                </c:pt>
                <c:pt idx="1">
                  <c:v>496.69226209000027</c:v>
                </c:pt>
                <c:pt idx="2">
                  <c:v>219.53054810999996</c:v>
                </c:pt>
                <c:pt idx="3">
                  <c:v>212.13395890000004</c:v>
                </c:pt>
                <c:pt idx="4">
                  <c:v>181.54301720000004</c:v>
                </c:pt>
                <c:pt idx="5">
                  <c:v>171.51889129999992</c:v>
                </c:pt>
                <c:pt idx="6">
                  <c:v>162.21455621000007</c:v>
                </c:pt>
                <c:pt idx="7">
                  <c:v>147.78517108999995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90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one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Поставка</c:v>
                </c:pt>
              </c:strCache>
            </c:strRef>
          </c:tx>
          <c:spPr>
            <a:solidFill>
              <a:srgbClr val="5566C9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0"/>
            <c:spPr>
              <a:solidFill>
                <a:srgbClr val="D2454F"/>
              </a:solidFill>
            </c:spPr>
          </c:dPt>
          <c:dPt>
            <c:idx val="1"/>
            <c:spPr>
              <a:solidFill>
                <a:srgbClr val="D2454F"/>
              </a:solidFill>
            </c:spPr>
          </c:dPt>
          <c:dPt>
            <c:idx val="2"/>
            <c:spPr>
              <a:solidFill>
                <a:srgbClr val="D2454F"/>
              </a:solidFill>
            </c:spPr>
          </c:dPt>
          <c:dPt>
            <c:idx val="3"/>
            <c:spPr>
              <a:solidFill>
                <a:srgbClr val="D2454F"/>
              </a:solidFill>
            </c:spPr>
          </c:dPt>
          <c:dPt>
            <c:idx val="4"/>
            <c:spPr>
              <a:solidFill>
                <a:srgbClr val="D2454F"/>
              </a:solidFill>
            </c:spPr>
          </c:dPt>
          <c:dPt>
            <c:idx val="5"/>
            <c:spPr>
              <a:solidFill>
                <a:srgbClr val="D2454F"/>
              </a:solidFill>
            </c:spPr>
          </c:dPt>
          <c:dPt>
            <c:idx val="6"/>
            <c:spPr>
              <a:solidFill>
                <a:srgbClr val="D2454F"/>
              </a:solidFill>
            </c:spPr>
          </c:dPt>
          <c:dPt>
            <c:idx val="7"/>
            <c:spPr>
              <a:solidFill>
                <a:srgbClr val="D2454F"/>
              </a:solidFill>
            </c:spPr>
          </c:dPt>
          <c:dPt>
            <c:idx val="8"/>
            <c:spPr>
              <a:solidFill>
                <a:srgbClr val="D2454F"/>
              </a:solidFill>
            </c:spPr>
          </c:dPt>
          <c:dPt>
            <c:idx val="9"/>
            <c:spPr>
              <a:solidFill>
                <a:srgbClr val="D2454F"/>
              </a:solidFill>
            </c:spPr>
          </c:dPt>
          <c:dPt>
            <c:idx val="10"/>
            <c:spPr>
              <a:solidFill>
                <a:srgbClr val="D2454F"/>
              </a:solidFill>
            </c:spPr>
          </c:dPt>
          <c:dPt>
            <c:idx val="11"/>
            <c:spPr>
              <a:solidFill>
                <a:srgbClr val="D2454F"/>
              </a:solidFill>
            </c:spPr>
          </c:dPt>
          <c:dLbls>
            <c:dLbl>
              <c:idx val="4"/>
              <c:delete val="1"/>
            </c:dLbl>
            <c:numFmt formatCode="# ##0" sourceLinked="0"/>
            <c:txPr>
              <a:bodyPr/>
              <a:lstStyle/>
              <a:p>
                <a:pPr>
                  <a:defRPr sz="8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сен 25</c:v>
                </c:pt>
                <c:pt idx="1">
                  <c:v>окт 25</c:v>
                </c:pt>
                <c:pt idx="2">
                  <c:v>ноя 25</c:v>
                </c:pt>
                <c:pt idx="3">
                  <c:v>дек 25</c:v>
                </c:pt>
                <c:pt idx="4">
                  <c:v>янв 26</c:v>
                </c:pt>
                <c:pt idx="5">
                  <c:v>фев 26</c:v>
                </c:pt>
                <c:pt idx="6">
                  <c:v>мар 26</c:v>
                </c:pt>
                <c:pt idx="7">
                  <c:v>апр 26</c:v>
                </c:pt>
                <c:pt idx="8">
                  <c:v>май 26</c:v>
                </c:pt>
                <c:pt idx="9">
                  <c:v>июн 26</c:v>
                </c:pt>
                <c:pt idx="10">
                  <c:v>июл 26</c:v>
                </c:pt>
                <c:pt idx="11">
                  <c:v>авг 26</c:v>
                </c:pt>
                <c:pt idx="12">
                  <c:v>сен 26</c:v>
                </c:pt>
                <c:pt idx="13">
                  <c:v>окт 26</c:v>
                </c:pt>
                <c:pt idx="14">
                  <c:v>ноя 26</c:v>
                </c:pt>
                <c:pt idx="15">
                  <c:v>дек 26</c:v>
                </c:pt>
                <c:pt idx="16">
                  <c:v>янв 27</c:v>
                </c:pt>
                <c:pt idx="17">
                  <c:v>фев 27</c:v>
                </c:pt>
                <c:pt idx="18">
                  <c:v>мар 27</c:v>
                </c:pt>
                <c:pt idx="19">
                  <c:v>апр 27</c:v>
                </c:pt>
                <c:pt idx="20">
                  <c:v>май 27</c:v>
                </c:pt>
                <c:pt idx="21">
                  <c:v>июн 27</c:v>
                </c:pt>
                <c:pt idx="22">
                  <c:v>июл 27</c:v>
                </c:pt>
                <c:pt idx="23">
                  <c:v>авг 27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13.0</c:v>
                </c:pt>
                <c:pt idx="1">
                  <c:v>22.0</c:v>
                </c:pt>
                <c:pt idx="2">
                  <c:v>1.0</c:v>
                </c:pt>
                <c:pt idx="3">
                  <c:v>20.0</c:v>
                </c:pt>
                <c:pt idx="4">
                  <c:v>0</c:v>
                </c:pt>
                <c:pt idx="5">
                  <c:v>85.0</c:v>
                </c:pt>
                <c:pt idx="6">
                  <c:v>34.0</c:v>
                </c:pt>
                <c:pt idx="7">
                  <c:v>21.0</c:v>
                </c:pt>
                <c:pt idx="8">
                  <c:v>121.0</c:v>
                </c:pt>
                <c:pt idx="9">
                  <c:v>239.0</c:v>
                </c:pt>
                <c:pt idx="10">
                  <c:v>423.0</c:v>
                </c:pt>
                <c:pt idx="11">
                  <c:v>326.0</c:v>
                </c:pt>
                <c:pt idx="12">
                  <c:v>504.0</c:v>
                </c:pt>
                <c:pt idx="13">
                  <c:v>344.0</c:v>
                </c:pt>
                <c:pt idx="14">
                  <c:v>164.0</c:v>
                </c:pt>
                <c:pt idx="15">
                  <c:v>46.0</c:v>
                </c:pt>
                <c:pt idx="16">
                  <c:v>48.0</c:v>
                </c:pt>
                <c:pt idx="17">
                  <c:v>118.0</c:v>
                </c:pt>
                <c:pt idx="18">
                  <c:v>1260.0</c:v>
                </c:pt>
                <c:pt idx="19">
                  <c:v>555.0</c:v>
                </c:pt>
                <c:pt idx="20">
                  <c:v>371.0</c:v>
                </c:pt>
                <c:pt idx="21">
                  <c:v>1844.0</c:v>
                </c:pt>
                <c:pt idx="22">
                  <c:v>2.0</c:v>
                </c:pt>
                <c:pt idx="23">
                  <c:v>3.0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80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Кодов</c:v>
                </c:pt>
              </c:strCache>
            </c:strRef>
          </c:tx>
          <c:spPr>
            <a:solidFill>
              <a:srgbClr val="C3C8CE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2"/>
            <c:spPr>
              <a:solidFill>
                <a:srgbClr val="5566C9"/>
              </a:solidFill>
            </c:spPr>
          </c:dPt>
          <c:dPt>
            <c:idx val="3"/>
            <c:spPr>
              <a:solidFill>
                <a:srgbClr val="5566C9"/>
              </a:solidFill>
            </c:spPr>
          </c:dPt>
          <c:dLbls>
            <c:numFmt formatCode="# ##0" sourceLinked="0"/>
            <c:txPr>
              <a:bodyPr/>
              <a:lstStyle/>
              <a:p>
                <a:pPr>
                  <a:defRPr sz="9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до 90 дн.</c:v>
                </c:pt>
                <c:pt idx="1">
                  <c:v>90–180</c:v>
                </c:pt>
                <c:pt idx="2">
                  <c:v>180–270</c:v>
                </c:pt>
                <c:pt idx="3">
                  <c:v>270–360</c:v>
                </c:pt>
                <c:pt idx="4">
                  <c:v>360–450</c:v>
                </c:pt>
                <c:pt idx="5">
                  <c:v>450+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68</c:v>
                </c:pt>
                <c:pt idx="2">
                  <c:v>150</c:v>
                </c:pt>
                <c:pt idx="3">
                  <c:v>228</c:v>
                </c:pt>
                <c:pt idx="4">
                  <c:v>10</c:v>
                </c:pt>
                <c:pt idx="5">
                  <c:v>4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90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C3C8CE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12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 план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15.258191</c:v>
                </c:pt>
                <c:pt idx="1">
                  <c:v>42.224898838247505</c:v>
                </c:pt>
                <c:pt idx="2">
                  <c:v>234.691781</c:v>
                </c:pt>
                <c:pt idx="3">
                  <c:v>601.671464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12A06E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12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 план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79.976898</c:v>
                </c:pt>
                <c:pt idx="1">
                  <c:v>257.142294</c:v>
                </c:pt>
                <c:pt idx="2">
                  <c:v>183.325175</c:v>
                </c:pt>
              </c:numCache>
            </c:numRef>
          </c:val>
        </c:ser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20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 b="0">
              <a:solidFill>
                <a:srgbClr val="2A313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План, млн ₽</c:v>
                </c:pt>
              </c:strCache>
            </c:strRef>
          </c:tx>
          <c:spPr>
            <a:solidFill>
              <a:srgbClr val="5566C9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0"/>
            <c:spPr>
              <a:solidFill>
                <a:srgbClr val="C3C8CE"/>
              </a:solidFill>
            </c:spPr>
          </c:dPt>
          <c:dPt>
            <c:idx val="5"/>
            <c:spPr>
              <a:solidFill>
                <a:srgbClr val="12A06E"/>
              </a:solidFill>
            </c:spPr>
          </c:dPt>
          <c:dLbls>
            <c:numFmt formatCode="# ##0" sourceLinked="0"/>
            <c:txPr>
              <a:bodyPr/>
              <a:lstStyle/>
              <a:p>
                <a:pPr>
                  <a:defRPr sz="10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ППР без заказа · 770</c:v>
                </c:pt>
                <c:pt idx="1">
                  <c:v>ПЛАН · 63</c:v>
                </c:pt>
                <c:pt idx="2">
                  <c:v>СГПЛ · 1</c:v>
                </c:pt>
                <c:pt idx="3">
                  <c:v>ССПЛ · 2</c:v>
                </c:pt>
                <c:pt idx="4">
                  <c:v>СГГС · 498</c:v>
                </c:pt>
                <c:pt idx="5">
                  <c:v>Деблокирован · 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1175.416361</c:v>
                </c:pt>
                <c:pt idx="1">
                  <c:v>453.842129</c:v>
                </c:pt>
                <c:pt idx="2">
                  <c:v>21.076172</c:v>
                </c:pt>
                <c:pt idx="3">
                  <c:v>30.906625</c:v>
                </c:pt>
                <c:pt idx="4">
                  <c:v>2113.730716</c:v>
                </c:pt>
                <c:pt idx="5">
                  <c:v>163.569286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00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one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Есть статус</c:v>
                </c:pt>
              </c:strCache>
            </c:strRef>
          </c:tx>
          <c:spPr>
            <a:solidFill>
              <a:srgbClr val="12A06E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numFmt formatCode="0%" sourceLinked="0"/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ГОД (год)</c:v>
                </c:pt>
                <c:pt idx="1">
                  <c:v>ПТОГ (год)</c:v>
                </c:pt>
                <c:pt idx="2">
                  <c:v>ГИП (год)</c:v>
                </c:pt>
                <c:pt idx="3">
                  <c:v>УТВГ (год)</c:v>
                </c:pt>
                <c:pt idx="4">
                  <c:v>УТВП (год)</c:v>
                </c:pt>
                <c:pt idx="5">
                  <c:v>МЕС (≤31 дн.)</c:v>
                </c:pt>
                <c:pt idx="6">
                  <c:v>УТВМ (≤31 дн.)</c:v>
                </c:pt>
                <c:pt idx="7">
                  <c:v>НЕД (≤31 дн.)</c:v>
                </c:pt>
                <c:pt idx="8">
                  <c:v>УТВН (≤31 дн.)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0.8562738613348386</c:v>
                </c:pt>
                <c:pt idx="1">
                  <c:v>0.8555627845297162</c:v>
                </c:pt>
                <c:pt idx="2">
                  <c:v>0</c:v>
                </c:pt>
                <c:pt idx="3">
                  <c:v>0</c:v>
                </c:pt>
                <c:pt idx="4">
                  <c:v>0.0017255709209671236</c:v>
                </c:pt>
                <c:pt idx="5">
                  <c:v>0.6628763524187425</c:v>
                </c:pt>
                <c:pt idx="6">
                  <c:v>0.6467744280379889</c:v>
                </c:pt>
                <c:pt idx="7">
                  <c:v>0.007818175034637843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Нет статуса</c:v>
                </c:pt>
              </c:strCache>
            </c:strRef>
          </c:tx>
          <c:spPr>
            <a:solidFill>
              <a:srgbClr val="E5E7EA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1000" b="1">
                    <a:solidFill>
                      <a:srgbClr val="5B6167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ГОД (год)</c:v>
                </c:pt>
                <c:pt idx="1">
                  <c:v>ПТОГ (год)</c:v>
                </c:pt>
                <c:pt idx="2">
                  <c:v>ГИП (год)</c:v>
                </c:pt>
                <c:pt idx="3">
                  <c:v>УТВГ (год)</c:v>
                </c:pt>
                <c:pt idx="4">
                  <c:v>УТВП (год)</c:v>
                </c:pt>
                <c:pt idx="5">
                  <c:v>МЕС (≤31 дн.)</c:v>
                </c:pt>
                <c:pt idx="6">
                  <c:v>УТВМ (≤31 дн.)</c:v>
                </c:pt>
                <c:pt idx="7">
                  <c:v>НЕД (≤31 дн.)</c:v>
                </c:pt>
                <c:pt idx="8">
                  <c:v>УТВН (≤31 дн.)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0.14372613866516137</c:v>
                </c:pt>
                <c:pt idx="1">
                  <c:v>0.14443721547028376</c:v>
                </c:pt>
                <c:pt idx="2">
                  <c:v>1</c:v>
                </c:pt>
                <c:pt idx="3">
                  <c:v>1</c:v>
                </c:pt>
                <c:pt idx="4">
                  <c:v>0.9982744290790329</c:v>
                </c:pt>
                <c:pt idx="5">
                  <c:v>0.33712364758125746</c:v>
                </c:pt>
                <c:pt idx="6">
                  <c:v>0.3532255719620111</c:v>
                </c:pt>
                <c:pt idx="7">
                  <c:v>0.9921818249653621</c:v>
                </c:pt>
                <c:pt idx="8">
                  <c:v>1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00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one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 b="0">
              <a:solidFill>
                <a:srgbClr val="2A313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5566C9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0"/>
            <c:spPr>
              <a:solidFill>
                <a:srgbClr val="5566C9"/>
              </a:solidFill>
            </c:spPr>
          </c:dPt>
          <c:dPt>
            <c:idx val="1"/>
            <c:spPr>
              <a:solidFill>
                <a:srgbClr val="5566C9"/>
              </a:solidFill>
            </c:spPr>
          </c:dPt>
          <c:dPt>
            <c:idx val="2"/>
            <c:spPr>
              <a:solidFill>
                <a:srgbClr val="E0A030"/>
              </a:solidFill>
            </c:spPr>
          </c:dPt>
          <c:dPt>
            <c:idx val="3"/>
            <c:spPr>
              <a:solidFill>
                <a:srgbClr val="7FD8B4"/>
              </a:solidFill>
            </c:spPr>
          </c:dPt>
          <c:dPt>
            <c:idx val="4"/>
            <c:spPr>
              <a:solidFill>
                <a:srgbClr val="7FD8B4"/>
              </a:solidFill>
            </c:spPr>
          </c:dPt>
          <c:dPt>
            <c:idx val="5"/>
            <c:spPr>
              <a:solidFill>
                <a:srgbClr val="12A06E"/>
              </a:solidFill>
            </c:spPr>
          </c:dPt>
          <c:dPt>
            <c:idx val="6"/>
            <c:spPr>
              <a:solidFill>
                <a:srgbClr val="12A06E"/>
              </a:solidFill>
            </c:spPr>
          </c:dPt>
          <c:dPt>
            <c:idx val="7"/>
            <c:spPr>
              <a:solidFill>
                <a:srgbClr val="12A06E"/>
              </a:solidFill>
            </c:spPr>
          </c:dPt>
          <c:dPt>
            <c:idx val="8"/>
            <c:spPr>
              <a:solidFill>
                <a:srgbClr val="12A06E"/>
              </a:solidFill>
            </c:spPr>
          </c:dPt>
          <c:dLbls>
            <c:numFmt formatCode="# ##0" sourceLinked="0"/>
            <c:txPr>
              <a:bodyPr/>
              <a:lstStyle/>
              <a:p>
                <a:pPr>
                  <a:defRPr sz="95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Открыт, на согласовании · 213</c:v>
                </c:pt>
                <c:pt idx="1">
                  <c:v>Открыт, согласован (СГГС) · 308</c:v>
                </c:pt>
                <c:pt idx="2">
                  <c:v>Деблокирован, без факта · 111</c:v>
                </c:pt>
                <c:pt idx="3">
                  <c:v>В работе · 17</c:v>
                </c:pt>
                <c:pt idx="4">
                  <c:v>Факт проведён (ФХСМ) · 99</c:v>
                </c:pt>
                <c:pt idx="5">
                  <c:v>Тех. закрыт (ТЗКР) · 69</c:v>
                </c:pt>
                <c:pt idx="6">
                  <c:v>Принят СЗ (ПРСЗ) · 137</c:v>
                </c:pt>
                <c:pt idx="7">
                  <c:v>Выставлен в БЕ (ВСБЕ) · 533</c:v>
                </c:pt>
                <c:pt idx="8">
                  <c:v>Закрыт (ЗАКР) · 1 304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503.334325</c:v>
                </c:pt>
                <c:pt idx="1">
                  <c:v>610.658105</c:v>
                </c:pt>
                <c:pt idx="2">
                  <c:v>601.180719</c:v>
                </c:pt>
                <c:pt idx="3">
                  <c:v>145.971482</c:v>
                </c:pt>
                <c:pt idx="4">
                  <c:v>28.523786</c:v>
                </c:pt>
                <c:pt idx="5">
                  <c:v>38.142971</c:v>
                </c:pt>
                <c:pt idx="6">
                  <c:v>135.468818</c:v>
                </c:pt>
                <c:pt idx="7">
                  <c:v>729.313955</c:v>
                </c:pt>
                <c:pt idx="8">
                  <c:v>1169.23339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95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one"/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План нарастающим</c:v>
                </c:pt>
              </c:strCache>
            </c:strRef>
          </c:tx>
          <c:spPr>
            <a:ln w="34925">
              <a:solidFill>
                <a:srgbClr val="C3C8CE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251.446284</c:v>
                </c:pt>
                <c:pt idx="1">
                  <c:v>502.929738</c:v>
                </c:pt>
                <c:pt idx="2">
                  <c:v>765.304704</c:v>
                </c:pt>
                <c:pt idx="3">
                  <c:v>1071.858559</c:v>
                </c:pt>
                <c:pt idx="4">
                  <c:v>1587.373752</c:v>
                </c:pt>
                <c:pt idx="5">
                  <c:v>1836.908608</c:v>
                </c:pt>
                <c:pt idx="6">
                  <c:v>2492.714179</c:v>
                </c:pt>
                <c:pt idx="7">
                  <c:v>2701.495243</c:v>
                </c:pt>
                <c:pt idx="8">
                  <c:v>3067.055218</c:v>
                </c:pt>
                <c:pt idx="9">
                  <c:v>3319.238854</c:v>
                </c:pt>
                <c:pt idx="10">
                  <c:v>3722.503794</c:v>
                </c:pt>
                <c:pt idx="11">
                  <c:v>3961.827551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 нарастающим</c:v>
                </c:pt>
              </c:strCache>
            </c:strRef>
          </c:tx>
          <c:spPr>
            <a:ln w="34925">
              <a:solidFill>
                <a:srgbClr val="12A06E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219.821788</c:v>
                </c:pt>
                <c:pt idx="1">
                  <c:v>459.35768</c:v>
                </c:pt>
                <c:pt idx="2">
                  <c:v>706.866143</c:v>
                </c:pt>
                <c:pt idx="3">
                  <c:v>1019.575299</c:v>
                </c:pt>
                <c:pt idx="4">
                  <c:v>1483.692839</c:v>
                </c:pt>
                <c:pt idx="5">
                  <c:v>1735.988317</c:v>
                </c:pt>
                <c:pt idx="6">
                  <c:v>2002.146274</c:v>
                </c:pt>
                <c:pt idx="7">
                  <c:v>2133.723951</c:v>
                </c:pt>
                <c:pt idx="8">
                  <c:v>2133.723951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000" b="0">
                <a:solidFill>
                  <a:srgbClr val="2A3138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E3E5E8"/>
              </a:solidFill>
            </a:ln>
          </c:spPr>
        </c:majorGridlines>
        <c:numFmt formatCode="# 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="0">
                <a:solidFill>
                  <a:srgbClr val="5B6167"/>
                </a:solidFill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 b="0">
              <a:solidFill>
                <a:srgbClr val="2A3138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План МТР</c:v>
                </c:pt>
              </c:strCache>
            </c:strRef>
          </c:tx>
          <c:spPr>
            <a:solidFill>
              <a:srgbClr val="C3C8CE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85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2947.151371</c:v>
                </c:pt>
                <c:pt idx="1">
                  <c:v>3540.913398161753</c:v>
                </c:pt>
                <c:pt idx="2">
                  <c:v>3727.13577</c:v>
                </c:pt>
                <c:pt idx="3">
                  <c:v>2181.453464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 МТР</c:v>
                </c:pt>
              </c:strCache>
            </c:strRef>
          </c:tx>
          <c:spPr>
            <a:solidFill>
              <a:srgbClr val="12A06E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3"/>
              <c:delete val="1"/>
            </c:dLbl>
            <c:numFmt formatCode="# ##0" sourceLinked="0"/>
            <c:txPr>
              <a:bodyPr/>
              <a:lstStyle/>
              <a:p>
                <a:pPr>
                  <a:defRPr sz="85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2699.155842</c:v>
                </c:pt>
                <c:pt idx="1">
                  <c:v>3487.026684</c:v>
                </c:pt>
                <c:pt idx="2">
                  <c:v>1950.398776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План УСО</c:v>
                </c:pt>
              </c:strCache>
            </c:strRef>
          </c:tx>
          <c:spPr>
            <a:solidFill>
              <a:srgbClr val="B9C1EE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numFmt formatCode="# ##0" sourceLinked="0"/>
            <c:txPr>
              <a:bodyPr/>
              <a:lstStyle/>
              <a:p>
                <a:pPr>
                  <a:defRPr sz="85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15.258191</c:v>
                </c:pt>
                <c:pt idx="1">
                  <c:v>42.224898838247505</c:v>
                </c:pt>
                <c:pt idx="2">
                  <c:v>234.691781</c:v>
                </c:pt>
                <c:pt idx="3">
                  <c:v>601.671464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Факт УСО</c:v>
                </c:pt>
              </c:strCache>
            </c:strRef>
          </c:tx>
          <c:spPr>
            <a:solidFill>
              <a:srgbClr val="5566C9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3"/>
              <c:delete val="1"/>
            </c:dLbl>
            <c:numFmt formatCode="# ##0" sourceLinked="0"/>
            <c:txPr>
              <a:bodyPr/>
              <a:lstStyle/>
              <a:p>
                <a:pPr>
                  <a:defRPr sz="85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79.976898</c:v>
                </c:pt>
                <c:pt idx="1">
                  <c:v>257.142294</c:v>
                </c:pt>
                <c:pt idx="2">
                  <c:v>183.325175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85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50" b="0">
              <a:solidFill>
                <a:srgbClr val="2A313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85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5566C9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10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ТКБЕ</c:v>
                </c:pt>
                <c:pt idx="1">
                  <c:v>УТВП</c:v>
                </c:pt>
                <c:pt idx="2">
                  <c:v>СГЛБ</c:v>
                </c:pt>
                <c:pt idx="3">
                  <c:v>ПЗТГ</c:v>
                </c:pt>
                <c:pt idx="4">
                  <c:v>КОРБ</c:v>
                </c:pt>
                <c:pt idx="5">
                  <c:v>ТРКБ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0.009185390518930836</c:v>
                </c:pt>
                <c:pt idx="1">
                  <c:v>0.009185390518930836</c:v>
                </c:pt>
                <c:pt idx="2">
                  <c:v>0.7328099179163547</c:v>
                </c:pt>
                <c:pt idx="3">
                  <c:v>0.8176769572023115</c:v>
                </c:pt>
                <c:pt idx="4">
                  <c:v>0.46858442606082</c:v>
                </c:pt>
                <c:pt idx="5">
                  <c:v>0.10945128196419159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</c:v>
                </c:pt>
              </c:strCache>
            </c:strRef>
          </c:tx>
          <c:spPr>
            <a:solidFill>
              <a:srgbClr val="12A06E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1000" b="0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ТКБЕ</c:v>
                </c:pt>
                <c:pt idx="1">
                  <c:v>УТВП</c:v>
                </c:pt>
                <c:pt idx="2">
                  <c:v>СГЛБ</c:v>
                </c:pt>
                <c:pt idx="3">
                  <c:v>ПЗТГ</c:v>
                </c:pt>
                <c:pt idx="4">
                  <c:v>КОРБ</c:v>
                </c:pt>
                <c:pt idx="5">
                  <c:v>ТРКБ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0.0017255709209671236</c:v>
                </c:pt>
                <c:pt idx="2">
                  <c:v>0.3009816825591442</c:v>
                </c:pt>
                <c:pt idx="3">
                  <c:v>0.05759877895668879</c:v>
                </c:pt>
                <c:pt idx="4">
                  <c:v>0.03421350667018937</c:v>
                </c:pt>
                <c:pt idx="5">
                  <c:v>0</c:v>
                </c:pt>
              </c:numCache>
            </c:numRef>
          </c:val>
        </c:ser>
        <c:gapWidth val="5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00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one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 b="0">
              <a:solidFill>
                <a:srgbClr val="2A313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С кодом ЕКМТР</c:v>
                </c:pt>
              </c:strCache>
            </c:strRef>
          </c:tx>
          <c:spPr>
            <a:solidFill>
              <a:srgbClr val="12A06E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Прайс ДП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1176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Неоднозначно</c:v>
                </c:pt>
              </c:strCache>
            </c:strRef>
          </c:tx>
          <c:spPr>
            <a:solidFill>
              <a:srgbClr val="E0A030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1100" b="1">
                    <a:solidFill>
                      <a:srgbClr val="2A3138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Прайс ДП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Без кода</c:v>
                </c:pt>
              </c:strCache>
            </c:strRef>
          </c:tx>
          <c:spPr>
            <a:solidFill>
              <a:srgbClr val="D2454F"/>
            </a:solidFill>
            <a:ln w="9525">
              <a:solidFill>
                <a:srgbClr val="FFFFFF"/>
              </a:solidFill>
            </a:ln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Прайс ДП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1763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in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100" b="0">
                <a:solidFill>
                  <a:srgbClr val="2A31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one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2A313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2A31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09B7-6E16-42E9-860B-AFC172AC95B4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D6C38-6262-47DC-8176-B884F3859E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909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Презентация собрана из витрин интерактивного отчёта WK CRM (ветка grok репозитория TZ): Сводка, Аналитика, Контроль отделов, Парк, График · план-факт, Обеспеченность, Запасы, Закупки, Кодификация, Взаимозаменяемость, Качество данных. Автовыводы и контроль отделов — тем же ядром расчётов, что вкладки отчёта. История заказов — выгрузки BW PM-M06 2024–2027, статусы заказов — те же выгрузки, остатки — на 14.09.2026, закупки — на 11.09.2026.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Исполнение — факт МТР и УСО к плану заказов SAP; позиции графика ППР без заказа в план не входят, у оригиналов БЕ, перенесённых копией в «Развитие», неисполненный план не учитывается. 2026 год — на 14.09.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Площадка машины — по вкладке «Парк» (TOPO/ТОРО). Книга — каталог комплектации LinkOne; у четырёх бортов книга не подтверждена листом «Тех парк». КТГ — фактический коэффициент технической готовности за январь–август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Среднее по бортам с данными, вкладка «Парк». Факт есть по август 2026 включительно. Таблица справа — среднегодовые значения по площадкам; 2026 — январь–август.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Среднее по месяцам года, вкладка «Парк». Цвет ячейки факта: зелёный — не ниже плана, янтарный — ниже до 5 п.п., красный — ниже более чем на 5 п.п. «—» — нет данных в витрине КТГ.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План и факт — МТР Полюса и МТР подрядчика (УСО) по заказам ТОРО, вкладка «График · план-факт». Позиции графика ППР без заказа SAP в план 2027 не входят (1 175 млн ₽, 770 позиций). У оригиналов БЕ с копией в «Развитии» не учтён неисполненный план: 4,2, 5,4, 10,4, 8,4 млн ₽ по годам.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План и факт МТР + УСО, млн ₽. Шкалы графиков у площадок разные — сравнивайте проценты исполнения под графиками. 2026 — на 14.09.2026.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Стадия заказа по системным и пользовательским статусам PM-06: закрыт (ЗАКР), тех. закрыт (ТЗКР, ПРСЗ, ВСБЕ), в работе (факт, подтверждения, ПРНТ, ФХСМ), деблокирован без факта и подтверждений, на согласовании (ПЛАН–СГГС). Статус — на дату годовой выгрузки. Доли — от плана в рублях.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Вид работ — по наибольшей доле плана в заказе. «Не присвоено» — заказы на компоненты (крупные узлы) без вида работ. Факт 2024–2026 и план 2027, млн 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Факт МТР + УСО по заказам ТОРО, млн ₽, по годам. Борта отсортированы по сумме за три года. Пять крупнейших — 48% всего факта: капитальные ремонты и замена ковшей, рукоятей, ходовой.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Каждый борт площадки 1100. Цвет % исполнения 2024–2025: зелёный ≥ 95%, янтарный 75–95%, красный &lt; 75%. 2026 — на 14.09.2026 и не окрашен: год не завершён, сравнивайте борта между собой.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Борта площадок 1400 и 2400. WK-35 №1222–1224 и №1228 в Сухом Логе — новые машины: заказов SAP нет, в 2027 есть только позиции графика ППР. №1228 нет в витрине «Парк».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Факт МТР по коду ЕКМТР за три года, млн ₽, вкладка «График · план-факт». Полоса — доля от крупнейшей позиции. Первые позиции — ковши, канаты, ходовая и смазки: они и определяют бюджет.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План 2027 по стадиям SAP на дату выгрузки, млн ₽. Позиции графика ППР без заказа (номера 1ХХХХХХХХХХХ) — не заказы: в план и потребность не включаются, показаны отдельно, чтобы был виден полный объём графика.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План в заказах SAP и позиции графика ППР без заказа, млн ₽. Сортировка по плану в заказах. У новых бортов Сухого Лога заказов нет — только позиции ППР.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План МТР 2027 по коду ЕКМТР (без позиций ППР), млн ₽; бортов — сколько машин несут потребность. Обеспечено — склад и закупка к сроку по расчёту вкладки «Обеспеченность» (2026–2027, количество).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Потребность открытых заказов по номенклатуре WK после правил SAP, вкладка «Обеспеченность», остатки на 14.09.2026. Сначала резервируется склад, затем закупка с датой поставки до потребности. «Опаздывает» — закупка придёт позже; «без срока» — закупка без даты или просрочена.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Потребность открытых заказов WK по площадке машины, млн ₽. Таблица — доля, покрытая складом и закупкой к сроку.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Потребность МТР 2027 открытых заказов каждого борта, млн ₽. Сортировка по непокрытой части. Борта без открытых заказов с потребностью WK не показаны.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Признак «Резерв./заявка» строк заказа: «Немедленно» — потребность сразу в ППМ; «Начиная с деблок.» — только после деблокирования заказа; «Никогда» — в заявку не попадает (справочные позиции). млн 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Крупнейшие по непокрытой стоимости позиции 2026–2027, вкладка «Обеспеченность». «Заказать до» — дата первой непокрытой потребности минус медианный фактический срок поставки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Позиции дефицита, которые ещё закрываются заказом на дату снимка: срок поставки укладывается до потребности. Это пакет «Заказать сегодня» со вкладки «Сводка» — его можно положить в заявку целиком.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Остатки номенклатуры WK на 14.09.2026, вкладка «Запасы». Площадка склада — по заводу строки выгрузки MM-M03: 11xx/7101/7106 — Красноярск, 14xx/7104 — Магадан, 12xx/24xx/7102/7108 — Сухой Лог (WK в Иркутской области работают только там, их заказы планирует завод 1200). Ограниченный запас вычтен на своём складе по его цене.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Перемещение запаса между площадками ограничено (логистика, согласование БЕ), поэтому в обеспеченность не входит. Здесь — верхняя оценка улучшения: сколько непокрытой к сроку потребности 2026–2027 мог бы закрыть запас другой площадки, оставшийся после её собственной потребности, млн ₽. Что из этого реально переместить, решает снабжение.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Открытые заявки и заказы на поставку по номенклатуре WK, вкладка «Закупки», выгрузка 11.09.2026. Количества разных МТР суммированы справочно. Стоимость в выгрузке — в валюте документа (в основном ZCNY), поэтому график — в единицах. Просрочка — плановый месяц поставки раньше сентября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План и факт МТР подрядчика по заказам ТОРО WK из PM-06, млн ₽; реестр — вкладка «Обеспеченность», блок УСО (258 заказов, 138 закрыто). 2026 — на 14.09.2026.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построен тем же ядром расчётов, что вкладки «Аналитика» и «Контроль отделов» интерактивного отчёта (lib/analytics_core.js): цифры слайдов совпадают с отчётом.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Правило = условие с порогом (см. «Методика» отчёта). Например, «Темп текущего года» — критично, если освоение отстаёт от доли прошедшего года более чем на 15 п.п.; «Обеспеченность следующего года» — критично ниже 70 %.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Всего 25 выводов: 5 критичных, 9 — внимание, 5 — к сведению, 6 — норма. Ниже — критичные и крупнейшие по деньгам.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Результат каждого правила для всего парка и для каждой площадки (фильтр «Площадка» отчёта).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ГОД — включён в годовой план, ПТОГ — согласован ПТО, ГИП — главным инженером, УТВГ — утверждён, УТВП — в программе и бюджете. МЕС/УТВМ, НЕД/УТВН — месячный и недельный план для заказов с началом в ближайшие 31 день.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Стадия — по статусам SAP на дату годовой выгрузки. Освоение наступивших работ — факт к плану заказов с базисным началом не позже 09.2026.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111 заказов на 601 млн ₽ переданы в работу, но нет ни факта, ни подтверждений. Текст заказа — из выгрузки PM-06.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ТКБЕ — бюджет утверждён ТК БЕ; УТВП — в программе и бюджете (MCB); СГЛБ — согласован бюджетированием; ПЗТГ — прогноз завершения года; КОРБ — скорректирован; ТРКБ — нужна корректировка. План УСО в заказах заполнен не полностью — факт УСО прошлых лет выше плана.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Вкладки «Каталог», «Каталог LinkOne», «Кодификация», «Взаимозаменяемость». Позиция без кода ЕКМТР не видна в истории расхода, остатках и закупке SAP — её нельзя обеспечить автоматически.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Сводка по вкладке «Качество данных» и правилам расчёта. Эти оговорки влияют на цифры презентации.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Вкладка «Обновление данных»: новые выгрузки SAP BW пересобирают все витрины в браузере; файлы никуда не уходят.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Каждая цифра отчёта и презентации считается дважды и сверяется автоматически.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Предложения по итогам анализа; сроки и ответственных нужно согласовать.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цифры воспроизводятся скриптами build/build_wk_status_data.py и build/build_wk_status_deck.py в репозитории TZ.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8.png"/><Relationship Id="rId9" Type="http://schemas.openxmlformats.org/officeDocument/2006/relationships/image" Target="../media/image9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1.jpg"/><Relationship Id="rId5" Type="http://schemas.openxmlformats.org/officeDocument/2006/relationships/oleObject" Target="../embeddings/oleObject6.bin"/><Relationship Id="rId6" Type="http://schemas.openxmlformats.org/officeDocument/2006/relationships/image" Target="../media/image1.emf"/><Relationship Id="rId7" Type="http://schemas.openxmlformats.org/officeDocument/2006/relationships/image" Target="../media/image12.png"/><Relationship Id="rId8" Type="http://schemas.openxmlformats.org/officeDocument/2006/relationships/image" Target="../media/image3.png"/><Relationship Id="rId9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3.jpeg"/><Relationship Id="rId5" Type="http://schemas.openxmlformats.org/officeDocument/2006/relationships/oleObject" Target="../embeddings/oleObject7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5.jpeg"/><Relationship Id="rId5" Type="http://schemas.openxmlformats.org/officeDocument/2006/relationships/oleObject" Target="../embeddings/oleObject8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6.jpeg"/><Relationship Id="rId5" Type="http://schemas.openxmlformats.org/officeDocument/2006/relationships/oleObject" Target="../embeddings/oleObject9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7.jpeg"/><Relationship Id="rId5" Type="http://schemas.openxmlformats.org/officeDocument/2006/relationships/oleObject" Target="../embeddings/oleObject10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tags" Target="../tags/tag12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8.png"/><Relationship Id="rId5" Type="http://schemas.openxmlformats.org/officeDocument/2006/relationships/oleObject" Target="../embeddings/oleObject11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9.png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20.png"/><Relationship Id="rId5" Type="http://schemas.openxmlformats.org/officeDocument/2006/relationships/oleObject" Target="../embeddings/oleObject13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4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5.vml"/><Relationship Id="rId2" Type="http://schemas.openxmlformats.org/officeDocument/2006/relationships/tags" Target="../tags/tag1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6.v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1.emf"/><Relationship Id="rId6" Type="http://schemas.openxmlformats.org/officeDocument/2006/relationships/image" Target="../media/image2.png"/><Relationship Id="rId7" Type="http://schemas.openxmlformats.org/officeDocument/2006/relationships/image" Target="../media/image21.png"/><Relationship Id="rId8" Type="http://schemas.openxmlformats.org/officeDocument/2006/relationships/image" Target="../media/image2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7.vml"/><Relationship Id="rId2" Type="http://schemas.openxmlformats.org/officeDocument/2006/relationships/tags" Target="../tags/tag1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7.bin"/><Relationship Id="rId5" Type="http://schemas.openxmlformats.org/officeDocument/2006/relationships/image" Target="../media/image1.emf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3.png"/><Relationship Id="rId9" Type="http://schemas.openxmlformats.org/officeDocument/2006/relationships/image" Target="../media/image4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8.v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3.png"/><Relationship Id="rId9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25A6CE9-2642-486D-A166-47D8B312C14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65918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7E1EA8-D672-451F-841B-75E852C3E79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3608777-01C9-42F3-B597-72716079C7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8DA627-6455-420D-AE3A-0B69F748D93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6" name="Текст 3">
            <a:extLst>
              <a:ext uri="{FF2B5EF4-FFF2-40B4-BE49-F238E27FC236}">
                <a16:creationId xmlns:a16="http://schemas.microsoft.com/office/drawing/2014/main" id="{DCCE8E5C-3BE7-495F-80A8-8717D99DF1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48947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2 (зеленый фон)">
    <p:bg>
      <p:bgPr>
        <a:solidFill>
          <a:srgbClr val="3EF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8CF0ACF-A2EA-454A-B17F-84ECC23B3B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226035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CF0ACF-A2EA-454A-B17F-84ECC23B3B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72DCBFE-BB85-C645-74EF-CA3318C479D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0E66AE3-27F3-7AFB-18F8-52F53CB8E8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73150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ru-RU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lnSpc>
                <a:spcPct val="80000"/>
              </a:lnSpc>
            </a:pPr>
            <a:r>
              <a:rPr lang="ru-RU" dirty="0"/>
              <a:t>Название презентации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CB750C-4279-9189-A6DF-4E72FECDF3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700" y="5753100"/>
            <a:ext cx="10731500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10B002-1184-5A11-4026-D5240358FE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700" y="430315"/>
            <a:ext cx="2464270" cy="10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6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0745FA4-B560-40AE-98EE-4E5317FF65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61448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745FA4-B560-40AE-98EE-4E5317FF65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107753-9097-232B-7A76-A2A6407D0F6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86201" y="0"/>
            <a:ext cx="5248798" cy="7082716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5D360B4-4895-4A17-B046-9B85D2D9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2B0ACCEB-A904-45A3-BBD5-6CB8D19DAF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2832331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4 (Зеленый фон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DB6F5B8-2533-42E6-A268-1BE2F64C62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398436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B6F5B8-2533-42E6-A268-1BE2F64C62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F84386E-836C-12E8-6C0E-94854F3FBD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alphaModFix amt="70000"/>
          </a:blip>
          <a:srcRect t="12128" b="11026"/>
          <a:stretch/>
        </p:blipFill>
        <p:spPr>
          <a:xfrm>
            <a:off x="4016837" y="-1"/>
            <a:ext cx="6611179" cy="685800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10B002-1184-5A11-4026-D5240358FE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700" y="430315"/>
            <a:ext cx="2464270" cy="1024163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E5E1E30-FADD-4E58-80FA-7554C20E0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73150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ru-RU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lnSpc>
                <a:spcPct val="80000"/>
              </a:lnSpc>
            </a:pPr>
            <a:r>
              <a:rPr lang="ru-RU" dirty="0"/>
              <a:t>Название презентации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FD6CAC8F-7CD1-46F9-9402-CB2EEDDBBE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700" y="5753100"/>
            <a:ext cx="10731500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89305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5 (Фотофон)"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DC9A468-9338-4DAF-9034-FC5B4032A6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2463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C9A468-9338-4DAF-9034-FC5B4032A6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472B05-73D8-DF94-126F-CD3C16C5208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DFF97D0-0CE9-4D7C-BE16-3A9E42ED6B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525B2515-CDCC-4650-B2A3-1F62ABF93A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01361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655699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E0002C3-78CA-4088-AE48-E3BCFDB75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51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50819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314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520806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0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38239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22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24324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2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644215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7FE4038-8DFA-490A-8270-5657C882B6C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8996011-2F7F-4B41-AE0C-E64B8B978E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5C69CA-B169-46E3-B38E-4098D3FB16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B26F02E-71AB-44F2-B895-03D5F92D3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11FCF6EB-E008-4D91-9A37-BAFFFE389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6F7B37-8F2D-4D1A-B287-D72D344953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814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48179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7FE4038-8DFA-490A-8270-5657C882B6C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8996011-2F7F-4B41-AE0C-E64B8B978E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5C69CA-B169-46E3-B38E-4098D3FB16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B26F02E-71AB-44F2-B895-03D5F92D3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11FCF6EB-E008-4D91-9A37-BAFFFE389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6F7B37-8F2D-4D1A-B287-D72D344953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74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Внутренний слайд №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6A53C67-CA11-427F-B20E-716016198E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798945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6A53C67-CA11-427F-B20E-716016198E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36D747-6178-C275-57DD-47BC7A80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-10269"/>
            <a:ext cx="11522075" cy="544168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14B413-8558-4E93-B00C-1EB3C7E53C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963" y="1003091"/>
            <a:ext cx="11522074" cy="563844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 dirty="0"/>
              <a:t>Текст или вставка объекта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6FCF7C93-3BC0-A608-C384-13DA9076AD4F}"/>
              </a:ext>
            </a:extLst>
          </p:cNvPr>
          <p:cNvCxnSpPr/>
          <p:nvPr userDrawn="1"/>
        </p:nvCxnSpPr>
        <p:spPr>
          <a:xfrm>
            <a:off x="540350" y="928251"/>
            <a:ext cx="11111300" cy="0"/>
          </a:xfrm>
          <a:prstGeom prst="line">
            <a:avLst/>
          </a:prstGeom>
          <a:ln w="2540">
            <a:solidFill>
              <a:srgbClr val="2931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2D963E44-E4F5-4B60-AEB8-9FB14D2D26E2}"/>
              </a:ext>
            </a:extLst>
          </p:cNvPr>
          <p:cNvGrpSpPr/>
          <p:nvPr userDrawn="1"/>
        </p:nvGrpSpPr>
        <p:grpSpPr>
          <a:xfrm>
            <a:off x="11056093" y="6687315"/>
            <a:ext cx="123877" cy="123877"/>
            <a:chOff x="8664606" y="6121154"/>
            <a:chExt cx="736846" cy="736846"/>
          </a:xfrm>
        </p:grpSpPr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758C6BCD-6966-41FE-BAEE-34266B0E9747}"/>
                </a:ext>
              </a:extLst>
            </p:cNvPr>
            <p:cNvSpPr/>
            <p:nvPr/>
          </p:nvSpPr>
          <p:spPr>
            <a:xfrm>
              <a:off x="8664606" y="6121154"/>
              <a:ext cx="736846" cy="736846"/>
            </a:xfrm>
            <a:prstGeom prst="ellipse">
              <a:avLst/>
            </a:prstGeom>
            <a:solidFill>
              <a:srgbClr val="3CF2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60C6F9B3-2727-4376-ADE1-3792E4BB3E9C}"/>
                </a:ext>
              </a:extLst>
            </p:cNvPr>
            <p:cNvSpPr/>
            <p:nvPr/>
          </p:nvSpPr>
          <p:spPr>
            <a:xfrm>
              <a:off x="8775922" y="6277783"/>
              <a:ext cx="514214" cy="423589"/>
            </a:xfrm>
            <a:custGeom>
              <a:avLst/>
              <a:gdLst>
                <a:gd name="connsiteX0" fmla="*/ 1746250 w 4201160"/>
                <a:gd name="connsiteY0" fmla="*/ 6351 h 3460751"/>
                <a:gd name="connsiteX1" fmla="*/ 2156460 w 4201160"/>
                <a:gd name="connsiteY1" fmla="*/ 6351 h 3460751"/>
                <a:gd name="connsiteX2" fmla="*/ 2550160 w 4201160"/>
                <a:gd name="connsiteY2" fmla="*/ 876301 h 3460751"/>
                <a:gd name="connsiteX3" fmla="*/ 1210310 w 4201160"/>
                <a:gd name="connsiteY3" fmla="*/ 3460751 h 3460751"/>
                <a:gd name="connsiteX4" fmla="*/ 0 w 4201160"/>
                <a:gd name="connsiteY4" fmla="*/ 3454401 h 3460751"/>
                <a:gd name="connsiteX5" fmla="*/ 3820160 w 4201160"/>
                <a:gd name="connsiteY5" fmla="*/ 0 h 3460751"/>
                <a:gd name="connsiteX6" fmla="*/ 4201160 w 4201160"/>
                <a:gd name="connsiteY6" fmla="*/ 874059 h 3460751"/>
                <a:gd name="connsiteX7" fmla="*/ 3496310 w 4201160"/>
                <a:gd name="connsiteY7" fmla="*/ 2235199 h 3460751"/>
                <a:gd name="connsiteX8" fmla="*/ 2343150 w 4201160"/>
                <a:gd name="connsiteY8" fmla="*/ 2250141 h 3460751"/>
                <a:gd name="connsiteX9" fmla="*/ 3039110 w 4201160"/>
                <a:gd name="connsiteY9" fmla="*/ 863601 h 3460751"/>
                <a:gd name="connsiteX10" fmla="*/ 2654300 w 4201160"/>
                <a:gd name="connsiteY10" fmla="*/ 6350 h 3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1160" h="3460751">
                  <a:moveTo>
                    <a:pt x="1746250" y="6351"/>
                  </a:moveTo>
                  <a:lnTo>
                    <a:pt x="2156460" y="6351"/>
                  </a:lnTo>
                  <a:lnTo>
                    <a:pt x="2550160" y="876301"/>
                  </a:lnTo>
                  <a:lnTo>
                    <a:pt x="1210310" y="3460751"/>
                  </a:lnTo>
                  <a:lnTo>
                    <a:pt x="0" y="3454401"/>
                  </a:lnTo>
                  <a:close/>
                  <a:moveTo>
                    <a:pt x="3820160" y="0"/>
                  </a:moveTo>
                  <a:lnTo>
                    <a:pt x="4201160" y="874059"/>
                  </a:lnTo>
                  <a:lnTo>
                    <a:pt x="3496310" y="2235199"/>
                  </a:lnTo>
                  <a:lnTo>
                    <a:pt x="2343150" y="2250141"/>
                  </a:lnTo>
                  <a:lnTo>
                    <a:pt x="3039110" y="863601"/>
                  </a:lnTo>
                  <a:lnTo>
                    <a:pt x="2654300" y="6350"/>
                  </a:lnTo>
                  <a:close/>
                </a:path>
              </a:pathLst>
            </a:custGeom>
            <a:solidFill>
              <a:srgbClr val="00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71256E4-C037-4053-818A-D3CB6EF321B0}"/>
              </a:ext>
            </a:extLst>
          </p:cNvPr>
          <p:cNvSpPr txBox="1"/>
          <p:nvPr userDrawn="1"/>
        </p:nvSpPr>
        <p:spPr>
          <a:xfrm>
            <a:off x="11118032" y="6641531"/>
            <a:ext cx="81044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8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РАЗВИТИЕ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A8D426-65F3-4089-A286-D05F2517B3FC}"/>
              </a:ext>
            </a:extLst>
          </p:cNvPr>
          <p:cNvSpPr txBox="1">
            <a:spLocks/>
          </p:cNvSpPr>
          <p:nvPr userDrawn="1"/>
        </p:nvSpPr>
        <p:spPr>
          <a:xfrm>
            <a:off x="11512697" y="6566691"/>
            <a:ext cx="679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F8B3EF-6FCB-5342-834B-72C623FC3BE6}" type="slidenum">
              <a:rPr lang="en-RU" sz="80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‹#›</a:t>
            </a:fld>
            <a:endParaRPr lang="en-RU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428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595">
          <p15:clr>
            <a:srgbClr val="FBAE40"/>
          </p15:clr>
        </p15:guide>
        <p15:guide id="6" orient="horz" pos="417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 №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8C6DD5B-9D91-4B05-8AC1-7AEB464BB4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2819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C6DD5B-9D91-4B05-8AC1-7AEB464BB4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Объект 2">
            <a:extLst>
              <a:ext uri="{FF2B5EF4-FFF2-40B4-BE49-F238E27FC236}">
                <a16:creationId xmlns:a16="http://schemas.microsoft.com/office/drawing/2014/main" id="{F10816A5-441D-93F6-A1FA-0C88FB85D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2" y="533898"/>
            <a:ext cx="11522075" cy="606184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A9F03720-40A5-447A-9090-5D7139CE5719}"/>
              </a:ext>
            </a:extLst>
          </p:cNvPr>
          <p:cNvGrpSpPr/>
          <p:nvPr userDrawn="1"/>
        </p:nvGrpSpPr>
        <p:grpSpPr>
          <a:xfrm>
            <a:off x="11056093" y="6687315"/>
            <a:ext cx="123877" cy="123877"/>
            <a:chOff x="8664606" y="6121154"/>
            <a:chExt cx="736846" cy="736846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54FE2E1-F87E-4986-AAD3-B01F61C72B41}"/>
                </a:ext>
              </a:extLst>
            </p:cNvPr>
            <p:cNvSpPr/>
            <p:nvPr/>
          </p:nvSpPr>
          <p:spPr>
            <a:xfrm>
              <a:off x="8664606" y="6121154"/>
              <a:ext cx="736846" cy="736846"/>
            </a:xfrm>
            <a:prstGeom prst="ellipse">
              <a:avLst/>
            </a:prstGeom>
            <a:solidFill>
              <a:srgbClr val="3CF2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4C1B39BE-8EA7-40DD-8745-4C9FC549025D}"/>
                </a:ext>
              </a:extLst>
            </p:cNvPr>
            <p:cNvSpPr/>
            <p:nvPr/>
          </p:nvSpPr>
          <p:spPr>
            <a:xfrm>
              <a:off x="8775922" y="6277783"/>
              <a:ext cx="514214" cy="423589"/>
            </a:xfrm>
            <a:custGeom>
              <a:avLst/>
              <a:gdLst>
                <a:gd name="connsiteX0" fmla="*/ 1746250 w 4201160"/>
                <a:gd name="connsiteY0" fmla="*/ 6351 h 3460751"/>
                <a:gd name="connsiteX1" fmla="*/ 2156460 w 4201160"/>
                <a:gd name="connsiteY1" fmla="*/ 6351 h 3460751"/>
                <a:gd name="connsiteX2" fmla="*/ 2550160 w 4201160"/>
                <a:gd name="connsiteY2" fmla="*/ 876301 h 3460751"/>
                <a:gd name="connsiteX3" fmla="*/ 1210310 w 4201160"/>
                <a:gd name="connsiteY3" fmla="*/ 3460751 h 3460751"/>
                <a:gd name="connsiteX4" fmla="*/ 0 w 4201160"/>
                <a:gd name="connsiteY4" fmla="*/ 3454401 h 3460751"/>
                <a:gd name="connsiteX5" fmla="*/ 3820160 w 4201160"/>
                <a:gd name="connsiteY5" fmla="*/ 0 h 3460751"/>
                <a:gd name="connsiteX6" fmla="*/ 4201160 w 4201160"/>
                <a:gd name="connsiteY6" fmla="*/ 874059 h 3460751"/>
                <a:gd name="connsiteX7" fmla="*/ 3496310 w 4201160"/>
                <a:gd name="connsiteY7" fmla="*/ 2235199 h 3460751"/>
                <a:gd name="connsiteX8" fmla="*/ 2343150 w 4201160"/>
                <a:gd name="connsiteY8" fmla="*/ 2250141 h 3460751"/>
                <a:gd name="connsiteX9" fmla="*/ 3039110 w 4201160"/>
                <a:gd name="connsiteY9" fmla="*/ 863601 h 3460751"/>
                <a:gd name="connsiteX10" fmla="*/ 2654300 w 4201160"/>
                <a:gd name="connsiteY10" fmla="*/ 6350 h 3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1160" h="3460751">
                  <a:moveTo>
                    <a:pt x="1746250" y="6351"/>
                  </a:moveTo>
                  <a:lnTo>
                    <a:pt x="2156460" y="6351"/>
                  </a:lnTo>
                  <a:lnTo>
                    <a:pt x="2550160" y="876301"/>
                  </a:lnTo>
                  <a:lnTo>
                    <a:pt x="1210310" y="3460751"/>
                  </a:lnTo>
                  <a:lnTo>
                    <a:pt x="0" y="3454401"/>
                  </a:lnTo>
                  <a:close/>
                  <a:moveTo>
                    <a:pt x="3820160" y="0"/>
                  </a:moveTo>
                  <a:lnTo>
                    <a:pt x="4201160" y="874059"/>
                  </a:lnTo>
                  <a:lnTo>
                    <a:pt x="3496310" y="2235199"/>
                  </a:lnTo>
                  <a:lnTo>
                    <a:pt x="2343150" y="2250141"/>
                  </a:lnTo>
                  <a:lnTo>
                    <a:pt x="3039110" y="863601"/>
                  </a:lnTo>
                  <a:lnTo>
                    <a:pt x="2654300" y="6350"/>
                  </a:lnTo>
                  <a:close/>
                </a:path>
              </a:pathLst>
            </a:custGeom>
            <a:solidFill>
              <a:srgbClr val="00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BB6117C-7CF8-4E67-9FCF-9051F4CF8AAD}"/>
              </a:ext>
            </a:extLst>
          </p:cNvPr>
          <p:cNvSpPr txBox="1"/>
          <p:nvPr userDrawn="1"/>
        </p:nvSpPr>
        <p:spPr>
          <a:xfrm>
            <a:off x="11118032" y="6641531"/>
            <a:ext cx="81044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8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РАЗВИТИЕ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ED43A8-C0BF-4053-98E4-977C6AD7D55D}"/>
              </a:ext>
            </a:extLst>
          </p:cNvPr>
          <p:cNvSpPr txBox="1">
            <a:spLocks/>
          </p:cNvSpPr>
          <p:nvPr userDrawn="1"/>
        </p:nvSpPr>
        <p:spPr>
          <a:xfrm>
            <a:off x="11512697" y="6566691"/>
            <a:ext cx="679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F8B3EF-6FCB-5342-834B-72C623FC3BE6}" type="slidenum">
              <a:rPr lang="en-RU" sz="80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‹#›</a:t>
            </a:fld>
            <a:endParaRPr lang="en-RU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45D370C2-EE74-4E02-BECD-714A3B994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-10269"/>
            <a:ext cx="11522075" cy="544168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81009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"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8E577BB-A2F4-4685-95FC-C6378065F1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590920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E577BB-A2F4-4685-95FC-C6378065F1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5F7FA1-2F5D-03ED-F04A-E9F6B60D8FF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2ADBB-BC54-5D04-A3BB-76BE67567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90375" y="3917092"/>
            <a:ext cx="3816178" cy="2940908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r">
              <a:defRPr sz="20000">
                <a:solidFill>
                  <a:srgbClr val="B3BDDA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01.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CE2A75F-C987-C85D-2664-9EC11F26D9A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4113" y="5778097"/>
            <a:ext cx="595699" cy="595699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EAD114CF-9245-35E9-4C0F-A1DAA61E28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4113" y="617538"/>
            <a:ext cx="10832439" cy="67644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70000"/>
              </a:lnSpc>
              <a:buNone/>
              <a:defRPr sz="36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8391D41E-AFF0-6BB7-1DA7-89FB467F73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4113" y="1377828"/>
            <a:ext cx="5521887" cy="3078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5pPr>
          </a:lstStyle>
          <a:p>
            <a:pPr lvl="0"/>
            <a:r>
              <a:rPr lang="ru-RU" dirty="0"/>
              <a:t>Описание раздела (при наличии), например, его содержание или подпись </a:t>
            </a:r>
          </a:p>
        </p:txBody>
      </p:sp>
    </p:spTree>
    <p:extLst>
      <p:ext uri="{BB962C8B-B14F-4D97-AF65-F5344CB8AC3E}">
        <p14:creationId xmlns:p14="http://schemas.microsoft.com/office/powerpoint/2010/main" val="1930616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6146577-AE95-4234-A829-50A15A7608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837348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6146577-AE95-4234-A829-50A15A7608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C4F3716-7ABD-CFBE-8B4B-32F823FC3C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59" b="11559"/>
          <a:stretch/>
        </p:blipFill>
        <p:spPr>
          <a:xfrm>
            <a:off x="4036715" y="-1"/>
            <a:ext cx="6610447" cy="6858001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82A42826-FC98-95C6-EF85-491190F24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074289"/>
            <a:ext cx="6291805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6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 </a:t>
            </a:r>
          </a:p>
          <a:p>
            <a:pPr lvl="0"/>
            <a:r>
              <a:rPr lang="ru-RU" dirty="0"/>
              <a:t>за внимание!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E3BD787A-FE5B-9333-1134-452F81E9AB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27312" y="5935761"/>
            <a:ext cx="3707334" cy="359156"/>
          </a:xfrm>
          <a:prstGeom prst="rect">
            <a:avLst/>
          </a:prstGeom>
        </p:spPr>
        <p:txBody>
          <a:bodyPr anchor="b"/>
          <a:lstStyle>
            <a:lvl1pPr algn="r">
              <a:defRPr sz="1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Москва, 2024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8B74350-96C2-5C61-0E3E-43B2BD656D4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54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 (контакты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3F0C41D-57CC-4A04-85ED-2BCB1FCBE3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510517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3F0C41D-57CC-4A04-85ED-2BCB1FCBE3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B18E58-6FF1-94FE-D60C-7B098B2B20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59" b="11559"/>
          <a:stretch/>
        </p:blipFill>
        <p:spPr>
          <a:xfrm>
            <a:off x="4036715" y="-1"/>
            <a:ext cx="6610447" cy="6858001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82A42826-FC98-95C6-EF85-491190F24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5138" y="4021015"/>
            <a:ext cx="3276600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Блок с контактами 1</a:t>
            </a:r>
          </a:p>
          <a:p>
            <a:pPr lvl="0"/>
            <a:r>
              <a:rPr lang="ru-RU" dirty="0"/>
              <a:t>+7 999 234-56-78</a:t>
            </a:r>
          </a:p>
          <a:p>
            <a:pPr lvl="0"/>
            <a:r>
              <a:rPr lang="ru-RU" dirty="0" err="1"/>
              <a:t>i</a:t>
            </a:r>
            <a:r>
              <a:rPr lang="en-GB" dirty="0" err="1"/>
              <a:t>nfo@mail.ru</a:t>
            </a:r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8B74350-96C2-5C61-0E3E-43B2BD656D4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E59C88-1BF8-B356-19C5-AF2F39CEB86C}"/>
              </a:ext>
            </a:extLst>
          </p:cNvPr>
          <p:cNvSpPr txBox="1"/>
          <p:nvPr userDrawn="1"/>
        </p:nvSpPr>
        <p:spPr>
          <a:xfrm>
            <a:off x="8774703" y="5962692"/>
            <a:ext cx="2648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en-GB" sz="1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WWW.RAZVITIYE.RU</a:t>
            </a:r>
            <a:endParaRPr lang="ru-RU" sz="18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Текст 9">
            <a:extLst>
              <a:ext uri="{FF2B5EF4-FFF2-40B4-BE49-F238E27FC236}">
                <a16:creationId xmlns:a16="http://schemas.microsoft.com/office/drawing/2014/main" id="{62328D92-94C2-7A57-5B44-EE7105BB60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6349" y="4022545"/>
            <a:ext cx="3276600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Блок с контактами </a:t>
            </a:r>
            <a:r>
              <a:rPr lang="en-GB" dirty="0"/>
              <a:t>2 </a:t>
            </a:r>
          </a:p>
          <a:p>
            <a:pPr lvl="0"/>
            <a:r>
              <a:rPr lang="ru-RU" dirty="0"/>
              <a:t>+7 999 234-56-78</a:t>
            </a:r>
          </a:p>
          <a:p>
            <a:pPr lvl="0"/>
            <a:r>
              <a:rPr lang="ru-RU" dirty="0" err="1"/>
              <a:t>i</a:t>
            </a:r>
            <a:r>
              <a:rPr lang="en-GB" dirty="0" err="1"/>
              <a:t>nfo@mail.ru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2043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vmlDrawing" Target="../drawings/vmlDrawing1.vml"/><Relationship Id="rId20" Type="http://schemas.openxmlformats.org/officeDocument/2006/relationships/tags" Target="../tags/tag2.xml"/><Relationship Id="rId21" Type="http://schemas.openxmlformats.org/officeDocument/2006/relationships/oleObject" Target="../embeddings/oleObject1.bin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BE4D52E-C9E9-427F-A401-79B11E674D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0670209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Слайд think-cell" r:id="rId21" imgW="359" imgH="360" progId="TCLayout.ActiveDocument.1">
                  <p:embed/>
                </p:oleObj>
              </mc:Choice>
              <mc:Fallback>
                <p:oleObj name="Слайд think-cell" r:id="rId21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D787A43-ACEA-4E8D-96C1-D23CF3BE4AE6}"/>
              </a:ext>
            </a:extLst>
          </p:cNvPr>
          <p:cNvSpPr/>
          <p:nvPr userDrawn="1"/>
        </p:nvSpPr>
        <p:spPr>
          <a:xfrm>
            <a:off x="-1343690" y="3164208"/>
            <a:ext cx="1201480" cy="540000"/>
          </a:xfrm>
          <a:prstGeom prst="rect">
            <a:avLst/>
          </a:prstGeom>
          <a:solidFill>
            <a:srgbClr val="214C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#214C3B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3C59518-5F6C-47B6-85A3-FE4CF327001C}"/>
              </a:ext>
            </a:extLst>
          </p:cNvPr>
          <p:cNvSpPr/>
          <p:nvPr userDrawn="1"/>
        </p:nvSpPr>
        <p:spPr>
          <a:xfrm>
            <a:off x="-1343690" y="2533450"/>
            <a:ext cx="1201480" cy="5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#F5F5F5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A011856-2F03-4B82-BE5A-B2E9CE894347}"/>
              </a:ext>
            </a:extLst>
          </p:cNvPr>
          <p:cNvSpPr/>
          <p:nvPr userDrawn="1"/>
        </p:nvSpPr>
        <p:spPr>
          <a:xfrm>
            <a:off x="-1343690" y="10418"/>
            <a:ext cx="1201480" cy="540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#3EF0AF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029B896-79A5-4B6C-AFEA-0B783B15C6D7}"/>
              </a:ext>
            </a:extLst>
          </p:cNvPr>
          <p:cNvSpPr/>
          <p:nvPr userDrawn="1"/>
        </p:nvSpPr>
        <p:spPr>
          <a:xfrm>
            <a:off x="-1343690" y="1271934"/>
            <a:ext cx="1201480" cy="540000"/>
          </a:xfrm>
          <a:prstGeom prst="rect">
            <a:avLst/>
          </a:prstGeom>
          <a:solidFill>
            <a:srgbClr val="2A31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#2A3138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16FA57B-58CF-432C-B479-8C2B3503E772}"/>
              </a:ext>
            </a:extLst>
          </p:cNvPr>
          <p:cNvSpPr/>
          <p:nvPr userDrawn="1"/>
        </p:nvSpPr>
        <p:spPr>
          <a:xfrm>
            <a:off x="-1343690" y="4425724"/>
            <a:ext cx="1201480" cy="540000"/>
          </a:xfrm>
          <a:prstGeom prst="rect">
            <a:avLst/>
          </a:prstGeom>
          <a:solidFill>
            <a:srgbClr val="7E83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#7E83FA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AE792A6-FD87-44EA-873B-8E40FAC5C9ED}"/>
              </a:ext>
            </a:extLst>
          </p:cNvPr>
          <p:cNvSpPr/>
          <p:nvPr userDrawn="1"/>
        </p:nvSpPr>
        <p:spPr>
          <a:xfrm>
            <a:off x="-1343690" y="5687240"/>
            <a:ext cx="1201480" cy="540000"/>
          </a:xfrm>
          <a:prstGeom prst="rect">
            <a:avLst/>
          </a:prstGeom>
          <a:solidFill>
            <a:srgbClr val="83DC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#83DCDF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70CFC79-495C-46DA-A7B2-96D497CE5DF5}"/>
              </a:ext>
            </a:extLst>
          </p:cNvPr>
          <p:cNvSpPr/>
          <p:nvPr userDrawn="1"/>
        </p:nvSpPr>
        <p:spPr>
          <a:xfrm>
            <a:off x="-1343690" y="6318000"/>
            <a:ext cx="1201480" cy="540000"/>
          </a:xfrm>
          <a:prstGeom prst="rect">
            <a:avLst/>
          </a:prstGeom>
          <a:solidFill>
            <a:srgbClr val="B3B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#B3BDDC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3C38A6F-5170-4F97-A74A-C522981794CB}"/>
              </a:ext>
            </a:extLst>
          </p:cNvPr>
          <p:cNvSpPr/>
          <p:nvPr userDrawn="1"/>
        </p:nvSpPr>
        <p:spPr>
          <a:xfrm>
            <a:off x="-1343690" y="5056482"/>
            <a:ext cx="1201480" cy="540000"/>
          </a:xfrm>
          <a:prstGeom prst="rect">
            <a:avLst/>
          </a:prstGeom>
          <a:solidFill>
            <a:srgbClr val="5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#53F3F3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48AFC98-3137-4786-8C58-9E67E6465872}"/>
              </a:ext>
            </a:extLst>
          </p:cNvPr>
          <p:cNvSpPr/>
          <p:nvPr userDrawn="1"/>
        </p:nvSpPr>
        <p:spPr>
          <a:xfrm>
            <a:off x="-1343690" y="3794966"/>
            <a:ext cx="1201480" cy="540000"/>
          </a:xfrm>
          <a:prstGeom prst="rect">
            <a:avLst/>
          </a:prstGeom>
          <a:solidFill>
            <a:srgbClr val="B668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#B668E4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A6C4903-18D9-47AD-860F-596D47DC28B5}"/>
              </a:ext>
            </a:extLst>
          </p:cNvPr>
          <p:cNvSpPr/>
          <p:nvPr userDrawn="1"/>
        </p:nvSpPr>
        <p:spPr>
          <a:xfrm>
            <a:off x="-1343690" y="641176"/>
            <a:ext cx="1201480" cy="540000"/>
          </a:xfrm>
          <a:prstGeom prst="rect">
            <a:avLst/>
          </a:prstGeom>
          <a:solidFill>
            <a:srgbClr val="0508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#05080E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1151D00-56B0-4154-9D17-C5E1DD3F3807}"/>
              </a:ext>
            </a:extLst>
          </p:cNvPr>
          <p:cNvSpPr/>
          <p:nvPr userDrawn="1"/>
        </p:nvSpPr>
        <p:spPr>
          <a:xfrm>
            <a:off x="-1343690" y="1902692"/>
            <a:ext cx="1201480" cy="540000"/>
          </a:xfrm>
          <a:prstGeom prst="rect">
            <a:avLst/>
          </a:prstGeom>
          <a:solidFill>
            <a:srgbClr val="8086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#80868B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C1CA98-945C-4501-9BDB-CFBE3B297AA8}"/>
              </a:ext>
            </a:extLst>
          </p:cNvPr>
          <p:cNvSpPr txBox="1"/>
          <p:nvPr userDrawn="1"/>
        </p:nvSpPr>
        <p:spPr>
          <a:xfrm rot="16200000">
            <a:off x="-3213032" y="1559283"/>
            <a:ext cx="3405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Ключевые цвета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024FEE-F3B8-49B4-983F-DC4887C9F12C}"/>
              </a:ext>
            </a:extLst>
          </p:cNvPr>
          <p:cNvSpPr txBox="1"/>
          <p:nvPr userDrawn="1"/>
        </p:nvSpPr>
        <p:spPr>
          <a:xfrm rot="16200000">
            <a:off x="-3213033" y="5001359"/>
            <a:ext cx="3405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Вспомогательные цвета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FA4E508-6528-478F-8E07-FC454F171EE2}"/>
              </a:ext>
            </a:extLst>
          </p:cNvPr>
          <p:cNvSpPr/>
          <p:nvPr userDrawn="1"/>
        </p:nvSpPr>
        <p:spPr>
          <a:xfrm>
            <a:off x="-1664167" y="-38101"/>
            <a:ext cx="1575932" cy="31313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E98BEE3-0784-4A43-A63C-AD8515D468B7}"/>
              </a:ext>
            </a:extLst>
          </p:cNvPr>
          <p:cNvSpPr/>
          <p:nvPr userDrawn="1"/>
        </p:nvSpPr>
        <p:spPr>
          <a:xfrm>
            <a:off x="-1664167" y="3141764"/>
            <a:ext cx="1575932" cy="375433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28A5332-96F7-439A-BC2B-C998714A2F91}"/>
              </a:ext>
            </a:extLst>
          </p:cNvPr>
          <p:cNvSpPr/>
          <p:nvPr userDrawn="1"/>
        </p:nvSpPr>
        <p:spPr>
          <a:xfrm rot="16200000">
            <a:off x="6236893" y="-456789"/>
            <a:ext cx="333373" cy="504000"/>
          </a:xfrm>
          <a:prstGeom prst="rect">
            <a:avLst/>
          </a:prstGeom>
          <a:solidFill>
            <a:srgbClr val="05080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18E93F0-4AC8-4DEC-8E9F-3F74536215CF}"/>
              </a:ext>
            </a:extLst>
          </p:cNvPr>
          <p:cNvSpPr/>
          <p:nvPr userDrawn="1"/>
        </p:nvSpPr>
        <p:spPr>
          <a:xfrm rot="16200000">
            <a:off x="6852051" y="-456789"/>
            <a:ext cx="333373" cy="504000"/>
          </a:xfrm>
          <a:prstGeom prst="rect">
            <a:avLst/>
          </a:prstGeom>
          <a:solidFill>
            <a:srgbClr val="05080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1093867-12CB-4B4F-83D8-E5D767982016}"/>
              </a:ext>
            </a:extLst>
          </p:cNvPr>
          <p:cNvSpPr/>
          <p:nvPr userDrawn="1"/>
        </p:nvSpPr>
        <p:spPr>
          <a:xfrm rot="16200000">
            <a:off x="7467209" y="-456789"/>
            <a:ext cx="333373" cy="504000"/>
          </a:xfrm>
          <a:prstGeom prst="rect">
            <a:avLst/>
          </a:prstGeom>
          <a:solidFill>
            <a:srgbClr val="05080E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8AE2343-019C-4192-9D2B-A43117BBF96C}"/>
              </a:ext>
            </a:extLst>
          </p:cNvPr>
          <p:cNvSpPr/>
          <p:nvPr userDrawn="1"/>
        </p:nvSpPr>
        <p:spPr>
          <a:xfrm rot="16200000">
            <a:off x="8082367" y="-456789"/>
            <a:ext cx="333373" cy="504000"/>
          </a:xfrm>
          <a:prstGeom prst="rect">
            <a:avLst/>
          </a:prstGeom>
          <a:solidFill>
            <a:srgbClr val="05080E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3192A3F-1803-422F-8609-643FB76C4B70}"/>
              </a:ext>
            </a:extLst>
          </p:cNvPr>
          <p:cNvSpPr/>
          <p:nvPr userDrawn="1"/>
        </p:nvSpPr>
        <p:spPr>
          <a:xfrm rot="16200000">
            <a:off x="8697525" y="-456789"/>
            <a:ext cx="333373" cy="504000"/>
          </a:xfrm>
          <a:prstGeom prst="rect">
            <a:avLst/>
          </a:prstGeom>
          <a:solidFill>
            <a:srgbClr val="05080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97BDA31-60D9-4792-96AE-BFC4C140D285}"/>
              </a:ext>
            </a:extLst>
          </p:cNvPr>
          <p:cNvSpPr/>
          <p:nvPr userDrawn="1"/>
        </p:nvSpPr>
        <p:spPr>
          <a:xfrm rot="16200000">
            <a:off x="9312683" y="-456789"/>
            <a:ext cx="333373" cy="504000"/>
          </a:xfrm>
          <a:prstGeom prst="rect">
            <a:avLst/>
          </a:prstGeom>
          <a:solidFill>
            <a:srgbClr val="05080E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5FBBFFE-4FDF-478E-B0BB-BA7E899C78C7}"/>
              </a:ext>
            </a:extLst>
          </p:cNvPr>
          <p:cNvSpPr/>
          <p:nvPr userDrawn="1"/>
        </p:nvSpPr>
        <p:spPr>
          <a:xfrm rot="16200000">
            <a:off x="9927841" y="-456789"/>
            <a:ext cx="333373" cy="504000"/>
          </a:xfrm>
          <a:prstGeom prst="rect">
            <a:avLst/>
          </a:prstGeom>
          <a:solidFill>
            <a:srgbClr val="05080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9E071C1-2CB4-4D5A-8CC6-C75B1CD72525}"/>
              </a:ext>
            </a:extLst>
          </p:cNvPr>
          <p:cNvSpPr/>
          <p:nvPr userDrawn="1"/>
        </p:nvSpPr>
        <p:spPr>
          <a:xfrm rot="16200000">
            <a:off x="10542999" y="-456789"/>
            <a:ext cx="333373" cy="504000"/>
          </a:xfrm>
          <a:prstGeom prst="rect">
            <a:avLst/>
          </a:prstGeom>
          <a:solidFill>
            <a:srgbClr val="05080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C1DA9D7-2BFF-4882-BFB4-19DB95ED9B0C}"/>
              </a:ext>
            </a:extLst>
          </p:cNvPr>
          <p:cNvSpPr/>
          <p:nvPr userDrawn="1"/>
        </p:nvSpPr>
        <p:spPr>
          <a:xfrm rot="16200000">
            <a:off x="11158157" y="-456789"/>
            <a:ext cx="333373" cy="504000"/>
          </a:xfrm>
          <a:prstGeom prst="rect">
            <a:avLst/>
          </a:prstGeom>
          <a:solidFill>
            <a:srgbClr val="05080E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29A71B2-7155-4700-B9AD-63391A6CAE48}"/>
              </a:ext>
            </a:extLst>
          </p:cNvPr>
          <p:cNvSpPr/>
          <p:nvPr userDrawn="1"/>
        </p:nvSpPr>
        <p:spPr>
          <a:xfrm rot="16200000">
            <a:off x="11773313" y="-456789"/>
            <a:ext cx="333373" cy="504000"/>
          </a:xfrm>
          <a:prstGeom prst="rect">
            <a:avLst/>
          </a:prstGeom>
          <a:solidFill>
            <a:srgbClr val="0508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C96C393-737B-41F0-B346-B2ABC0D83F42}"/>
              </a:ext>
            </a:extLst>
          </p:cNvPr>
          <p:cNvSpPr/>
          <p:nvPr userDrawn="1"/>
        </p:nvSpPr>
        <p:spPr>
          <a:xfrm rot="5400000">
            <a:off x="5621735" y="-456789"/>
            <a:ext cx="333373" cy="504000"/>
          </a:xfrm>
          <a:prstGeom prst="rect">
            <a:avLst/>
          </a:prstGeom>
          <a:solidFill>
            <a:srgbClr val="3EF0A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B1318B0-BB02-4019-89A3-75095BB01F00}"/>
              </a:ext>
            </a:extLst>
          </p:cNvPr>
          <p:cNvSpPr/>
          <p:nvPr userDrawn="1"/>
        </p:nvSpPr>
        <p:spPr>
          <a:xfrm rot="5400000">
            <a:off x="5006577" y="-456789"/>
            <a:ext cx="333373" cy="504000"/>
          </a:xfrm>
          <a:prstGeom prst="rect">
            <a:avLst/>
          </a:prstGeom>
          <a:solidFill>
            <a:srgbClr val="3EF0A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5B9935E-3645-48CE-9881-73D6E9E6CDC8}"/>
              </a:ext>
            </a:extLst>
          </p:cNvPr>
          <p:cNvSpPr/>
          <p:nvPr userDrawn="1"/>
        </p:nvSpPr>
        <p:spPr>
          <a:xfrm rot="5400000">
            <a:off x="4391419" y="-456789"/>
            <a:ext cx="333373" cy="504000"/>
          </a:xfrm>
          <a:prstGeom prst="rect">
            <a:avLst/>
          </a:prstGeom>
          <a:solidFill>
            <a:srgbClr val="3EF0A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DD01A44-DC87-4D56-95E1-ADB7A247626C}"/>
              </a:ext>
            </a:extLst>
          </p:cNvPr>
          <p:cNvSpPr/>
          <p:nvPr userDrawn="1"/>
        </p:nvSpPr>
        <p:spPr>
          <a:xfrm rot="5400000">
            <a:off x="3776261" y="-456789"/>
            <a:ext cx="333373" cy="504000"/>
          </a:xfrm>
          <a:prstGeom prst="rect">
            <a:avLst/>
          </a:prstGeom>
          <a:solidFill>
            <a:srgbClr val="3EF0A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0F351D3-5190-4645-A3BF-A0B8585A7446}"/>
              </a:ext>
            </a:extLst>
          </p:cNvPr>
          <p:cNvSpPr/>
          <p:nvPr userDrawn="1"/>
        </p:nvSpPr>
        <p:spPr>
          <a:xfrm rot="5400000">
            <a:off x="3161103" y="-456789"/>
            <a:ext cx="333373" cy="504000"/>
          </a:xfrm>
          <a:prstGeom prst="rect">
            <a:avLst/>
          </a:prstGeom>
          <a:solidFill>
            <a:srgbClr val="3EF0A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5E038461-4DFC-4935-A9E2-E2E4E40DD2F8}"/>
              </a:ext>
            </a:extLst>
          </p:cNvPr>
          <p:cNvSpPr/>
          <p:nvPr userDrawn="1"/>
        </p:nvSpPr>
        <p:spPr>
          <a:xfrm rot="5400000">
            <a:off x="2545945" y="-456789"/>
            <a:ext cx="333373" cy="504000"/>
          </a:xfrm>
          <a:prstGeom prst="rect">
            <a:avLst/>
          </a:prstGeom>
          <a:solidFill>
            <a:srgbClr val="3EF0A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EE85FFB-78B7-43A2-87AC-8664BFCBF67C}"/>
              </a:ext>
            </a:extLst>
          </p:cNvPr>
          <p:cNvSpPr/>
          <p:nvPr userDrawn="1"/>
        </p:nvSpPr>
        <p:spPr>
          <a:xfrm rot="5400000">
            <a:off x="1930787" y="-456789"/>
            <a:ext cx="333373" cy="504000"/>
          </a:xfrm>
          <a:prstGeom prst="rect">
            <a:avLst/>
          </a:prstGeom>
          <a:solidFill>
            <a:srgbClr val="3EF0A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FA6C2CB7-43F9-4A90-B615-C0CBB5342376}"/>
              </a:ext>
            </a:extLst>
          </p:cNvPr>
          <p:cNvSpPr/>
          <p:nvPr userDrawn="1"/>
        </p:nvSpPr>
        <p:spPr>
          <a:xfrm rot="5400000">
            <a:off x="1315629" y="-456789"/>
            <a:ext cx="333373" cy="504000"/>
          </a:xfrm>
          <a:prstGeom prst="rect">
            <a:avLst/>
          </a:prstGeom>
          <a:solidFill>
            <a:srgbClr val="3EF0A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47655E81-F847-4C11-8031-44AE7D4F3294}"/>
              </a:ext>
            </a:extLst>
          </p:cNvPr>
          <p:cNvSpPr/>
          <p:nvPr userDrawn="1"/>
        </p:nvSpPr>
        <p:spPr>
          <a:xfrm rot="5400000">
            <a:off x="700471" y="-456789"/>
            <a:ext cx="333373" cy="504000"/>
          </a:xfrm>
          <a:prstGeom prst="rect">
            <a:avLst/>
          </a:prstGeom>
          <a:solidFill>
            <a:srgbClr val="3EF0A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145AECB8-3745-42ED-A62B-5BC08BC58197}"/>
              </a:ext>
            </a:extLst>
          </p:cNvPr>
          <p:cNvSpPr/>
          <p:nvPr userDrawn="1"/>
        </p:nvSpPr>
        <p:spPr>
          <a:xfrm rot="5400000">
            <a:off x="85313" y="-456789"/>
            <a:ext cx="333373" cy="504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756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17.xml"/><Relationship Id="rId4" Type="http://schemas.openxmlformats.org/officeDocument/2006/relationships/chart" Target="../charts/chart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chart" Target="../charts/chart20.xml"/><Relationship Id="rId4" Type="http://schemas.openxmlformats.org/officeDocument/2006/relationships/chart" Target="../charts/chart2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22.xml"/><Relationship Id="rId4" Type="http://schemas.openxmlformats.org/officeDocument/2006/relationships/chart" Target="../charts/chart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chart" Target="../charts/chart24.xml"/><Relationship Id="rId4" Type="http://schemas.openxmlformats.org/officeDocument/2006/relationships/chart" Target="../charts/chart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chart" Target="../charts/chart2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2651760"/>
            <a:ext cx="5120640" cy="2926080"/>
          </a:xfrm>
        </p:spPr>
        <p:txBody>
          <a:bodyPr/>
          <a:lstStyle/>
          <a:p>
            <a:r>
              <a:rPr sz="3400"/>
              <a:t>Экскаваторы WK:</a:t>
            </a:r>
          </a:p>
          <a:p>
            <a:r>
              <a:rPr sz="3400"/>
              <a:t>исполнение 2024–2026</a:t>
            </a:r>
          </a:p>
          <a:p>
            <a:r>
              <a:rPr sz="3400"/>
              <a:t>и план 2027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>
          <a:xfrm>
            <a:off x="777240" y="5751576"/>
            <a:ext cx="5120640" cy="868680"/>
          </a:xfrm>
        </p:spPr>
        <p:txBody>
          <a:bodyPr/>
          <a:lstStyle/>
          <a:p>
            <a:r>
              <a:t>Данные на 14.09.2026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Главное на одной странице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1699260" cy="1417320"/>
          </a:xfrm>
          <a:prstGeom prst="roundRect">
            <a:avLst>
              <a:gd name="adj" fmla="val 103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216152"/>
            <a:ext cx="133350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800" b="1" i="0">
                <a:solidFill>
                  <a:srgbClr val="2A3138"/>
                </a:solidFill>
                <a:latin typeface="Arial"/>
              </a:rPr>
              <a:t>28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бортов WK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3 площадки · WK-20, WK-20C, WK-35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1636" y="1124712"/>
            <a:ext cx="1699260" cy="1417320"/>
          </a:xfrm>
          <a:prstGeom prst="roundRect">
            <a:avLst>
              <a:gd name="adj" fmla="val 103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04516" y="1216152"/>
            <a:ext cx="133350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800" b="1" i="0">
                <a:solidFill>
                  <a:srgbClr val="2A3138"/>
                </a:solidFill>
                <a:latin typeface="Arial"/>
              </a:rPr>
              <a:t>94%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исполнение 2024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факт 2,78 из 2,96 млрд 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3776" y="1124712"/>
            <a:ext cx="1699260" cy="1417320"/>
          </a:xfrm>
          <a:prstGeom prst="roundRect">
            <a:avLst>
              <a:gd name="adj" fmla="val 103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6656" y="1216152"/>
            <a:ext cx="133350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800" b="1" i="0">
                <a:solidFill>
                  <a:srgbClr val="2A3138"/>
                </a:solidFill>
                <a:latin typeface="Arial"/>
              </a:rPr>
              <a:t>104%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исполнение 2025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факт 3,74 из 3,58 млрд 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124712"/>
            <a:ext cx="1699260" cy="1417320"/>
          </a:xfrm>
          <a:prstGeom prst="roundRect">
            <a:avLst>
              <a:gd name="adj" fmla="val 10322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8796" y="1216152"/>
            <a:ext cx="133350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800" b="1" i="0">
                <a:solidFill>
                  <a:srgbClr val="3EF0AF"/>
                </a:solidFill>
                <a:latin typeface="Arial"/>
              </a:rPr>
              <a:t>54%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исполнение 2026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на 14.09.2026: 2,13 из 3,96 млрд 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8056" y="1124712"/>
            <a:ext cx="1699260" cy="1417320"/>
          </a:xfrm>
          <a:prstGeom prst="roundRect">
            <a:avLst>
              <a:gd name="adj" fmla="val 10322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0936" y="1216152"/>
            <a:ext cx="133350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800" b="1" i="0">
                <a:solidFill>
                  <a:srgbClr val="3EF0AF"/>
                </a:solidFill>
                <a:latin typeface="Arial"/>
              </a:rPr>
              <a:t>2,78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млрд ₽ — план 2027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+ 1,18 млрд ₽ позиций ППР без заказа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50196" y="1124712"/>
            <a:ext cx="1699260" cy="1417320"/>
          </a:xfrm>
          <a:prstGeom prst="roundRect">
            <a:avLst>
              <a:gd name="adj" fmla="val 103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33076" y="1216152"/>
            <a:ext cx="133350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800" b="1" i="0">
                <a:solidFill>
                  <a:srgbClr val="D2454F"/>
                </a:solidFill>
                <a:latin typeface="Arial"/>
              </a:rPr>
              <a:t>53%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обеспеченность 2027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не покрыто 913 млн ₽; 2026 — 93%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" y="2770632"/>
            <a:ext cx="1110996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" y="301752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2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2456" y="2907791"/>
            <a:ext cx="100126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2024–2025 выполнены.</a:t>
            </a:r>
            <a:r>
              <a:rPr sz="1400" b="0" i="0">
                <a:solidFill>
                  <a:srgbClr val="2A3138"/>
                </a:solidFill>
                <a:latin typeface="Arial"/>
              </a:rPr>
              <a:t> Факт 94% и 104% плана; закрыто технически и коммерчески 81% и 85% плана.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" y="3749039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2456" y="3639311"/>
            <a:ext cx="100126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2026 отстаёт от календаря.</a:t>
            </a:r>
            <a:r>
              <a:rPr sz="1400" b="0" i="0">
                <a:solidFill>
                  <a:srgbClr val="2A3138"/>
                </a:solidFill>
                <a:latin typeface="Arial"/>
              </a:rPr>
              <a:t> К середине сентября освоено 54%. 604 млн ₽ деблокированы без факта, 1 119 млн ₽ ещё на согласовании.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4480559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55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2456" y="4370831"/>
            <a:ext cx="100126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Затраты сосредоточены.</a:t>
            </a:r>
            <a:r>
              <a:rPr sz="1400" b="0" i="0">
                <a:solidFill>
                  <a:srgbClr val="2A3138"/>
                </a:solidFill>
                <a:latin typeface="Arial"/>
              </a:rPr>
              <a:t> Пять бортов — WK-35 №04, WK-35 №06, WK-35 №07 и ещё два — дали 48% факта 2024–2026.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" y="521208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D2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62456" y="5102352"/>
            <a:ext cx="100126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2027 — главный риск по МТР.</a:t>
            </a:r>
            <a:r>
              <a:rPr sz="1400" b="0" i="0">
                <a:solidFill>
                  <a:srgbClr val="2A3138"/>
                </a:solidFill>
                <a:latin typeface="Arial"/>
              </a:rPr>
              <a:t> Не покрыто 913 млн ₽; 1 184 млн ₽ закупка не видит до деблокирования. Перемещение между площадками ограничено: запасом других площадок можно улучшить ещё до 217 млн ₽.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Парк и готовность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28 экскаваторов на трёх площадках, КТГ по годам, месяцам и бортам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Парк WK по площадкам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3520440" cy="475488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9496" y="1124712"/>
            <a:ext cx="3520440" cy="868680"/>
          </a:xfrm>
          <a:prstGeom prst="roundRect">
            <a:avLst>
              <a:gd name="adj" fmla="val 18947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9496" y="1627631"/>
            <a:ext cx="3520440" cy="365760"/>
          </a:xfrm>
          <a:prstGeom prst="rect">
            <a:avLst/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170432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Красноярск / Еруда</a:t>
            </a:r>
          </a:p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D8D8D8"/>
                </a:solidFill>
                <a:latin typeface="Arial"/>
              </a:rPr>
              <a:t>WK-20 × 4 · WK-35 ×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62656" y="1170432"/>
            <a:ext cx="91440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400"/>
              </a:spcAft>
              <a:buNone/>
            </a:pPr>
            <a:r>
              <a:rPr sz="3000" b="1" i="0">
                <a:solidFill>
                  <a:srgbClr val="3EF0AF"/>
                </a:solidFill>
                <a:latin typeface="Arial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066543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Борт · книга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6936" y="2066543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КТГ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95144"/>
            <a:ext cx="2240280" cy="2151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WK-20 №02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K1623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99816" y="2318003"/>
            <a:ext cx="731520" cy="169432"/>
          </a:xfrm>
          <a:prstGeom prst="roundRect">
            <a:avLst>
              <a:gd name="adj" fmla="val 5000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91%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510296"/>
            <a:ext cx="2240280" cy="2151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WK-20 №03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K1623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99816" y="2533156"/>
            <a:ext cx="731520" cy="169432"/>
          </a:xfrm>
          <a:prstGeom prst="roundRect">
            <a:avLst>
              <a:gd name="adj" fmla="val 50000"/>
            </a:avLst>
          </a:prstGeom>
          <a:solidFill>
            <a:srgbClr val="FC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75%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725449"/>
            <a:ext cx="2240280" cy="2151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WK-20 №8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K1626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9816" y="2748309"/>
            <a:ext cx="731520" cy="169432"/>
          </a:xfrm>
          <a:prstGeom prst="roundRect">
            <a:avLst>
              <a:gd name="adj" fmla="val 50000"/>
            </a:avLst>
          </a:prstGeom>
          <a:solidFill>
            <a:srgbClr val="F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76%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940602"/>
            <a:ext cx="2240280" cy="2151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WK-20 №09</a:t>
            </a:r>
            <a:r>
              <a:rPr sz="900" b="0" i="0">
                <a:solidFill>
                  <a:srgbClr val="D2454F"/>
                </a:solidFill>
                <a:latin typeface="Arial"/>
              </a:rPr>
              <a:t>  нет книги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99816" y="2963462"/>
            <a:ext cx="731520" cy="169432"/>
          </a:xfrm>
          <a:prstGeom prst="roundRect">
            <a:avLst>
              <a:gd name="adj" fmla="val 50000"/>
            </a:avLst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rgbClr val="2A3138"/>
                </a:solidFill>
                <a:latin typeface="Arial"/>
              </a:rPr>
              <a:t>нет данных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155755"/>
            <a:ext cx="2240280" cy="2151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WK-35 №04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K1839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99816" y="3178615"/>
            <a:ext cx="731520" cy="169432"/>
          </a:xfrm>
          <a:prstGeom prst="roundRect">
            <a:avLst>
              <a:gd name="adj" fmla="val 5000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370908"/>
            <a:ext cx="2240280" cy="2151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WK-35 №05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K1839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99816" y="3393768"/>
            <a:ext cx="731520" cy="169432"/>
          </a:xfrm>
          <a:prstGeom prst="roundRect">
            <a:avLst>
              <a:gd name="adj" fmla="val 5000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83%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586061"/>
            <a:ext cx="2240280" cy="2151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WK-35 №06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K1839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99816" y="3608921"/>
            <a:ext cx="731520" cy="169432"/>
          </a:xfrm>
          <a:prstGeom prst="roundRect">
            <a:avLst>
              <a:gd name="adj" fmla="val 5000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87%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801214"/>
            <a:ext cx="2240280" cy="2151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WK-35 №07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K1839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99816" y="3824074"/>
            <a:ext cx="731520" cy="169432"/>
          </a:xfrm>
          <a:prstGeom prst="roundRect">
            <a:avLst>
              <a:gd name="adj" fmla="val 50000"/>
            </a:avLst>
          </a:prstGeom>
          <a:solidFill>
            <a:srgbClr val="FC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87%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016367"/>
            <a:ext cx="2240280" cy="2151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WK-35 №10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K1849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99816" y="4039227"/>
            <a:ext cx="731520" cy="169432"/>
          </a:xfrm>
          <a:prstGeom prst="roundRect">
            <a:avLst>
              <a:gd name="adj" fmla="val 5000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231520"/>
            <a:ext cx="2240280" cy="2151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WK-35 №11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K1849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99816" y="4254380"/>
            <a:ext cx="731520" cy="169432"/>
          </a:xfrm>
          <a:prstGeom prst="roundRect">
            <a:avLst>
              <a:gd name="adj" fmla="val 5000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81%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4446673"/>
            <a:ext cx="2240280" cy="2151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WK-35 №12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K1849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99816" y="4469533"/>
            <a:ext cx="731520" cy="169432"/>
          </a:xfrm>
          <a:prstGeom prst="roundRect">
            <a:avLst>
              <a:gd name="adj" fmla="val 5000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92%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4661826"/>
            <a:ext cx="2240280" cy="2151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WK-35 №13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K1866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99816" y="4684686"/>
            <a:ext cx="731520" cy="169432"/>
          </a:xfrm>
          <a:prstGeom prst="roundRect">
            <a:avLst>
              <a:gd name="adj" fmla="val 5000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93%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4876979"/>
            <a:ext cx="2240280" cy="2151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WK-35 №14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K1849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99816" y="4899839"/>
            <a:ext cx="731520" cy="169432"/>
          </a:xfrm>
          <a:prstGeom prst="roundRect">
            <a:avLst>
              <a:gd name="adj" fmla="val 5000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91%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5092132"/>
            <a:ext cx="2240280" cy="2151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WK-35 №15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K1849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99816" y="5114992"/>
            <a:ext cx="731520" cy="169432"/>
          </a:xfrm>
          <a:prstGeom prst="roundRect">
            <a:avLst>
              <a:gd name="adj" fmla="val 5000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91%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5307285"/>
            <a:ext cx="2240280" cy="2151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WK-35 №16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K1849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99816" y="5330145"/>
            <a:ext cx="731520" cy="169432"/>
          </a:xfrm>
          <a:prstGeom prst="roundRect">
            <a:avLst>
              <a:gd name="adj" fmla="val 5000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91%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5522438"/>
            <a:ext cx="2240280" cy="2151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WK-35 №17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K1853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99816" y="5545298"/>
            <a:ext cx="731520" cy="169432"/>
          </a:xfrm>
          <a:prstGeom prst="roundRect">
            <a:avLst>
              <a:gd name="adj" fmla="val 5000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90%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" y="5737591"/>
            <a:ext cx="2240280" cy="2151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WK-35 №18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K1853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99816" y="5760451"/>
            <a:ext cx="731520" cy="169432"/>
          </a:xfrm>
          <a:prstGeom prst="roundRect">
            <a:avLst>
              <a:gd name="adj" fmla="val 5000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92%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34256" y="1124712"/>
            <a:ext cx="3520440" cy="475488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334256" y="1124712"/>
            <a:ext cx="3520440" cy="868680"/>
          </a:xfrm>
          <a:prstGeom prst="roundRect">
            <a:avLst>
              <a:gd name="adj" fmla="val 18947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34256" y="1627631"/>
            <a:ext cx="3520440" cy="365760"/>
          </a:xfrm>
          <a:prstGeom prst="rect">
            <a:avLst/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62856" y="1170432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Магадан</a:t>
            </a:r>
          </a:p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D8D8D8"/>
                </a:solidFill>
                <a:latin typeface="Arial"/>
              </a:rPr>
              <a:t>WK-20 × 2 · WK-20C ×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57416" y="1170432"/>
            <a:ext cx="91440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400"/>
              </a:spcAft>
              <a:buNone/>
            </a:pPr>
            <a:r>
              <a:rPr sz="3000" b="1" i="0">
                <a:solidFill>
                  <a:srgbClr val="3EF0AF"/>
                </a:solidFill>
                <a:latin typeface="Arial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6" y="2066543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Борт · книга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11696" y="2066543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КТГ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62856" y="2295144"/>
            <a:ext cx="2240280" cy="2240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WK-20 №1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K1626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94576" y="2318003"/>
            <a:ext cx="731520" cy="178308"/>
          </a:xfrm>
          <a:prstGeom prst="roundRect">
            <a:avLst>
              <a:gd name="adj" fmla="val 5000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78%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62856" y="2519172"/>
            <a:ext cx="2240280" cy="2240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WK-20 №2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K1626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94576" y="2542032"/>
            <a:ext cx="731520" cy="178308"/>
          </a:xfrm>
          <a:prstGeom prst="roundRect">
            <a:avLst>
              <a:gd name="adj" fmla="val 50000"/>
            </a:avLst>
          </a:prstGeom>
          <a:solidFill>
            <a:srgbClr val="FC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86%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62856" y="2743200"/>
            <a:ext cx="2240280" cy="2240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WK-20C №3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K1637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94576" y="2766060"/>
            <a:ext cx="731520" cy="178308"/>
          </a:xfrm>
          <a:prstGeom prst="roundRect">
            <a:avLst>
              <a:gd name="adj" fmla="val 5000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92%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62856" y="2967227"/>
            <a:ext cx="2240280" cy="2240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WK-20C №4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K1637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894576" y="2990087"/>
            <a:ext cx="731520" cy="178308"/>
          </a:xfrm>
          <a:prstGeom prst="roundRect">
            <a:avLst>
              <a:gd name="adj" fmla="val 5000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91%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62856" y="3191256"/>
            <a:ext cx="2240280" cy="2240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WK-20C №5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K1637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94576" y="3214115"/>
            <a:ext cx="731520" cy="178308"/>
          </a:xfrm>
          <a:prstGeom prst="roundRect">
            <a:avLst>
              <a:gd name="adj" fmla="val 5000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92%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62856" y="3415284"/>
            <a:ext cx="2240280" cy="2240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WK-20C №6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K1637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94576" y="3438144"/>
            <a:ext cx="731520" cy="178308"/>
          </a:xfrm>
          <a:prstGeom prst="roundRect">
            <a:avLst>
              <a:gd name="adj" fmla="val 5000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93%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29016" y="1124712"/>
            <a:ext cx="3520440" cy="475488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129016" y="1124712"/>
            <a:ext cx="3520440" cy="868680"/>
          </a:xfrm>
          <a:prstGeom prst="roundRect">
            <a:avLst>
              <a:gd name="adj" fmla="val 18947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29016" y="1627631"/>
            <a:ext cx="3520440" cy="365760"/>
          </a:xfrm>
          <a:prstGeom prst="rect">
            <a:avLst/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57616" y="1170432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Сухой Лог</a:t>
            </a:r>
          </a:p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D8D8D8"/>
                </a:solidFill>
                <a:latin typeface="Arial"/>
              </a:rPr>
              <a:t>WK-20 × 1 · WK-20C × 1 · WK-35 × 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52176" y="1170432"/>
            <a:ext cx="91440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400"/>
              </a:spcAft>
              <a:buNone/>
            </a:pPr>
            <a:r>
              <a:rPr sz="3000" b="1" i="0">
                <a:solidFill>
                  <a:srgbClr val="3EF0AF"/>
                </a:solidFill>
                <a:latin typeface="Arial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57616" y="2066543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Борт · книга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06456" y="2066543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КТГ 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57616" y="2295144"/>
            <a:ext cx="2240280" cy="2240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WK-20 №1220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K1626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689336" y="2318003"/>
            <a:ext cx="731520" cy="178308"/>
          </a:xfrm>
          <a:prstGeom prst="roundRect">
            <a:avLst>
              <a:gd name="adj" fmla="val 50000"/>
            </a:avLst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rgbClr val="2A3138"/>
                </a:solidFill>
                <a:latin typeface="Arial"/>
              </a:rPr>
              <a:t>нет данных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57616" y="2519172"/>
            <a:ext cx="2240280" cy="2240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WK-20C №1221</a:t>
            </a:r>
            <a:r>
              <a:rPr sz="900" b="0" i="0">
                <a:solidFill>
                  <a:srgbClr val="5B6167"/>
                </a:solidFill>
                <a:latin typeface="Arial"/>
              </a:rPr>
              <a:t>  K1641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689336" y="2542032"/>
            <a:ext cx="731520" cy="178308"/>
          </a:xfrm>
          <a:prstGeom prst="roundRect">
            <a:avLst>
              <a:gd name="adj" fmla="val 5000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00" b="1" i="0">
                <a:solidFill>
                  <a:srgbClr val="2A3138"/>
                </a:solidFill>
                <a:latin typeface="Arial"/>
              </a:rPr>
              <a:t>88%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57616" y="2743200"/>
            <a:ext cx="2240280" cy="2240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WK-35 №1222</a:t>
            </a:r>
            <a:r>
              <a:rPr sz="900" b="0" i="0">
                <a:solidFill>
                  <a:srgbClr val="D2454F"/>
                </a:solidFill>
                <a:latin typeface="Arial"/>
              </a:rPr>
              <a:t>  нет книги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689336" y="2766060"/>
            <a:ext cx="731520" cy="178308"/>
          </a:xfrm>
          <a:prstGeom prst="roundRect">
            <a:avLst>
              <a:gd name="adj" fmla="val 50000"/>
            </a:avLst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rgbClr val="2A3138"/>
                </a:solidFill>
                <a:latin typeface="Arial"/>
              </a:rPr>
              <a:t>нет данных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57616" y="2967227"/>
            <a:ext cx="2240280" cy="2240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WK-35 №1223</a:t>
            </a:r>
            <a:r>
              <a:rPr sz="900" b="0" i="0">
                <a:solidFill>
                  <a:srgbClr val="D2454F"/>
                </a:solidFill>
                <a:latin typeface="Arial"/>
              </a:rPr>
              <a:t>  нет книги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689336" y="2990087"/>
            <a:ext cx="731520" cy="178308"/>
          </a:xfrm>
          <a:prstGeom prst="roundRect">
            <a:avLst>
              <a:gd name="adj" fmla="val 50000"/>
            </a:avLst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rgbClr val="2A3138"/>
                </a:solidFill>
                <a:latin typeface="Arial"/>
              </a:rPr>
              <a:t>нет данных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57616" y="3191256"/>
            <a:ext cx="2240280" cy="2240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WK-35 №1224</a:t>
            </a:r>
            <a:r>
              <a:rPr sz="900" b="0" i="0">
                <a:solidFill>
                  <a:srgbClr val="D2454F"/>
                </a:solidFill>
                <a:latin typeface="Arial"/>
              </a:rPr>
              <a:t>  нет книги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689336" y="3214115"/>
            <a:ext cx="731520" cy="178308"/>
          </a:xfrm>
          <a:prstGeom prst="roundRect">
            <a:avLst>
              <a:gd name="adj" fmla="val 50000"/>
            </a:avLst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rgbClr val="2A3138"/>
                </a:solidFill>
                <a:latin typeface="Arial"/>
              </a:rPr>
              <a:t>нет данных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39496" y="59801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0664" y="5925312"/>
            <a:ext cx="1088967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КТГ факт ≥ плана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058231" y="59801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C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259399" y="5925312"/>
            <a:ext cx="1338349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ниже плана до 5 п.п.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826348" y="59801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027516" y="5925312"/>
            <a:ext cx="158773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ниже более чем на 5 п.п.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КТГ парка: план и факт по месяцам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7223760" cy="4754880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1216151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Парк WK, среднее по бортам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" y="1536192"/>
          <a:ext cx="704088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37576" y="1124712"/>
            <a:ext cx="3611880" cy="4754880"/>
          </a:xfrm>
          <a:prstGeom prst="roundRect">
            <a:avLst>
              <a:gd name="adj" fmla="val 45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66176" y="1216151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По площадкам, план / факт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0456" y="1627631"/>
          <a:ext cx="3246118" cy="17007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1386"/>
                <a:gridCol w="708244"/>
                <a:gridCol w="708244"/>
                <a:gridCol w="708244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Площадка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 / Еруда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87% / 89%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86% / 89%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86% / 88%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83% / 89%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87% / 90%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87% / 89%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Сухой Лог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86% / 63%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83% / 88%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86% / 88%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0456" y="3730752"/>
            <a:ext cx="3246120" cy="2011680"/>
          </a:xfrm>
          <a:prstGeom prst="roundRect">
            <a:avLst>
              <a:gd name="adj" fmla="val 6363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600"/>
              </a:spcAft>
              <a:buNone/>
            </a:pPr>
            <a:r>
              <a:rPr sz="1200" b="1" i="0">
                <a:solidFill>
                  <a:srgbClr val="2A3138"/>
                </a:solidFill>
                <a:latin typeface="Arial"/>
              </a:rPr>
              <a:t>Разброс по бортам 2026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Лучший: </a:t>
            </a:r>
            <a:r>
              <a:rPr sz="1200" b="1" i="0">
                <a:solidFill>
                  <a:srgbClr val="2A3138"/>
                </a:solidFill>
                <a:latin typeface="Arial"/>
              </a:rPr>
              <a:t>WK-35 №13 — 93%</a:t>
            </a:r>
          </a:p>
          <a:p>
            <a:pPr algn="l">
              <a:spcAft>
                <a:spcPts val="6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Худший: </a:t>
            </a:r>
            <a:r>
              <a:rPr sz="1200" b="1" i="0">
                <a:solidFill>
                  <a:srgbClr val="2A3138"/>
                </a:solidFill>
                <a:latin typeface="Arial"/>
              </a:rPr>
              <a:t>WK-20 №03 — 75%</a:t>
            </a:r>
          </a:p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B6167"/>
                </a:solidFill>
                <a:latin typeface="Arial"/>
              </a:rPr>
              <a:t>Сухой Лог: КТГ факт есть не по всем бортам — WK-20 №1220 без данных с 2025 года.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КТГ по каждому борту: план и факт 2024–2026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9496" y="1033271"/>
          <a:ext cx="11109954" cy="484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8963"/>
                <a:gridCol w="1488963"/>
                <a:gridCol w="1145356"/>
                <a:gridCol w="1145356"/>
                <a:gridCol w="1145356"/>
                <a:gridCol w="1145356"/>
                <a:gridCol w="1145356"/>
                <a:gridCol w="1145356"/>
                <a:gridCol w="1259892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Площадка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Борт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2024 план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2024 факт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2025 план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2025 факт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2026 план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2026 факт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Δ 2026, п.п.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WK-20 №02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79%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+8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WK-20 №03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84%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79%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−5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WK-20 №8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84%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76%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−10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WK-20 №09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WK-35 №04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+2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WK-35 №05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WK-35 №06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−0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WK-35 №07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86%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WK-35 №10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+2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WK-35 №11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+2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WK-35 №12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+5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WK-35 №13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93%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+4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WK-35 №14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93%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+3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WK-35 №15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+2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WK-35 №16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+2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WK-35 №17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WK-35 №18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94%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+3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WK-20 №1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79%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79%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+0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WK-20 №2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86%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86%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WK-20C №3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95%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WK-20C №4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98%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94%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WK-20C №5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+2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WK-20C №6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93%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93%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+5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Сухой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WK-20 №1220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86%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Сухой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WK-20C №1221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+5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Сухой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WK-35 №1222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Сухой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WK-35 №1223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Сухой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A3138"/>
                          </a:solidFill>
                          <a:latin typeface="Arial"/>
                        </a:rPr>
                        <a:t>WK-35 №1224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Исполнение 2024–2026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План и факт по годам, площадкам, моделям, видам работ и каждому борту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Программа ремонтов WK: план и факт по годам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7680960" cy="4754880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1216151"/>
            <a:ext cx="72237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млн ₽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" y="1444752"/>
          <a:ext cx="749808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94776" y="1124712"/>
            <a:ext cx="315468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77656" y="1216152"/>
            <a:ext cx="2788920" cy="8961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2A3138"/>
                </a:solidFill>
                <a:latin typeface="Arial"/>
              </a:rPr>
              <a:t>94%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исполнение 2024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закрыто 81% плана · 1 382 заказов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94776" y="2313432"/>
            <a:ext cx="315468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77656" y="2404872"/>
            <a:ext cx="2788920" cy="8961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2A3138"/>
                </a:solidFill>
                <a:latin typeface="Arial"/>
              </a:rPr>
              <a:t>104%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исполнение 2025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закрыто 85% плана · 2 797 заказов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94776" y="3502152"/>
            <a:ext cx="3154680" cy="1078992"/>
          </a:xfrm>
          <a:prstGeom prst="roundRect">
            <a:avLst>
              <a:gd name="adj" fmla="val 13559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593592"/>
            <a:ext cx="2788920" cy="8961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3EF0AF"/>
                </a:solidFill>
                <a:latin typeface="Arial"/>
              </a:rPr>
              <a:t>54%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исполнение 2026 на 14.09.2026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закрыто 52% плана · 2 791 заказов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94776" y="4690872"/>
            <a:ext cx="3154680" cy="1188720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7656" y="4782312"/>
            <a:ext cx="278892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2A3138"/>
                </a:solidFill>
                <a:latin typeface="Arial"/>
              </a:rPr>
              <a:t>2 783 млн ₽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план 2027 в заказах SAP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567 заказов · МТР 2 181 · УСО 602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Исполнение по площадкам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3520440" cy="475488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1216151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Красноярск / Еруда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85216" y="1536192"/>
          <a:ext cx="342900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8096" y="4599432"/>
            <a:ext cx="929640" cy="822960"/>
          </a:xfrm>
          <a:prstGeom prst="roundRect">
            <a:avLst>
              <a:gd name="adj" fmla="val 13333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spcAft>
                <a:spcPts val="0"/>
              </a:spcAft>
              <a:buNone/>
            </a:pPr>
            <a:r>
              <a:rPr sz="1800" b="1" i="0">
                <a:solidFill>
                  <a:srgbClr val="2A3138"/>
                </a:solidFill>
                <a:latin typeface="Arial"/>
              </a:rPr>
              <a:t>96%</a:t>
            </a:r>
          </a:p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исполнение 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9176" y="4599432"/>
            <a:ext cx="929640" cy="822960"/>
          </a:xfrm>
          <a:prstGeom prst="roundRect">
            <a:avLst>
              <a:gd name="adj" fmla="val 13333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spcAft>
                <a:spcPts val="0"/>
              </a:spcAft>
              <a:buNone/>
            </a:pPr>
            <a:r>
              <a:rPr sz="1800" b="1" i="0">
                <a:solidFill>
                  <a:srgbClr val="2A3138"/>
                </a:solidFill>
                <a:latin typeface="Arial"/>
              </a:rPr>
              <a:t>102%</a:t>
            </a:r>
          </a:p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исполнение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0256" y="4599432"/>
            <a:ext cx="929640" cy="822960"/>
          </a:xfrm>
          <a:prstGeom prst="roundRect">
            <a:avLst>
              <a:gd name="adj" fmla="val 13333"/>
            </a:avLst>
          </a:prstGeom>
          <a:solidFill>
            <a:srgbClr val="E3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spcAft>
                <a:spcPts val="0"/>
              </a:spcAft>
              <a:buNone/>
            </a:pPr>
            <a:r>
              <a:rPr sz="1800" b="1" i="0">
                <a:solidFill>
                  <a:srgbClr val="2A3138"/>
                </a:solidFill>
                <a:latin typeface="Arial"/>
              </a:rPr>
              <a:t>57%</a:t>
            </a:r>
          </a:p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исполнение 2026 · на 14.09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4864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Бортов: 17 · заказов 2026: 1 798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124712"/>
            <a:ext cx="3520440" cy="475488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216151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Магадан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379976" y="1536192"/>
          <a:ext cx="3429000" cy="2926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562856" y="4599432"/>
            <a:ext cx="929640" cy="822960"/>
          </a:xfrm>
          <a:prstGeom prst="roundRect">
            <a:avLst>
              <a:gd name="adj" fmla="val 13333"/>
            </a:avLst>
          </a:prstGeom>
          <a:solidFill>
            <a:srgbClr val="FC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spcAft>
                <a:spcPts val="0"/>
              </a:spcAft>
              <a:buNone/>
            </a:pPr>
            <a:r>
              <a:rPr sz="1800" b="1" i="0">
                <a:solidFill>
                  <a:srgbClr val="2A3138"/>
                </a:solidFill>
                <a:latin typeface="Arial"/>
              </a:rPr>
              <a:t>91%</a:t>
            </a:r>
          </a:p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исполнение 2024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3936" y="4599432"/>
            <a:ext cx="929640" cy="822960"/>
          </a:xfrm>
          <a:prstGeom prst="roundRect">
            <a:avLst>
              <a:gd name="adj" fmla="val 13333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spcAft>
                <a:spcPts val="0"/>
              </a:spcAft>
              <a:buNone/>
            </a:pPr>
            <a:r>
              <a:rPr sz="1800" b="1" i="0">
                <a:solidFill>
                  <a:srgbClr val="2A3138"/>
                </a:solidFill>
                <a:latin typeface="Arial"/>
              </a:rPr>
              <a:t>122%</a:t>
            </a:r>
          </a:p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исполнение 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5016" y="4599432"/>
            <a:ext cx="929640" cy="822960"/>
          </a:xfrm>
          <a:prstGeom prst="roundRect">
            <a:avLst>
              <a:gd name="adj" fmla="val 13333"/>
            </a:avLst>
          </a:prstGeom>
          <a:solidFill>
            <a:srgbClr val="E3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spcAft>
                <a:spcPts val="0"/>
              </a:spcAft>
              <a:buNone/>
            </a:pPr>
            <a:r>
              <a:rPr sz="1800" b="1" i="0">
                <a:solidFill>
                  <a:srgbClr val="2A3138"/>
                </a:solidFill>
                <a:latin typeface="Arial"/>
              </a:rPr>
              <a:t>42%</a:t>
            </a:r>
          </a:p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исполнение 2026 · на 14.09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54864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Бортов: 6 · заказов 2026: 857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124712"/>
            <a:ext cx="3520440" cy="475488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216151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Сухой Лог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8174736" y="1536192"/>
          <a:ext cx="3429000" cy="29260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8357616" y="4599432"/>
            <a:ext cx="929640" cy="822960"/>
          </a:xfrm>
          <a:prstGeom prst="roundRect">
            <a:avLst>
              <a:gd name="adj" fmla="val 13333"/>
            </a:avLst>
          </a:prstGeom>
          <a:solidFill>
            <a:srgbClr val="FC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spcAft>
                <a:spcPts val="0"/>
              </a:spcAft>
              <a:buNone/>
            </a:pPr>
            <a:r>
              <a:rPr sz="1800" b="1" i="0">
                <a:solidFill>
                  <a:srgbClr val="2A3138"/>
                </a:solidFill>
                <a:latin typeface="Arial"/>
              </a:rPr>
              <a:t>85%</a:t>
            </a:r>
          </a:p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исполнение 2024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8696" y="4599432"/>
            <a:ext cx="929640" cy="822960"/>
          </a:xfrm>
          <a:prstGeom prst="roundRect">
            <a:avLst>
              <a:gd name="adj" fmla="val 13333"/>
            </a:avLst>
          </a:prstGeom>
          <a:solidFill>
            <a:srgbClr val="FC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spcAft>
                <a:spcPts val="0"/>
              </a:spcAft>
              <a:buNone/>
            </a:pPr>
            <a:r>
              <a:rPr sz="1800" b="1" i="0">
                <a:solidFill>
                  <a:srgbClr val="2A3138"/>
                </a:solidFill>
                <a:latin typeface="Arial"/>
              </a:rPr>
              <a:t>92%</a:t>
            </a:r>
          </a:p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исполнение 2025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99776" y="4599432"/>
            <a:ext cx="929640" cy="822960"/>
          </a:xfrm>
          <a:prstGeom prst="roundRect">
            <a:avLst>
              <a:gd name="adj" fmla="val 13333"/>
            </a:avLst>
          </a:prstGeom>
          <a:solidFill>
            <a:srgbClr val="E3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 rIns="18288" bIns="18288"/>
          <a:lstStyle/>
          <a:p>
            <a:pPr algn="ctr">
              <a:spcAft>
                <a:spcPts val="0"/>
              </a:spcAft>
              <a:buNone/>
            </a:pPr>
            <a:r>
              <a:rPr sz="1800" b="1" i="0">
                <a:solidFill>
                  <a:srgbClr val="2A3138"/>
                </a:solidFill>
                <a:latin typeface="Arial"/>
              </a:rPr>
              <a:t>61%</a:t>
            </a:r>
          </a:p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исполнение 2026 · на 14.09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54864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Бортов: 5 · заказов 2026: 136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Где находятся заказы: стадии SAP по годам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6675120" cy="4754880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1216151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Все площадки, доля плана по стадиям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" y="1536192"/>
          <a:ext cx="649224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88936" y="1124712"/>
            <a:ext cx="4160520" cy="475488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17536" y="1216151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2026 по площадкам, доли; подписи — млн ₽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80375" y="1536192"/>
          <a:ext cx="3977640" cy="28346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71815" y="4462272"/>
            <a:ext cx="3794760" cy="1325880"/>
          </a:xfrm>
          <a:prstGeom prst="roundRect">
            <a:avLst>
              <a:gd name="adj" fmla="val 9655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604 млн ₽</a:t>
            </a:r>
            <a:r>
              <a:rPr sz="1100" b="0" i="0">
                <a:solidFill>
                  <a:srgbClr val="2A3138"/>
                </a:solidFill>
                <a:latin typeface="Arial"/>
              </a:rPr>
              <a:t> — 111 заказов 2026 деблокированы, но без факта и подтверждений.</a:t>
            </a:r>
          </a:p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1 119 млн ₽</a:t>
            </a:r>
            <a:r>
              <a:rPr sz="1100" b="0" i="0">
                <a:solidFill>
                  <a:srgbClr val="2A3138"/>
                </a:solidFill>
                <a:latin typeface="Arial"/>
              </a:rPr>
              <a:t> на согласовании в сентябре: пересмотрите, что реально выполнится до конца года.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На что уходят деньги: виды работ и модели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7406640" cy="4754880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30936" y="1216151"/>
          <a:ext cx="7223759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0456" y="1124712"/>
            <a:ext cx="3429000" cy="4754880"/>
          </a:xfrm>
          <a:prstGeom prst="roundRect">
            <a:avLst>
              <a:gd name="adj" fmla="val 47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49056" y="1216151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Исполнение по моделям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03336" y="1627631"/>
          <a:ext cx="3063238" cy="1481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720"/>
                <a:gridCol w="567266"/>
                <a:gridCol w="567266"/>
                <a:gridCol w="567266"/>
                <a:gridCol w="68072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Модель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План 27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WK-20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106%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701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WK-20C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117%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69%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WK-35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102%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1 740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49056" y="3364991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По статье затрат, факт 2024–2026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377647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OPEX (ремонты и ТО)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49056" y="4050791"/>
            <a:ext cx="726027" cy="219456"/>
          </a:xfrm>
          <a:prstGeom prst="roundRect">
            <a:avLst>
              <a:gd name="adj" fmla="val 20833"/>
            </a:avLst>
          </a:prstGeom>
          <a:solidFill>
            <a:srgbClr val="12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6523" y="4014215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3 715 млн ₽ · 43%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9056" y="4453128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OPEX УПА (CAPEX Рудных БЕ)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49056" y="4727448"/>
            <a:ext cx="591568" cy="219456"/>
          </a:xfrm>
          <a:prstGeom prst="roundRect">
            <a:avLst>
              <a:gd name="adj" fmla="val 20833"/>
            </a:avLst>
          </a:prstGeom>
          <a:solidFill>
            <a:srgbClr val="55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32064" y="469087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3 027 млн ₽ · 35%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6" y="5129783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000" b="1" i="0">
                <a:solidFill>
                  <a:srgbClr val="2A3138"/>
                </a:solidFill>
                <a:latin typeface="Arial"/>
              </a:rPr>
              <a:t>Компоненты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49056" y="5404103"/>
            <a:ext cx="264900" cy="219456"/>
          </a:xfrm>
          <a:prstGeom prst="roundRect">
            <a:avLst>
              <a:gd name="adj" fmla="val 20833"/>
            </a:avLst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05396" y="5367527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1 356 млн ₽ · 16%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Затраты на каждый борт: факт 2024–2026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11109960" cy="4800600"/>
          </a:xfrm>
          <a:prstGeom prst="roundRect">
            <a:avLst>
              <a:gd name="adj" fmla="val 3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30936" y="1170432"/>
          <a:ext cx="10927080" cy="4709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Исполнение по бортам: Красноярск / Еруда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9496" y="1033271"/>
          <a:ext cx="11109954" cy="4626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6392"/>
                <a:gridCol w="1091887"/>
                <a:gridCol w="727925"/>
                <a:gridCol w="727925"/>
                <a:gridCol w="564142"/>
                <a:gridCol w="727925"/>
                <a:gridCol w="727925"/>
                <a:gridCol w="564142"/>
                <a:gridCol w="727925"/>
                <a:gridCol w="727925"/>
                <a:gridCol w="564142"/>
                <a:gridCol w="727925"/>
                <a:gridCol w="727925"/>
                <a:gridCol w="773420"/>
                <a:gridCol w="682429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Площадка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Борт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План 24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Факт 24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План 25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Факт 25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План 26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Факт 26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План 27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ППР 27*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Обесп. 27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КТГ 26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WK-20 №02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105%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WK-20 №03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107%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52%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WK-20 №8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101%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99%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45%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76%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WK-20 №09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WK-35 №04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741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835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113%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WK-35 №05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95%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51%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WK-35 №06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98%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WK-35 №07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105%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WK-35 №10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108%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WK-35 №11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118%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65%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WK-35 №12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101%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45%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WK-35 №13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93%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WK-35 №14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102%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98%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84%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WK-35 №15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109%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WK-35 №16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103%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95%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WK-35 №17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110%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WK-35 №18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122%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39496" y="5989320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млн ₽. * ППР 27 — позиции графика ППР без заказа SAP, в план не входят. Обесп. 27 — доля потребности МТР 2027, покрытая складом и закупкой к сроку. КТГ 26 — факт январь–август.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Исполнение по бортам: Магадан и Сухой Лог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9496" y="1033271"/>
          <a:ext cx="11109954" cy="3346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6392"/>
                <a:gridCol w="1091887"/>
                <a:gridCol w="727925"/>
                <a:gridCol w="727925"/>
                <a:gridCol w="564142"/>
                <a:gridCol w="727925"/>
                <a:gridCol w="727925"/>
                <a:gridCol w="564142"/>
                <a:gridCol w="727925"/>
                <a:gridCol w="727925"/>
                <a:gridCol w="564142"/>
                <a:gridCol w="727925"/>
                <a:gridCol w="727925"/>
                <a:gridCol w="773420"/>
                <a:gridCol w="682429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Площадка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Борт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План 24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Факт 24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План 25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Факт 25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План 26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Факт 26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План 27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ППР 27*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Обесп. 27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КТГ 26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WK-20 №1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126%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WK-20 №2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123%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59%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86%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WK-20C №3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108%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79%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WK-20C №4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121%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WK-20C №5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95%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122%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59%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WK-20C №6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135%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93%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Сухой Лог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WK-20 №1220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Сухой Лог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WK-20C №1221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94%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Сухой Лог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WK-35 №1222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Сухой Лог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WK-35 №1223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Сухой Лог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WK-35 №1224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Сухой Лог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A3138"/>
                          </a:solidFill>
                          <a:latin typeface="Arial"/>
                        </a:rPr>
                        <a:t>WK-35 №1228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5B616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39496" y="5989320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млн ₽. * ППР 27 — позиции графика ППР без заказа SAP, в план не входят. Обесп. 27 — доля потребности МТР 2027, покрытая складом и закупкой к сроку. КТГ 26 — факт январь–август.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Крупнейшие материалы: факт 2024–2026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9496" y="1124712"/>
          <a:ext cx="11109958" cy="448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5643"/>
                <a:gridCol w="888796"/>
                <a:gridCol w="4937760"/>
                <a:gridCol w="888796"/>
                <a:gridCol w="1086307"/>
                <a:gridCol w="2962656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ЕКМТР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Наименование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Кол-во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Факт, млн ₽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976755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Ковш СБ K1839.01.00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666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1248033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Смазка Синтофлекс Арктик 1-100 HD Лукойл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282 552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948715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Канат подъем.K1801.05.10.00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985386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Смазка Карбофлекс OG 000-1500 HD Лукойл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152 105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1101027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Цепь гусеничной ленты K1605.18.04.00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975552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Каток опор.K1605.18.03.00 TZ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953566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Пластина гусеничной ленты K1812.18.04.01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889503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Ковш СБ K1623.01.00 TZ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975772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Вал подъем.промежут.K1801.05.03.00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1116816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Каток опорный K1801.18.03.00 TZ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975558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Колесо напр.перед.K1605.18.05.00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1291661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Смазка Карбофлекс OG 0-4000 HD Лукойл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63 037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778240" y="1527048"/>
            <a:ext cx="2734056" cy="164592"/>
          </a:xfrm>
          <a:prstGeom prst="roundRect">
            <a:avLst>
              <a:gd name="adj" fmla="val 22222"/>
            </a:avLst>
          </a:prstGeom>
          <a:solidFill>
            <a:srgbClr val="12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78240" y="1874520"/>
            <a:ext cx="1645214" cy="164592"/>
          </a:xfrm>
          <a:prstGeom prst="roundRect">
            <a:avLst>
              <a:gd name="adj" fmla="val 22222"/>
            </a:avLst>
          </a:prstGeom>
          <a:solidFill>
            <a:srgbClr val="12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0" y="2221992"/>
            <a:ext cx="1293387" cy="164592"/>
          </a:xfrm>
          <a:prstGeom prst="roundRect">
            <a:avLst>
              <a:gd name="adj" fmla="val 22222"/>
            </a:avLst>
          </a:prstGeom>
          <a:solidFill>
            <a:srgbClr val="12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0" y="2569464"/>
            <a:ext cx="972777" cy="164592"/>
          </a:xfrm>
          <a:prstGeom prst="roundRect">
            <a:avLst>
              <a:gd name="adj" fmla="val 22222"/>
            </a:avLst>
          </a:prstGeom>
          <a:solidFill>
            <a:srgbClr val="7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0" y="2916936"/>
            <a:ext cx="939697" cy="164592"/>
          </a:xfrm>
          <a:prstGeom prst="roundRect">
            <a:avLst>
              <a:gd name="adj" fmla="val 22222"/>
            </a:avLst>
          </a:prstGeom>
          <a:solidFill>
            <a:srgbClr val="7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0" y="3264408"/>
            <a:ext cx="785536" cy="164592"/>
          </a:xfrm>
          <a:prstGeom prst="roundRect">
            <a:avLst>
              <a:gd name="adj" fmla="val 22222"/>
            </a:avLst>
          </a:prstGeom>
          <a:solidFill>
            <a:srgbClr val="7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78240" y="3611880"/>
            <a:ext cx="711134" cy="164592"/>
          </a:xfrm>
          <a:prstGeom prst="roundRect">
            <a:avLst>
              <a:gd name="adj" fmla="val 22222"/>
            </a:avLst>
          </a:prstGeom>
          <a:solidFill>
            <a:srgbClr val="7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0" y="3959352"/>
            <a:ext cx="661106" cy="164592"/>
          </a:xfrm>
          <a:prstGeom prst="roundRect">
            <a:avLst>
              <a:gd name="adj" fmla="val 22222"/>
            </a:avLst>
          </a:prstGeom>
          <a:solidFill>
            <a:srgbClr val="7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0" y="4306824"/>
            <a:ext cx="587296" cy="164592"/>
          </a:xfrm>
          <a:prstGeom prst="roundRect">
            <a:avLst>
              <a:gd name="adj" fmla="val 22222"/>
            </a:avLst>
          </a:prstGeom>
          <a:solidFill>
            <a:srgbClr val="7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78240" y="4654296"/>
            <a:ext cx="534585" cy="164592"/>
          </a:xfrm>
          <a:prstGeom prst="roundRect">
            <a:avLst>
              <a:gd name="adj" fmla="val 22222"/>
            </a:avLst>
          </a:prstGeom>
          <a:solidFill>
            <a:srgbClr val="7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0" y="5001768"/>
            <a:ext cx="459631" cy="164592"/>
          </a:xfrm>
          <a:prstGeom prst="roundRect">
            <a:avLst>
              <a:gd name="adj" fmla="val 22222"/>
            </a:avLst>
          </a:prstGeom>
          <a:solidFill>
            <a:srgbClr val="7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78240" y="5349240"/>
            <a:ext cx="429590" cy="164592"/>
          </a:xfrm>
          <a:prstGeom prst="roundRect">
            <a:avLst>
              <a:gd name="adj" fmla="val 22222"/>
            </a:avLst>
          </a:prstGeom>
          <a:solidFill>
            <a:srgbClr val="7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План 2027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Объём, готовность заказов, разрез по площадкам и бортам, крупнейшие МТР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План 2027: объём и готовность заказов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6949440" cy="4754880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1216151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По площадкам, млн ₽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" y="1536192"/>
          <a:ext cx="6766559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63256" y="1124712"/>
            <a:ext cx="388620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46136" y="1216152"/>
            <a:ext cx="352044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3138"/>
                </a:solidFill>
                <a:latin typeface="Arial"/>
              </a:rPr>
              <a:t>2 783 млн ₽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план 2027 в заказах SAP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567 заказов · из них 94% ещё открыты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63256" y="2404872"/>
            <a:ext cx="3886200" cy="1143000"/>
          </a:xfrm>
          <a:prstGeom prst="roundRect">
            <a:avLst>
              <a:gd name="adj" fmla="val 128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46136" y="2496312"/>
            <a:ext cx="352044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3138"/>
                </a:solidFill>
                <a:latin typeface="Arial"/>
              </a:rPr>
              <a:t>1 175 млн ₽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позиции ППР без заказа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770 позиций · не входят в план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63256" y="3685032"/>
            <a:ext cx="388620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46136" y="3776472"/>
            <a:ext cx="352044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3138"/>
                </a:solidFill>
                <a:latin typeface="Arial"/>
              </a:rPr>
              <a:t>602 млн ₽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из плана — МТР подрядчика (УСО)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Магадан: 528 млн 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63256" y="4965192"/>
            <a:ext cx="3886200" cy="914400"/>
          </a:xfrm>
          <a:prstGeom prst="roundRect">
            <a:avLst>
              <a:gd name="adj" fmla="val 14000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Деблокировано </a:t>
            </a:r>
            <a:r>
              <a:rPr sz="1100" b="0" i="0">
                <a:solidFill>
                  <a:srgbClr val="2A3138"/>
                </a:solidFill>
                <a:latin typeface="Arial"/>
              </a:rPr>
              <a:t>164 млн ₽ — остальное закупка увидит только после ДЕБЛ, если у строк «Начиная с деблок.».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План 2027 по бортам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11109960" cy="4800600"/>
          </a:xfrm>
          <a:prstGeom prst="roundRect">
            <a:avLst>
              <a:gd name="adj" fmla="val 3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30936" y="1170432"/>
          <a:ext cx="10927080" cy="4709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Крупнейшие МТР плана 2027 и их обеспеченность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9496" y="1124712"/>
          <a:ext cx="11109957" cy="448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8743"/>
                <a:gridCol w="896768"/>
                <a:gridCol w="4583481"/>
                <a:gridCol w="697486"/>
                <a:gridCol w="797127"/>
                <a:gridCol w="1096049"/>
                <a:gridCol w="1096049"/>
                <a:gridCol w="1594254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ЕКМТР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Наименование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Бортов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Кол-во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План, млн ₽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Обеспечено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Вывод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976755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Ковш СБ K1839.01.00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не успеем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948715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Канат подъем.K1801.05.10.00 TZ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не успеем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975783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Вал поворот.вертик.K1801.07.01.00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не успеем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1335553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Масло редук. Sypres Extra 220 Teboil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112 586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1116816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Каток опорный K1801.18.03.00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успеем заказать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961124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Коронка зубца K1802.01.10.00-12 TZ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1 356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не успеем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1129639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Цепь гусеничной ленты K1812.18.04.00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1230357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Колесо натяжное СБ K1842.18.05.00 TZ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успеем заказать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961123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Зубцедержатель K1802.01.10.00-11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не успеем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1174071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Шестерня венцовая K1801.15.03.00 TZ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обеспечено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920820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Стак.фильтр.K1838.22.01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1 872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не успеем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1195742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Стрела K1801.03.15.00 TZ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не успеем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Обеспеченность МТР 2026–2027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Склад, закупка, дефицит — по годам, площадкам и бортам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Обеспеченность потребности WK по годам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496" y="594360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* Перемещение между площадками ограничено: в обеспеченность не входит, это возможность улучшения (запас другой площадки сверх её потребности).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496" y="1124712"/>
            <a:ext cx="7498079" cy="4754880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216151"/>
            <a:ext cx="7040879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Потребность, млн ₽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" y="1536192"/>
          <a:ext cx="7315199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11896" y="1124712"/>
            <a:ext cx="33375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94776" y="1216152"/>
            <a:ext cx="29718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800" b="1" i="0">
                <a:solidFill>
                  <a:srgbClr val="2A3138"/>
                </a:solidFill>
                <a:latin typeface="Arial"/>
              </a:rPr>
              <a:t>93%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обеспечено к сроку 2026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не покрыто 69 млн ₽ · с перемещением* до 97%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11896" y="2404872"/>
            <a:ext cx="3337560" cy="1143000"/>
          </a:xfrm>
          <a:prstGeom prst="roundRect">
            <a:avLst>
              <a:gd name="adj" fmla="val 128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94776" y="2496312"/>
            <a:ext cx="29718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800" b="1" i="0">
                <a:solidFill>
                  <a:srgbClr val="3EF0AF"/>
                </a:solidFill>
                <a:latin typeface="Arial"/>
              </a:rPr>
              <a:t>53%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обеспечено к сроку 2027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не покрыто 913 млн ₽ · с перемещением* до 62%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11896" y="3730752"/>
            <a:ext cx="3337560" cy="2148840"/>
          </a:xfrm>
          <a:prstGeom prst="roundRect">
            <a:avLst>
              <a:gd name="adj" fmla="val 5957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6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Что ещё можно успеть</a:t>
            </a:r>
          </a:p>
          <a:p>
            <a:pPr algn="l" marL="182880" indent="-182880">
              <a:spcAft>
                <a:spcPts val="300"/>
              </a:spcAft>
              <a:buClr>
                <a:srgbClr val="12A06E"/>
              </a:buClr>
              <a:buFont typeface="Arial"/>
              <a:buChar char="•"/>
            </a:pPr>
            <a:r>
              <a:rPr sz="1100" b="0" i="0">
                <a:solidFill>
                  <a:srgbClr val="2A3138"/>
                </a:solidFill>
                <a:latin typeface="Arial"/>
              </a:rPr>
              <a:t>Успеем, если заказать сейчас: </a:t>
            </a:r>
            <a:r>
              <a:rPr sz="1100" b="1" i="0">
                <a:solidFill>
                  <a:srgbClr val="2A3138"/>
                </a:solidFill>
                <a:latin typeface="Arial"/>
              </a:rPr>
              <a:t>511 млн ₽</a:t>
            </a:r>
          </a:p>
          <a:p>
            <a:pPr algn="l" marL="182880" indent="-182880">
              <a:spcAft>
                <a:spcPts val="300"/>
              </a:spcAft>
              <a:buClr>
                <a:srgbClr val="E0A030"/>
              </a:buClr>
              <a:buFont typeface="Arial"/>
              <a:buChar char="•"/>
            </a:pPr>
            <a:r>
              <a:rPr sz="1100" b="0" i="0">
                <a:solidFill>
                  <a:srgbClr val="2A3138"/>
                </a:solidFill>
                <a:latin typeface="Arial"/>
              </a:rPr>
              <a:t>Опоздаем до 3 мес.: </a:t>
            </a:r>
            <a:r>
              <a:rPr sz="1100" b="1" i="0">
                <a:solidFill>
                  <a:srgbClr val="2A3138"/>
                </a:solidFill>
                <a:latin typeface="Arial"/>
              </a:rPr>
              <a:t>113 млн ₽</a:t>
            </a:r>
          </a:p>
          <a:p>
            <a:pPr algn="l" marL="182880" indent="-182880">
              <a:spcAft>
                <a:spcPts val="300"/>
              </a:spcAft>
              <a:buClr>
                <a:srgbClr val="D2454F"/>
              </a:buClr>
              <a:buFont typeface="Arial"/>
              <a:buChar char="•"/>
            </a:pPr>
            <a:r>
              <a:rPr sz="1100" b="0" i="0">
                <a:solidFill>
                  <a:srgbClr val="2A3138"/>
                </a:solidFill>
                <a:latin typeface="Arial"/>
              </a:rPr>
              <a:t>Опоздаем более чем на 3 мес.: </a:t>
            </a:r>
            <a:r>
              <a:rPr sz="1100" b="1" i="0">
                <a:solidFill>
                  <a:srgbClr val="2A3138"/>
                </a:solidFill>
                <a:latin typeface="Arial"/>
              </a:rPr>
              <a:t>310 млн ₽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Срок — медиана фактических поставок по коду.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Обеспеченность по площадкам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496" y="594360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* Перемещение между площадками ограничено: в обеспеченность не входит, это возможность улучшения (запас другой площадки сверх её потребности).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496" y="1124712"/>
            <a:ext cx="7498079" cy="4754880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" y="1216151"/>
          <a:ext cx="7315199" cy="4617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11896" y="1124712"/>
          <a:ext cx="3337558" cy="17007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5178"/>
                <a:gridCol w="497083"/>
                <a:gridCol w="497083"/>
                <a:gridCol w="568095"/>
                <a:gridCol w="71011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Площадка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Перем.*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Не покр. 27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 / Еруда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760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Сухой Лог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73%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11896" y="3182111"/>
            <a:ext cx="3337560" cy="2697480"/>
          </a:xfrm>
          <a:prstGeom prst="roundRect">
            <a:avLst>
              <a:gd name="adj" fmla="val 4745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600"/>
              </a:spcAft>
              <a:buNone/>
            </a:pPr>
            <a:r>
              <a:rPr sz="1200" b="1" i="0">
                <a:solidFill>
                  <a:srgbClr val="2A3138"/>
                </a:solidFill>
                <a:latin typeface="Arial"/>
              </a:rPr>
              <a:t>83% дефицита 2027 — Красноярск</a:t>
            </a:r>
          </a:p>
          <a:p>
            <a:pPr algn="l">
              <a:spcAft>
                <a:spcPts val="6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Больше всего не покрыто у WK-35 №16, WK-35 №17, WK-35 №07, WK-35 №15, WK-35 №18 — 538 млн ₽. Крупнейшая позиция — ковш K1839 (164 млн ₽).</a:t>
            </a:r>
          </a:p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B6167"/>
                </a:solidFill>
                <a:latin typeface="Arial"/>
              </a:rPr>
              <a:t>Сухой Лог почти без своего запаса: обеспечено 39%; перемещением* можно улучшить ещё до 96 млн ₽.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Обеспеченность 2027 по бортам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496" y="594360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* Перемещение между площадками ограничено: в обеспеченность не входит, это возможность улучшения (запас другой площадки сверх её потребности).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496" y="1124712"/>
            <a:ext cx="11109960" cy="4800600"/>
          </a:xfrm>
          <a:prstGeom prst="roundRect">
            <a:avLst>
              <a:gd name="adj" fmla="val 3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" y="1170432"/>
          <a:ext cx="10927080" cy="4709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Видит ли закупка потребность 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496" y="594360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* Перемещение между площадками ограничено: в обеспеченность не входит, это возможность улучшения (запас другой площадки сверх её потребности).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496" y="1124712"/>
            <a:ext cx="6766560" cy="4754880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216151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2027 по признаку, млн ₽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" y="1536192"/>
          <a:ext cx="658368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0376" y="1124712"/>
            <a:ext cx="4069080" cy="1325880"/>
          </a:xfrm>
          <a:prstGeom prst="roundRect">
            <a:avLst>
              <a:gd name="adj" fmla="val 11034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63256" y="1216152"/>
            <a:ext cx="3703320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3EF0AF"/>
                </a:solidFill>
                <a:latin typeface="Arial"/>
              </a:rPr>
              <a:t>1 184 млн ₽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закупка не видит до деблокирования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из них не покрыто 561 млн 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0376" y="2587752"/>
            <a:ext cx="4069080" cy="1188720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63256" y="2679192"/>
            <a:ext cx="370332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3138"/>
                </a:solidFill>
                <a:latin typeface="Arial"/>
              </a:rPr>
              <a:t>82 млн ₽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строки «Никогда»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в заявку не попадут совсем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0376" y="3959352"/>
            <a:ext cx="4069080" cy="1920240"/>
          </a:xfrm>
          <a:prstGeom prst="roundRect">
            <a:avLst>
              <a:gd name="adj" fmla="val 6666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6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Что сделать</a:t>
            </a:r>
          </a:p>
          <a:p>
            <a:pPr algn="l" marL="182880" indent="-182880">
              <a:spcAft>
                <a:spcPts val="400"/>
              </a:spcAft>
              <a:buClr>
                <a:srgbClr val="3EF0AF"/>
              </a:buClr>
              <a:buFont typeface="Arial"/>
              <a:buChar char="•"/>
            </a:pPr>
            <a:r>
              <a:rPr sz="1100" b="0" i="0">
                <a:solidFill>
                  <a:srgbClr val="2A3138"/>
                </a:solidFill>
                <a:latin typeface="Arial"/>
              </a:rPr>
              <a:t>Деблокировать заказы 2027 с длинными позициями раньше — с запасом на срок поставки.</a:t>
            </a:r>
          </a:p>
          <a:p>
            <a:pPr algn="l" marL="182880" indent="-182880">
              <a:spcAft>
                <a:spcPts val="400"/>
              </a:spcAft>
              <a:buClr>
                <a:srgbClr val="3EF0AF"/>
              </a:buClr>
              <a:buFont typeface="Arial"/>
              <a:buChar char="•"/>
            </a:pPr>
            <a:r>
              <a:rPr sz="1100" b="0" i="0">
                <a:solidFill>
                  <a:srgbClr val="2A3138"/>
                </a:solidFill>
                <a:latin typeface="Arial"/>
              </a:rPr>
              <a:t>Либо перевести такие строки на «Немедленно».</a:t>
            </a:r>
          </a:p>
          <a:p>
            <a:pPr algn="l" marL="182880" indent="-182880">
              <a:spcAft>
                <a:spcPts val="400"/>
              </a:spcAft>
              <a:buClr>
                <a:srgbClr val="3EF0AF"/>
              </a:buClr>
              <a:buFont typeface="Arial"/>
              <a:buChar char="•"/>
            </a:pPr>
            <a:r>
              <a:rPr sz="1100" b="0" i="0">
                <a:solidFill>
                  <a:srgbClr val="2A3138"/>
                </a:solidFill>
                <a:latin typeface="Arial"/>
              </a:rPr>
              <a:t>Строки «Никогда» проверить: реальная ли это потребность.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Критичные позиции дефицита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9496" y="1124712"/>
          <a:ext cx="11109955" cy="448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3794"/>
                <a:gridCol w="4031462"/>
                <a:gridCol w="796916"/>
                <a:gridCol w="1265691"/>
                <a:gridCol w="796916"/>
                <a:gridCol w="984426"/>
                <a:gridCol w="1031304"/>
                <a:gridCol w="1359446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ЕКМТР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Наименование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Потребн.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Не покрыто, млн ₽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Срок, дн.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Нужно с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Заказать до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Вывод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976755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Ковш в сборе K1839.01.00,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163,6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01.11.2026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14.04.2026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не успеем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975783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Вал поворота вертикальный K1801.07.01.00, TZ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77,8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04.01.2027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12.06.2026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не успеем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1116816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Каток опорный K1801.18.03.00,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63,7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20.06.2027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12.10.2026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успеем заказать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920820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Стакан фильтрующий K1838.22.01, TZ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2 808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53,1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01.10.2026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01.03.2026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не успеем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1195742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Стрела K1801.03.15.00,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51,8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01.03.2027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29.05.2026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не успеем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948715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Канат подъема K1801.05.10.00, TZ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30,4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25.08.2026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22.07.2026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не успеем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976494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Насос пневматический 1904,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28,7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18.07.2026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02.02.2026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срок прошёл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961124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Коронка зубца K1802.01.10.00-12, TZ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1 545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28,1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10.09.2026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02.02.2026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не успеем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1233003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Канат подъемный K1627.05.04,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21,7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30.08.2026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27.11.2025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срок прошёл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953399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Пластина гусеничной ленты K1605.18.04.01, TZ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21,2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21.10.2026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29.10.2026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успеем заказать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975552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Каток опорный K1605.18.03.00,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20,6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06.07.2026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03.10.2025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срок прошёл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961123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Зубцедержатель K1802.01.10.00-11, TZ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19.10.2026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13.07.2026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не успеем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Заказать сегодня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2743200" cy="1371600"/>
          </a:xfrm>
          <a:prstGeom prst="roundRect">
            <a:avLst>
              <a:gd name="adj" fmla="val 10666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216152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3200" b="1" i="0">
                <a:solidFill>
                  <a:srgbClr val="3EF0AF"/>
                </a:solidFill>
                <a:latin typeface="Arial"/>
              </a:rPr>
              <a:t>159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позиций ещё успеваем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если заказать сейчас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" y="2679191"/>
            <a:ext cx="2743200" cy="13716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2770632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3200" b="1" i="0">
                <a:solidFill>
                  <a:srgbClr val="2A3138"/>
                </a:solidFill>
                <a:latin typeface="Arial"/>
              </a:rPr>
              <a:t>511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млн ₽ — стоимость пакета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" y="4233672"/>
            <a:ext cx="2743200" cy="1645920"/>
          </a:xfrm>
          <a:prstGeom prst="roundRect">
            <a:avLst>
              <a:gd name="adj" fmla="val 8888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4325112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3200" b="1" i="0">
                <a:solidFill>
                  <a:srgbClr val="D2454F"/>
                </a:solidFill>
                <a:latin typeface="Arial"/>
              </a:rPr>
              <a:t>424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млн ₽ — уже не успеть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нужны аналоги, перенос сроков или ремонт узла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557015" y="1124712"/>
          <a:ext cx="8092438" cy="4352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9160"/>
                <a:gridCol w="3796453"/>
                <a:gridCol w="1298786"/>
                <a:gridCol w="1298786"/>
                <a:gridCol w="799253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ЕКМТР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Наименование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Не покрыто, млн ₽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Ещё успеем, млн ₽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Срок, дн.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1116816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Каток опорный K1801.18.03.00,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63,7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63,7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975783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Вал поворота вертикальный K1801.07.01.00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77,8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59,9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948715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Канат подъема K1801.05.10.00,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30,4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28,7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953399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Пластина гусеничной ленты K1605.18.04.01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21,2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21,2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1233003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Канат подъемный K1627.05.04,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21,7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20,6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976494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Насос пневматический 1904, TZ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28,7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20,2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975551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Вал приводной (к-т) K1605.18.02.00,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16,1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16,1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1230357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Колесо натяжное в сборе K1842.18.05.00, 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920820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Стакан фильтрующий K1838.22.01,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53,1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14,5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976506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Реле потока DWE-FGR200G34A3TS75L, TZ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13,4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3138"/>
                          </a:solidFill>
                          <a:latin typeface="Arial"/>
                        </a:rPr>
                        <a:t>13,4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557015" y="5605272"/>
            <a:ext cx="8092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«Ещё успеем» — часть дефицита, потребность по которой наступает позже срока поставки; остальное уже не закрыть заказом.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Запасы, закупки и подрядчики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Склад WK, график поставок, сроки и МТР подрядчика (УСО)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Запасы WK по площадкам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496" y="594360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* Перемещение между площадками ограничено: в обеспеченность не входит, это возможность улучшения (запас другой площадки сверх её потребности).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496" y="1124712"/>
            <a:ext cx="2640330" cy="1188720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216152"/>
            <a:ext cx="227457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2A3138"/>
                </a:solidFill>
                <a:latin typeface="Arial"/>
              </a:rPr>
              <a:t>2,27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млрд ₽ — Красноярск / Еруда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801 кодов · 65% запаса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2706" y="1124712"/>
            <a:ext cx="2640330" cy="1188720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45586" y="1216152"/>
            <a:ext cx="227457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2A3138"/>
                </a:solidFill>
                <a:latin typeface="Arial"/>
              </a:rPr>
              <a:t>1,08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млрд ₽ — Магадан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459 кодов · 31% запаса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1124712"/>
            <a:ext cx="2640330" cy="1188720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8796" y="1216152"/>
            <a:ext cx="227457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2A3138"/>
                </a:solidFill>
                <a:latin typeface="Arial"/>
              </a:rPr>
              <a:t>0,16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млрд ₽ — Сухой Лог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193 кодов · 5% запаса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9126" y="1124712"/>
            <a:ext cx="2640330" cy="1188720"/>
          </a:xfrm>
          <a:prstGeom prst="roundRect">
            <a:avLst>
              <a:gd name="adj" fmla="val 12307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2006" y="1216152"/>
            <a:ext cx="227457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3EF0AF"/>
                </a:solidFill>
                <a:latin typeface="Arial"/>
              </a:rPr>
              <a:t>3,52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млрд ₽ — весь запас WK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ограничено 1,4 млн 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" y="2542032"/>
            <a:ext cx="6035040" cy="3337560"/>
          </a:xfrm>
          <a:prstGeom prst="roundRect">
            <a:avLst>
              <a:gd name="adj" fmla="val 493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633472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Крупнейшие склады, млн ₽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30936" y="2953511"/>
          <a:ext cx="5852159" cy="2880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848855" y="2542032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Запас и потребность 2026–2027, млн ₽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848855" y="2907791"/>
          <a:ext cx="4800597" cy="16824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0878"/>
                <a:gridCol w="702526"/>
                <a:gridCol w="702526"/>
                <a:gridCol w="780585"/>
                <a:gridCol w="741556"/>
                <a:gridCol w="702526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Площадка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Запас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Нужно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Свой склад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Перем.*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Не покр.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2 274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2 330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1 281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763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1 076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Сухой Лог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3138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848855" y="4690872"/>
            <a:ext cx="4800600" cy="1188720"/>
          </a:xfrm>
          <a:prstGeom prst="roundRect">
            <a:avLst>
              <a:gd name="adj" fmla="val 10769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Запас лежит не там, где работы. </a:t>
            </a:r>
            <a:r>
              <a:rPr sz="1100" b="0" i="0">
                <a:solidFill>
                  <a:srgbClr val="2A3138"/>
                </a:solidFill>
                <a:latin typeface="Arial"/>
              </a:rPr>
              <a:t>Магадан держит 31% запаса при 15% потребности; Сухой Лог со своего склада закрывает 60 млн ₽ из 226.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Возможность перемещения между площадками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496" y="594360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* Перемещение между площадками ограничено: в обеспеченность не входит, это возможность улучшения (запас другой площадки сверх её потребности).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496" y="1124712"/>
            <a:ext cx="5120640" cy="4754880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216151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Откуда → куда можно, млн 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2376" y="1627631"/>
          <a:ext cx="4754878" cy="2377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3628"/>
                <a:gridCol w="933994"/>
                <a:gridCol w="849085"/>
                <a:gridCol w="933994"/>
                <a:gridCol w="76417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в Красноярск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в Магадан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в Сухой Лог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всего из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A3138"/>
                          </a:solidFill>
                          <a:latin typeface="Arial"/>
                        </a:rPr>
                        <a:t>из 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A3138"/>
                          </a:solidFill>
                          <a:latin typeface="Arial"/>
                        </a:rPr>
                        <a:t>33,3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A3138"/>
                          </a:solidFill>
                          <a:latin typeface="Arial"/>
                        </a:rPr>
                        <a:t>65,6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A3138"/>
                          </a:solidFill>
                          <a:latin typeface="Arial"/>
                        </a:rPr>
                        <a:t>98,9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A3138"/>
                          </a:solidFill>
                          <a:latin typeface="Arial"/>
                        </a:rPr>
                        <a:t>из Магадан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A3138"/>
                          </a:solidFill>
                          <a:latin typeface="Arial"/>
                        </a:rPr>
                        <a:t>83,8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A3138"/>
                          </a:solidFill>
                          <a:latin typeface="Arial"/>
                        </a:rPr>
                        <a:t>30,6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A3138"/>
                          </a:solidFill>
                          <a:latin typeface="Arial"/>
                        </a:rPr>
                        <a:t>114,5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A3138"/>
                          </a:solidFill>
                          <a:latin typeface="Arial"/>
                        </a:rPr>
                        <a:t>из Сухой Лог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A3138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A3138"/>
                          </a:solidFill>
                          <a:latin typeface="Arial"/>
                        </a:rPr>
                        <a:t>0,5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A313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A3138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A3138"/>
                          </a:solidFill>
                          <a:latin typeface="Arial"/>
                        </a:rPr>
                        <a:t>всего в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A3138"/>
                          </a:solidFill>
                          <a:latin typeface="Arial"/>
                        </a:rPr>
                        <a:t>87,3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A3138"/>
                          </a:solidFill>
                          <a:latin typeface="Arial"/>
                        </a:rPr>
                        <a:t>33,8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A3138"/>
                          </a:solidFill>
                          <a:latin typeface="Arial"/>
                        </a:rPr>
                        <a:t>96,2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A3138"/>
                          </a:solidFill>
                          <a:latin typeface="Arial"/>
                        </a:rPr>
                        <a:t>217,3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22376" y="4325112"/>
            <a:ext cx="4754879" cy="1371600"/>
          </a:xfrm>
          <a:prstGeom prst="roundRect">
            <a:avLst>
              <a:gd name="adj" fmla="val 10666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4416551"/>
            <a:ext cx="4389119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3EF0AF"/>
                </a:solidFill>
                <a:latin typeface="Arial"/>
              </a:rPr>
              <a:t>до 217 млн ₽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можно улучшить перемещением*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в обеспеченность не входит · 2027: 53% → до 62%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4455" y="1124712"/>
            <a:ext cx="57150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Крупнейшие позиции, которые есть на другой площадке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34455" y="1490472"/>
          <a:ext cx="5714998" cy="45171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4375"/>
                <a:gridCol w="2437279"/>
                <a:gridCol w="1933014"/>
                <a:gridCol w="63033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ЕКМТР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Наименование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Маршрут, шт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млн ₽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961124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Коронка зубца K1802.01.10.00-12, 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Маг. → Красн.: 498, СЛ → Красн.: 24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A3138"/>
                          </a:solidFill>
                          <a:latin typeface="Arial"/>
                        </a:rPr>
                        <a:t>28,1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953399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Пластина гусеничной ленты K1605.18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Маг. → Красн.: 35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A3138"/>
                          </a:solidFill>
                          <a:latin typeface="Arial"/>
                        </a:rPr>
                        <a:t>21,2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961123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Зубцедержатель K1802.01.10.00-11, 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Маг. → Красн.: 76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A3138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1170659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Круг роликовый K1601.13.00, TZ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Красн. → Маг.: 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A3138"/>
                          </a:solidFill>
                          <a:latin typeface="Arial"/>
                        </a:rPr>
                        <a:t>9,6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975558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Колесо переднее направляющее (натя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Красн. → СЛ: 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A3138"/>
                          </a:solidFill>
                          <a:latin typeface="Arial"/>
                        </a:rPr>
                        <a:t>9,5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901765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Защита межзубьевая K1623.01.12, TZ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Маг. → Красн.: 92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A3138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975552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Каток опорный K1605.18.03.00,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Красн. → Маг.: 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A3138"/>
                          </a:solidFill>
                          <a:latin typeface="Arial"/>
                        </a:rPr>
                        <a:t>6,3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869417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Клапан продувной в сборе SDU04A00H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Красн. → СЛ: 22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A3138"/>
                          </a:solidFill>
                          <a:latin typeface="Arial"/>
                        </a:rPr>
                        <a:t>5,8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1083952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Подшипник K1602.03.10.03, TZ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Красн. → СЛ: 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A3138"/>
                          </a:solidFill>
                          <a:latin typeface="Arial"/>
                        </a:rPr>
                        <a:t>5,6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975529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Вал поворотный K1605.07.01.00, TZ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Красн. → Маг.: 2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A3138"/>
                          </a:solidFill>
                          <a:latin typeface="Arial"/>
                        </a:rPr>
                        <a:t>5,3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Закупки: график поставок и сроки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264033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216152"/>
            <a:ext cx="227457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3138"/>
                </a:solidFill>
                <a:latin typeface="Arial"/>
              </a:rPr>
              <a:t>460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кодов в закупке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310 с потребностью 26–27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2706" y="1124712"/>
            <a:ext cx="264033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45586" y="1216152"/>
            <a:ext cx="227457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2A3138"/>
                </a:solidFill>
                <a:latin typeface="Arial"/>
              </a:rPr>
              <a:t>6 575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ед. ещё поставить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в пути 89 ед.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5916" y="1124712"/>
            <a:ext cx="264033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8796" y="1216152"/>
            <a:ext cx="227457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D2454F"/>
                </a:solidFill>
                <a:latin typeface="Arial"/>
              </a:rPr>
              <a:t>1 310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ед. просрочено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месяц поставки прошёл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9126" y="1124712"/>
            <a:ext cx="2640330" cy="1097280"/>
          </a:xfrm>
          <a:prstGeom prst="roundRect">
            <a:avLst>
              <a:gd name="adj" fmla="val 13333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92006" y="1216152"/>
            <a:ext cx="227457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400" b="1" i="0">
                <a:solidFill>
                  <a:srgbClr val="3EF0AF"/>
                </a:solidFill>
                <a:latin typeface="Arial"/>
              </a:rPr>
              <a:t>276 дн.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медианный срок поставки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по 460 кодам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" y="2404872"/>
            <a:ext cx="7680960" cy="3474720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496312"/>
            <a:ext cx="72237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Открытое количество по месяцу поставки, ед.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30936" y="2816352"/>
          <a:ext cx="749808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494776" y="2404872"/>
            <a:ext cx="3154680" cy="3474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23376" y="2496312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Фактический срок поставки, кодов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8586216" y="2816352"/>
          <a:ext cx="2971800" cy="30175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МТР подрядчика (УСО)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6949440" cy="4754880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1216151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УСО по годам, млн ₽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" y="1536192"/>
          <a:ext cx="6766559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63256" y="1124712"/>
          <a:ext cx="3886200" cy="16824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3584"/>
                <a:gridCol w="699516"/>
                <a:gridCol w="699516"/>
                <a:gridCol w="699516"/>
                <a:gridCol w="544068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Площадка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 / Еруда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5 / 43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5 / 95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125 / 86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11 / 31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20 / 136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107 / 88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528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Сухой Лог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0 / 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17 / 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2 / 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A3138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63256" y="2862072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план / факт, млн 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63256" y="3273552"/>
            <a:ext cx="3886200" cy="2606040"/>
          </a:xfrm>
          <a:prstGeom prst="roundRect">
            <a:avLst>
              <a:gd name="adj" fmla="val 4912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6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План МТР подрядчика заполнен не полностью</a:t>
            </a:r>
          </a:p>
          <a:p>
            <a:pPr algn="l">
              <a:spcAft>
                <a:spcPts val="600"/>
              </a:spcAft>
              <a:buNone/>
            </a:pPr>
            <a:r>
              <a:rPr sz="1100" b="0" i="0">
                <a:solidFill>
                  <a:srgbClr val="2A3138"/>
                </a:solidFill>
                <a:latin typeface="Arial"/>
              </a:rPr>
              <a:t>В 2024–2025 факт УСО в 5 и 6 раз выше плана строк МТР подрядчика. Процент исполнения по УСО не показателен — смотрите факт и открытый остаток.</a:t>
            </a:r>
          </a:p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2A3138"/>
                </a:solidFill>
                <a:latin typeface="Arial"/>
              </a:rPr>
              <a:t>2027: 528 млн ₽ из 602 — Магадан.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Автовыводы и контроль отделов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Схема автоматических выводов, выводы по площадкам, контроль планирования, исполнения и бюджетирования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Схема автоматических выводов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097280"/>
            <a:ext cx="2571750" cy="420624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28016" bIns="73152"/>
          <a:lstStyle/>
          <a:p>
            <a:pPr algn="ctr">
              <a:spcAft>
                <a:spcPts val="4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Заказы PM-06: план, факт, сроки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5565" y="1097280"/>
            <a:ext cx="2571750" cy="420624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28016" bIns="73152"/>
          <a:lstStyle/>
          <a:p>
            <a:pPr algn="ctr">
              <a:spcAft>
                <a:spcPts val="4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Статусы SAP заказа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1636" y="1097280"/>
            <a:ext cx="2571750" cy="420624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28016" bIns="73152"/>
          <a:lstStyle/>
          <a:p>
            <a:pPr algn="ctr">
              <a:spcAft>
                <a:spcPts val="4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Потребность, остатки, закупка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77705" y="1097280"/>
            <a:ext cx="2571750" cy="420624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28016" bIns="73152"/>
          <a:lstStyle/>
          <a:p>
            <a:pPr algn="ctr">
              <a:spcAft>
                <a:spcPts val="4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КТГ по бортам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536192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▼   источники → 5 групп проверок → 24 правила → вывод с цифрами-доказательствами   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" y="1865376"/>
            <a:ext cx="2075688" cy="3675887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9496" y="1865376"/>
            <a:ext cx="2075688" cy="457200"/>
          </a:xfrm>
          <a:prstGeom prst="roundRect">
            <a:avLst>
              <a:gd name="adj" fmla="val 32000"/>
            </a:avLst>
          </a:prstGeom>
          <a:solidFill>
            <a:srgbClr val="D2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28016" bIns="73152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Исполнение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2432304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" y="25603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2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432304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Исполнение закрытых лет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" y="2871216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F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2376" y="29992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2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871216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Темп текущего года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" y="3310128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F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2376" y="343814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2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310128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Деблокировано без факта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" y="3749039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FC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2376" y="3877055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749039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Просрочено закрытие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" y="4187952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FC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2376" y="43159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187952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Хвосты прошлых лет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" y="4626864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E3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2376" y="47548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5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4626864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Готовы к ТЗКР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98064" y="1865376"/>
            <a:ext cx="2075688" cy="3675887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98064" y="1865376"/>
            <a:ext cx="2075688" cy="457200"/>
          </a:xfrm>
          <a:prstGeom prst="roundRect">
            <a:avLst>
              <a:gd name="adj" fmla="val 32000"/>
            </a:avLst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28016" bIns="73152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Планирование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9504" y="2432304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FC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80944" y="25603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63824" y="2432304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Согласование текущего года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89504" y="2871216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980944" y="29992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2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63824" y="2871216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Готовность плана следующего года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89504" y="3310128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E3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980944" y="343814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5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63824" y="3310128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Позиции ППР без заказа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89504" y="3749039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FC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980944" y="3877055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63824" y="3749039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Начало прошло, не деблокирован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89504" y="4187952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980944" y="43159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2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63824" y="4187952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Точность планирования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89504" y="4626864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980944" y="47548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2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63824" y="4626864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Внеплановые работы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89504" y="5065776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FC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980944" y="51937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63824" y="5065776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МТР без цены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56632" y="1865376"/>
            <a:ext cx="2075688" cy="3675887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56632" y="1865376"/>
            <a:ext cx="2075688" cy="457200"/>
          </a:xfrm>
          <a:prstGeom prst="roundRect">
            <a:avLst>
              <a:gd name="adj" fmla="val 32000"/>
            </a:avLst>
          </a:prstGeom>
          <a:solidFill>
            <a:srgbClr val="D2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28016" bIns="73152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Обеспеченность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48072" y="2432304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F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239512" y="25603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2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22392" y="2432304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Обеспеченность следующего года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148072" y="2871216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F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239512" y="29992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2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22392" y="2871216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Закупка не видит потребность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148072" y="3310128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E3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239512" y="343814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5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22392" y="3310128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Успеем, если заказать сейчас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148072" y="3749039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F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239512" y="3877055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2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22392" y="3749039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Заказом уже не успеть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148072" y="4187952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E3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239512" y="43159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5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22392" y="4187952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Возможность перемещения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0" y="1865376"/>
            <a:ext cx="2075688" cy="3675887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315200" y="1865376"/>
            <a:ext cx="2075688" cy="457200"/>
          </a:xfrm>
          <a:prstGeom prst="roundRect">
            <a:avLst>
              <a:gd name="adj" fmla="val 32000"/>
            </a:avLst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28016" bIns="73152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Бюджет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06640" y="2432304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FC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498079" y="25603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80960" y="2432304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Перерасход по заказам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406640" y="2871216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FC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498079" y="29992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80960" y="2871216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Корректировки бюджета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406640" y="3310128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E3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498079" y="343814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5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680960" y="3310128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Бюджет следующего года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406640" y="3749039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FC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498079" y="3877055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80960" y="3749039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Риск неосвоения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573768" y="1865376"/>
            <a:ext cx="2075688" cy="3675887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573768" y="1865376"/>
            <a:ext cx="2075688" cy="457200"/>
          </a:xfrm>
          <a:prstGeom prst="roundRect">
            <a:avLst>
              <a:gd name="adj" fmla="val 32000"/>
            </a:avLst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28016" bIns="73152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Техника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665208" y="2432304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FC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9756648" y="25603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939528" y="2432304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КТГ ниже плана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665208" y="2871216"/>
            <a:ext cx="1892807" cy="384048"/>
          </a:xfrm>
          <a:prstGeom prst="roundRect">
            <a:avLst>
              <a:gd name="adj" fmla="val 23809"/>
            </a:avLst>
          </a:prstGeom>
          <a:solidFill>
            <a:srgbClr val="D5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9756648" y="29992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2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39528" y="2871216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50" b="0" i="0">
                <a:solidFill>
                  <a:srgbClr val="2A3138"/>
                </a:solidFill>
                <a:latin typeface="Arial"/>
              </a:rPr>
              <a:t>Концентрация затрат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39496" y="55778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2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95528" y="54864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B6167"/>
                </a:solidFill>
                <a:latin typeface="Arial"/>
              </a:rPr>
              <a:t>Критично — 5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139696" y="55778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395728" y="54864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B6167"/>
                </a:solidFill>
                <a:latin typeface="Arial"/>
              </a:rPr>
              <a:t>Внимание — 9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739896" y="55778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55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995928" y="54864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B6167"/>
                </a:solidFill>
                <a:latin typeface="Arial"/>
              </a:rPr>
              <a:t>К сведению — 5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340096" y="55778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12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96128" y="54864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B6167"/>
                </a:solidFill>
                <a:latin typeface="Arial"/>
              </a:rPr>
              <a:t>Норма — 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123176" y="5468112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400"/>
              </a:spcAft>
              <a:buNone/>
            </a:pPr>
            <a:r>
              <a:rPr sz="1200" b="1" i="0">
                <a:solidFill>
                  <a:srgbClr val="0E7A54"/>
                </a:solidFill>
                <a:latin typeface="Arial"/>
              </a:rPr>
              <a:t>Сверка расчётов: 24 из 24 сходятся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Автовыводы: что требует решения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3520440" cy="2240280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22376" y="128930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B3303A"/>
                </a:solidFill>
                <a:latin typeface="Arial"/>
              </a:rPr>
              <a:t>Критично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65376" y="1271016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Исполнение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62763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Темп текущего года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993391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050" b="0" i="0">
                <a:solidFill>
                  <a:srgbClr val="5B6167"/>
                </a:solidFill>
                <a:latin typeface="Arial"/>
              </a:rPr>
              <a:t>2026: освоено 54% плана при 70% прошедшего года; по заказам с началом до 09.2026 — 70%.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843784"/>
            <a:ext cx="9905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3 962 млн ₽</a:t>
            </a:r>
          </a:p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план года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4416" y="2843784"/>
            <a:ext cx="9905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2 134 млн ₽</a:t>
            </a:r>
          </a:p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факт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6456" y="2843784"/>
            <a:ext cx="9905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70%</a:t>
            </a:r>
          </a:p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доля года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124712"/>
            <a:ext cx="3520440" cy="2240280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17136" y="128930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B3303A"/>
                </a:solidFill>
                <a:latin typeface="Arial"/>
              </a:rPr>
              <a:t>Критично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0136" y="1271016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Исполнение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162763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Деблокировано без факта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1993391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050" b="0" i="0">
                <a:solidFill>
                  <a:srgbClr val="5B6167"/>
                </a:solidFill>
                <a:latin typeface="Arial"/>
              </a:rPr>
              <a:t>111 заказов 2026 на 601 млн ₽ деблокированы, но без факта и подтверждений (15% плана).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843784"/>
            <a:ext cx="15316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601 млн ₽</a:t>
            </a:r>
          </a:p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план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0196" y="2843784"/>
            <a:ext cx="15316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15%</a:t>
            </a:r>
          </a:p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доля плана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1124712"/>
            <a:ext cx="3520440" cy="2240280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11896" y="128930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B3303A"/>
                </a:solidFill>
                <a:latin typeface="Arial"/>
              </a:rPr>
              <a:t>Критично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1271016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Обеспеченность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162763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Обеспеченность следующего года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1993391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050" b="0" i="0">
                <a:solidFill>
                  <a:srgbClr val="5B6167"/>
                </a:solidFill>
                <a:latin typeface="Arial"/>
              </a:rPr>
              <a:t>2027: обеспечено к сроку 53% потребности (1 018 млн ₽ из 1 931 млн ₽), не покрыто 913 млн ₽.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2843784"/>
            <a:ext cx="9905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1 931 млн ₽</a:t>
            </a:r>
          </a:p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потребность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3936" y="2843784"/>
            <a:ext cx="9905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1 018 млн ₽</a:t>
            </a:r>
          </a:p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обеспечено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5976" y="2843784"/>
            <a:ext cx="9905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913 млн ₽</a:t>
            </a:r>
          </a:p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не покрыто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" y="3547872"/>
            <a:ext cx="3520440" cy="2240280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2376" y="3712463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B3303A"/>
                </a:solidFill>
                <a:latin typeface="Arial"/>
              </a:rPr>
              <a:t>Критично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65376" y="3694176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Обеспеченность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050791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Закупка не видит потребность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4416552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050" b="0" i="0">
                <a:solidFill>
                  <a:srgbClr val="5B6167"/>
                </a:solidFill>
                <a:latin typeface="Arial"/>
              </a:rPr>
              <a:t>2027: 1 184 млн ₽ потребности «Начиная с деблок.» закупка не видит до деблокирования; из них не покрыто 561 млн ₽.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5266944"/>
            <a:ext cx="15316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1 184 млн ₽</a:t>
            </a:r>
          </a:p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потребность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45436" y="5266944"/>
            <a:ext cx="15316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561 млн ₽</a:t>
            </a:r>
          </a:p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не покрыто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34256" y="3547872"/>
            <a:ext cx="3520440" cy="2240280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17136" y="3712463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B3303A"/>
                </a:solidFill>
                <a:latin typeface="Arial"/>
              </a:rPr>
              <a:t>Критично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0136" y="3694176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Обеспеченность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7136" y="4050791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Заказом уже не успеть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17136" y="4416552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050" b="0" i="0">
                <a:solidFill>
                  <a:srgbClr val="5B6167"/>
                </a:solidFill>
                <a:latin typeface="Arial"/>
              </a:rPr>
              <a:t>472 млн ₽ дефицита заказом уже не закрыть: опоздание до 3 мес. 113 млн ₽, больше 3 мес. 310 млн ₽, срок прошёл 48 млн ₽ — аналоги, перенос или ремонт узла.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17136" y="5266944"/>
            <a:ext cx="9905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113 млн ₽</a:t>
            </a:r>
          </a:p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до 3 мес.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99176" y="5266944"/>
            <a:ext cx="9905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310 млн ₽</a:t>
            </a:r>
          </a:p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&gt; 3 мес.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81216" y="5266944"/>
            <a:ext cx="9905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48 млн ₽</a:t>
            </a:r>
          </a:p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срок прошёл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29016" y="3547872"/>
            <a:ext cx="3520440" cy="2240280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311896" y="3712463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C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8A5A00"/>
                </a:solidFill>
                <a:latin typeface="Arial"/>
              </a:rPr>
              <a:t>Внимание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54896" y="3694176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Бюджет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1896" y="4050791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Риск неосвоения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1896" y="4416552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050" b="0" i="0">
                <a:solidFill>
                  <a:srgbClr val="5B6167"/>
                </a:solidFill>
                <a:latin typeface="Arial"/>
              </a:rPr>
              <a:t>2026: 532 млн ₽ плана (13%, 131 заказ) — базисное начало наступило, а факта нет. Ещё 1 183 млн ₽ без факта приходится на заказы с началом до конца года.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11896" y="5266944"/>
            <a:ext cx="9905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532 млн ₽</a:t>
            </a:r>
          </a:p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наступило, без факта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93936" y="5266944"/>
            <a:ext cx="9905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13%</a:t>
            </a:r>
          </a:p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доля плана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75976" y="5266944"/>
            <a:ext cx="9905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1300" b="1" i="0">
                <a:solidFill>
                  <a:srgbClr val="2A3138"/>
                </a:solidFill>
                <a:latin typeface="Arial"/>
              </a:rPr>
              <a:t>1 183 млн ₽</a:t>
            </a:r>
          </a:p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167"/>
                </a:solidFill>
                <a:latin typeface="Arial"/>
              </a:rPr>
              <a:t>впереди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Один набор правил — разные ответы по площадкам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9496" y="1097280"/>
          <a:ext cx="11109956" cy="47731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975"/>
                <a:gridCol w="3773193"/>
                <a:gridCol w="1414947"/>
                <a:gridCol w="1414947"/>
                <a:gridCol w="1414947"/>
                <a:gridCol w="141494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Группа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Правило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Весь парк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Сухой Лог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Исполнение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Исполнение закрытых лет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Исполнение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Темп текущего года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3303A"/>
                          </a:solidFill>
                          <a:latin typeface="Arial"/>
                        </a:rPr>
                        <a:t>Критично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3303A"/>
                          </a:solidFill>
                          <a:latin typeface="Arial"/>
                        </a:rPr>
                        <a:t>Критично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Исполнение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Деблокировано без факта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3303A"/>
                          </a:solidFill>
                          <a:latin typeface="Arial"/>
                        </a:rPr>
                        <a:t>Критично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3303A"/>
                          </a:solidFill>
                          <a:latin typeface="Arial"/>
                        </a:rPr>
                        <a:t>Критично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3303A"/>
                          </a:solidFill>
                          <a:latin typeface="Arial"/>
                        </a:rPr>
                        <a:t>Критично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Исполнение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Просрочено закрытие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Исполнение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Хвосты прошлых лет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Исполнение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Готовы к ТЗКР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F4FB0"/>
                          </a:solidFill>
                          <a:latin typeface="Arial"/>
                        </a:rPr>
                        <a:t>К сведению</a:t>
                      </a:r>
                    </a:p>
                  </a:txBody>
                  <a:tcPr marL="54864" marR="54864" marT="9144" marB="9144" anchor="ctr">
                    <a:solidFill>
                      <a:srgbClr val="E3E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F4FB0"/>
                          </a:solidFill>
                          <a:latin typeface="Arial"/>
                        </a:rPr>
                        <a:t>К сведению</a:t>
                      </a:r>
                    </a:p>
                  </a:txBody>
                  <a:tcPr marL="54864" marR="54864" marT="9144" marB="9144" anchor="ctr">
                    <a:solidFill>
                      <a:srgbClr val="E3E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Планирование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Согласование текущего года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Планирование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Готовность плана следующего года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Планирование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Позиции ППР без заказа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F4FB0"/>
                          </a:solidFill>
                          <a:latin typeface="Arial"/>
                        </a:rPr>
                        <a:t>К сведению</a:t>
                      </a:r>
                    </a:p>
                  </a:txBody>
                  <a:tcPr marL="54864" marR="54864" marT="9144" marB="9144" anchor="ctr">
                    <a:solidFill>
                      <a:srgbClr val="E3E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F4FB0"/>
                          </a:solidFill>
                          <a:latin typeface="Arial"/>
                        </a:rPr>
                        <a:t>К сведению</a:t>
                      </a:r>
                    </a:p>
                  </a:txBody>
                  <a:tcPr marL="54864" marR="54864" marT="9144" marB="9144" anchor="ctr">
                    <a:solidFill>
                      <a:srgbClr val="E3E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F4FB0"/>
                          </a:solidFill>
                          <a:latin typeface="Arial"/>
                        </a:rPr>
                        <a:t>К сведению</a:t>
                      </a:r>
                    </a:p>
                  </a:txBody>
                  <a:tcPr marL="54864" marR="54864" marT="9144" marB="9144" anchor="ctr">
                    <a:solidFill>
                      <a:srgbClr val="E3E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F4FB0"/>
                          </a:solidFill>
                          <a:latin typeface="Arial"/>
                        </a:rPr>
                        <a:t>К сведению</a:t>
                      </a:r>
                    </a:p>
                  </a:txBody>
                  <a:tcPr marL="54864" marR="54864" marT="9144" marB="9144" anchor="ctr">
                    <a:solidFill>
                      <a:srgbClr val="E3E7F8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Планирование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Начало прошло, не деблокирован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Планирование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Точность планирования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Планирование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Внеплановые работы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Планирование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МТР без цены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Обеспеченность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Обеспеченность следующего года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3303A"/>
                          </a:solidFill>
                          <a:latin typeface="Arial"/>
                        </a:rPr>
                        <a:t>Критично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3303A"/>
                          </a:solidFill>
                          <a:latin typeface="Arial"/>
                        </a:rPr>
                        <a:t>Критично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3303A"/>
                          </a:solidFill>
                          <a:latin typeface="Arial"/>
                        </a:rPr>
                        <a:t>Критично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3303A"/>
                          </a:solidFill>
                          <a:latin typeface="Arial"/>
                        </a:rPr>
                        <a:t>Критично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Обеспеченность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Закупка не видит потребность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3303A"/>
                          </a:solidFill>
                          <a:latin typeface="Arial"/>
                        </a:rPr>
                        <a:t>Критично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3303A"/>
                          </a:solidFill>
                          <a:latin typeface="Arial"/>
                        </a:rPr>
                        <a:t>Критично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3303A"/>
                          </a:solidFill>
                          <a:latin typeface="Arial"/>
                        </a:rPr>
                        <a:t>Критично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3303A"/>
                          </a:solidFill>
                          <a:latin typeface="Arial"/>
                        </a:rPr>
                        <a:t>Критично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Обеспеченность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Успеем, если заказать сейчас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F4FB0"/>
                          </a:solidFill>
                          <a:latin typeface="Arial"/>
                        </a:rPr>
                        <a:t>К сведению</a:t>
                      </a:r>
                    </a:p>
                  </a:txBody>
                  <a:tcPr marL="54864" marR="54864" marT="9144" marB="9144" anchor="ctr">
                    <a:solidFill>
                      <a:srgbClr val="E3E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F4FB0"/>
                          </a:solidFill>
                          <a:latin typeface="Arial"/>
                        </a:rPr>
                        <a:t>К сведению</a:t>
                      </a:r>
                    </a:p>
                  </a:txBody>
                  <a:tcPr marL="54864" marR="54864" marT="9144" marB="9144" anchor="ctr">
                    <a:solidFill>
                      <a:srgbClr val="E3E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F4FB0"/>
                          </a:solidFill>
                          <a:latin typeface="Arial"/>
                        </a:rPr>
                        <a:t>К сведению</a:t>
                      </a:r>
                    </a:p>
                  </a:txBody>
                  <a:tcPr marL="54864" marR="54864" marT="9144" marB="9144" anchor="ctr">
                    <a:solidFill>
                      <a:srgbClr val="E3E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F4FB0"/>
                          </a:solidFill>
                          <a:latin typeface="Arial"/>
                        </a:rPr>
                        <a:t>К сведению</a:t>
                      </a:r>
                    </a:p>
                  </a:txBody>
                  <a:tcPr marL="54864" marR="54864" marT="9144" marB="9144" anchor="ctr">
                    <a:solidFill>
                      <a:srgbClr val="E3E7F8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Обеспеченность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Заказом уже не успеть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3303A"/>
                          </a:solidFill>
                          <a:latin typeface="Arial"/>
                        </a:rPr>
                        <a:t>Критично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3303A"/>
                          </a:solidFill>
                          <a:latin typeface="Arial"/>
                        </a:rPr>
                        <a:t>Критично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3303A"/>
                          </a:solidFill>
                          <a:latin typeface="Arial"/>
                        </a:rPr>
                        <a:t>Критично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3303A"/>
                          </a:solidFill>
                          <a:latin typeface="Arial"/>
                        </a:rPr>
                        <a:t>Критично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Обеспеченность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Возможность перемещения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F4FB0"/>
                          </a:solidFill>
                          <a:latin typeface="Arial"/>
                        </a:rPr>
                        <a:t>К сведению</a:t>
                      </a:r>
                    </a:p>
                  </a:txBody>
                  <a:tcPr marL="54864" marR="54864" marT="9144" marB="9144" anchor="ctr">
                    <a:solidFill>
                      <a:srgbClr val="E3E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F4FB0"/>
                          </a:solidFill>
                          <a:latin typeface="Arial"/>
                        </a:rPr>
                        <a:t>К сведению</a:t>
                      </a:r>
                    </a:p>
                  </a:txBody>
                  <a:tcPr marL="54864" marR="54864" marT="9144" marB="9144" anchor="ctr">
                    <a:solidFill>
                      <a:srgbClr val="E3E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F4FB0"/>
                          </a:solidFill>
                          <a:latin typeface="Arial"/>
                        </a:rPr>
                        <a:t>К сведению</a:t>
                      </a:r>
                    </a:p>
                  </a:txBody>
                  <a:tcPr marL="54864" marR="54864" marT="9144" marB="9144" anchor="ctr">
                    <a:solidFill>
                      <a:srgbClr val="E3E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F4FB0"/>
                          </a:solidFill>
                          <a:latin typeface="Arial"/>
                        </a:rPr>
                        <a:t>К сведению</a:t>
                      </a:r>
                    </a:p>
                  </a:txBody>
                  <a:tcPr marL="54864" marR="54864" marT="9144" marB="9144" anchor="ctr">
                    <a:solidFill>
                      <a:srgbClr val="E3E7F8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Перерасход по заказам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Корректировки бюджета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Бюджет следующего года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F4FB0"/>
                          </a:solidFill>
                          <a:latin typeface="Arial"/>
                        </a:rPr>
                        <a:t>К сведению</a:t>
                      </a:r>
                    </a:p>
                  </a:txBody>
                  <a:tcPr marL="54864" marR="54864" marT="9144" marB="9144" anchor="ctr">
                    <a:solidFill>
                      <a:srgbClr val="E3E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F4FB0"/>
                          </a:solidFill>
                          <a:latin typeface="Arial"/>
                        </a:rPr>
                        <a:t>К сведению</a:t>
                      </a:r>
                    </a:p>
                  </a:txBody>
                  <a:tcPr marL="54864" marR="54864" marT="9144" marB="9144" anchor="ctr">
                    <a:solidFill>
                      <a:srgbClr val="E3E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F4FB0"/>
                          </a:solidFill>
                          <a:latin typeface="Arial"/>
                        </a:rPr>
                        <a:t>К сведению</a:t>
                      </a:r>
                    </a:p>
                  </a:txBody>
                  <a:tcPr marL="54864" marR="54864" marT="9144" marB="9144" anchor="ctr">
                    <a:solidFill>
                      <a:srgbClr val="E3E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3F4FB0"/>
                          </a:solidFill>
                          <a:latin typeface="Arial"/>
                        </a:rPr>
                        <a:t>К сведению</a:t>
                      </a:r>
                    </a:p>
                  </a:txBody>
                  <a:tcPr marL="54864" marR="54864" marT="9144" marB="9144" anchor="ctr">
                    <a:solidFill>
                      <a:srgbClr val="E3E7F8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Риск неосвоения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3303A"/>
                          </a:solidFill>
                          <a:latin typeface="Arial"/>
                        </a:rPr>
                        <a:t>Критично</a:t>
                      </a:r>
                    </a:p>
                  </a:txBody>
                  <a:tcPr marL="54864" marR="54864" marT="9144" marB="9144" anchor="ctr">
                    <a:solidFill>
                      <a:srgbClr val="F8D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Техника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КТГ ниже плана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Техника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A3138"/>
                          </a:solidFill>
                          <a:latin typeface="Arial"/>
                        </a:rPr>
                        <a:t>Концентрация затрат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E7A54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L="54864" marR="54864" marT="9144" marB="9144" anchor="ctr">
                    <a:solidFill>
                      <a:srgbClr val="D5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8A5A00"/>
                          </a:solidFill>
                          <a:latin typeface="Arial"/>
                        </a:rPr>
                        <a:t>Внимание</a:t>
                      </a:r>
                    </a:p>
                  </a:txBody>
                  <a:tcPr marL="54864" marR="54864" marT="9144" marB="9144" anchor="ctr">
                    <a:solidFill>
                      <a:srgbClr val="FCEF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Контроль планирования: план 2027 и оперативный план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1699260" cy="1143000"/>
          </a:xfrm>
          <a:prstGeom prst="roundRect">
            <a:avLst>
              <a:gd name="adj" fmla="val 128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216152"/>
            <a:ext cx="13335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3EF0AF"/>
                </a:solidFill>
                <a:latin typeface="Arial"/>
              </a:rPr>
              <a:t>82%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плана 2027 согласовано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2 277 из 2 783 млн 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1636" y="1124712"/>
            <a:ext cx="16992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04516" y="1216152"/>
            <a:ext cx="13335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2A3138"/>
                </a:solidFill>
                <a:latin typeface="Arial"/>
              </a:rPr>
              <a:t>0%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утверждено в годовом (УТВГ)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плановые заказы APP1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3776" y="1124712"/>
            <a:ext cx="16992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6656" y="1216152"/>
            <a:ext cx="13335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2A3138"/>
                </a:solidFill>
                <a:latin typeface="Arial"/>
              </a:rPr>
              <a:t>770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позиций ППР без заказа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1 175 млн ₽ вне плана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124712"/>
            <a:ext cx="16992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8796" y="1216152"/>
            <a:ext cx="13335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2A3138"/>
                </a:solidFill>
                <a:latin typeface="Arial"/>
              </a:rPr>
              <a:t>65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начало прошло, не деблок.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60 млн ₽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8056" y="1124712"/>
            <a:ext cx="16992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0936" y="1216152"/>
            <a:ext cx="13335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2A3138"/>
                </a:solidFill>
                <a:latin typeface="Arial"/>
              </a:rPr>
              <a:t>53%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точность плана 2025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факт в ±20% плана заказа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50196" y="1124712"/>
            <a:ext cx="16992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33076" y="1216152"/>
            <a:ext cx="13335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2A3138"/>
                </a:solidFill>
                <a:latin typeface="Arial"/>
              </a:rPr>
              <a:t>14%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внеплановые 2025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доля факта AVS1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" y="2404872"/>
            <a:ext cx="54178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2A3138"/>
                </a:solidFill>
                <a:latin typeface="Arial"/>
              </a:rPr>
              <a:t>Цепочка согласования 2027, млн ₽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39496" y="2679191"/>
          <a:ext cx="54178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31636" y="2404872"/>
            <a:ext cx="54178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2A3138"/>
                </a:solidFill>
                <a:latin typeface="Arial"/>
              </a:rPr>
              <a:t>Статусы плана: доля плана со статусом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31636" y="2679191"/>
          <a:ext cx="5417820" cy="3200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Контроль исполнения 2026: воронка и освоение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1699260" cy="1143000"/>
          </a:xfrm>
          <a:prstGeom prst="roundRect">
            <a:avLst>
              <a:gd name="adj" fmla="val 128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216152"/>
            <a:ext cx="13335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D2454F"/>
                </a:solidFill>
                <a:latin typeface="Arial"/>
              </a:rPr>
              <a:t>54%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исполнение 2026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при 70% прошедшего года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1636" y="1124712"/>
            <a:ext cx="16992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04516" y="1216152"/>
            <a:ext cx="13335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2A3138"/>
                </a:solidFill>
                <a:latin typeface="Arial"/>
              </a:rPr>
              <a:t>70%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освоение наступивших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2 134 из 3 067 млн 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3776" y="1124712"/>
            <a:ext cx="16992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6656" y="1216152"/>
            <a:ext cx="13335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2A3138"/>
                </a:solidFill>
                <a:latin typeface="Arial"/>
              </a:rPr>
              <a:t>111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деблокированы пусто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601 млн 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124712"/>
            <a:ext cx="16992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8796" y="1216152"/>
            <a:ext cx="13335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2A3138"/>
                </a:solidFill>
                <a:latin typeface="Arial"/>
              </a:rPr>
              <a:t>80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просрочено закрытие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488 млн ₽, &gt; 30 дн.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8056" y="1124712"/>
            <a:ext cx="16992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0936" y="1216152"/>
            <a:ext cx="13335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2A3138"/>
                </a:solidFill>
                <a:latin typeface="Arial"/>
              </a:rPr>
              <a:t>99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ФХСМ, ждут ТЗКР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затрат больше не ждём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50196" y="1124712"/>
            <a:ext cx="16992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33076" y="1216152"/>
            <a:ext cx="13335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2A3138"/>
                </a:solidFill>
                <a:latin typeface="Arial"/>
              </a:rPr>
              <a:t>24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хвосты 2024–2025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1 090 млн ₽ не закрыто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" y="2404872"/>
            <a:ext cx="54178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2A3138"/>
                </a:solidFill>
                <a:latin typeface="Arial"/>
              </a:rPr>
              <a:t>Воронка 2026: план по стадиям, млн ₽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39496" y="2679191"/>
          <a:ext cx="54178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31636" y="2404872"/>
            <a:ext cx="54178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2A3138"/>
                </a:solidFill>
                <a:latin typeface="Arial"/>
              </a:rPr>
              <a:t>План и факт 2026 нарастающим, млн ₽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31636" y="2679191"/>
          <a:ext cx="5417820" cy="3200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Деблокированы без факта: крупнейшие заказы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9496" y="1124712"/>
          <a:ext cx="11109957" cy="34381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2129"/>
                <a:gridCol w="4090696"/>
                <a:gridCol w="1255100"/>
                <a:gridCol w="1255100"/>
                <a:gridCol w="1069159"/>
                <a:gridCol w="1069159"/>
                <a:gridCol w="120861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Заказ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Текст заказа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Борт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Площадка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Начало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Конец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План, млн ₽</a:t>
                      </a:r>
                    </a:p>
                  </a:txBody>
                  <a:tcPr marL="54864" marR="54864" marT="9144" marB="9144" anchor="ctr">
                    <a:solidFill>
                      <a:srgbClr val="2A313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1102298470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Ходовая часть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WK-20 №1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06.07.2026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12.08.2026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3138"/>
                          </a:solidFill>
                          <a:latin typeface="Arial"/>
                        </a:rPr>
                        <a:t>210,4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1102358430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Опорно-поворотное устройство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WK-20 №1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06.07.2026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12.08.2026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3138"/>
                          </a:solidFill>
                          <a:latin typeface="Arial"/>
                        </a:rPr>
                        <a:t>80,1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4000051425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Замена ковша WK-35 №12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WK-35 №12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01.11.2026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30.11.2026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3138"/>
                          </a:solidFill>
                          <a:latin typeface="Arial"/>
                        </a:rPr>
                        <a:t>78,9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4000056379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Замена рукояти WK-20 №3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WK-20 №03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01.01.2026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30.10.2026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3138"/>
                          </a:solidFill>
                          <a:latin typeface="Arial"/>
                        </a:rPr>
                        <a:t>43,1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4000065243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Замена Редук.хода-35№4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WK-35 №04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Красноярск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01.09.2026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30.09.2026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3138"/>
                          </a:solidFill>
                          <a:latin typeface="Arial"/>
                        </a:rPr>
                        <a:t>26,6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1200436385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КР подъема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WK-20 №1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06.07.2026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12.08.2026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3138"/>
                          </a:solidFill>
                          <a:latin typeface="Arial"/>
                        </a:rPr>
                        <a:t>22,5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1200360596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Ремонт головных блоков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WK-20 №1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01.08.2026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02.08.2026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3138"/>
                          </a:solidFill>
                          <a:latin typeface="Arial"/>
                        </a:rPr>
                        <a:t>14,7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1101938098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Капитальный ремонт ковша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WK-20C №6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Магадан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11.12.2026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A3138"/>
                          </a:solidFill>
                          <a:latin typeface="Arial"/>
                        </a:rPr>
                        <a:t>12.12.2026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3138"/>
                          </a:solidFill>
                          <a:latin typeface="Arial"/>
                        </a:rPr>
                        <a:t>12,5</a:t>
                      </a:r>
                    </a:p>
                  </a:txBody>
                  <a:tcPr marL="54864" marR="54864" marT="9144" marB="9144" anchor="ctr"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39496" y="4837176"/>
            <a:ext cx="11109960" cy="685800"/>
          </a:xfrm>
          <a:prstGeom prst="roundRect">
            <a:avLst>
              <a:gd name="adj" fmla="val 18666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2A3138"/>
                </a:solidFill>
                <a:latin typeface="Arial"/>
              </a:rPr>
              <a:t>Что сделать: </a:t>
            </a:r>
            <a:r>
              <a:rPr sz="1200" b="0" i="0">
                <a:solidFill>
                  <a:srgbClr val="2A3138"/>
                </a:solidFill>
                <a:latin typeface="Arial"/>
              </a:rPr>
              <a:t>восемь крупнейших заказов — 489 млн ₽, 81% суммы. Провести факт, перенести сроки или закрыть; в отчёте — «Контроль отделов» → «Исполнение», фильтр «Факт по заказу: нет факта».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Контроль бюджетирования: план, факт, статусы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16992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216152"/>
            <a:ext cx="13335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2A3138"/>
                </a:solidFill>
                <a:latin typeface="Arial"/>
              </a:rPr>
              <a:t>94%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факт / план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1636" y="1124712"/>
            <a:ext cx="16992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04516" y="1216152"/>
            <a:ext cx="13335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2A3138"/>
                </a:solidFill>
                <a:latin typeface="Arial"/>
              </a:rPr>
              <a:t>104%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факт / план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3776" y="1124712"/>
            <a:ext cx="1699260" cy="1143000"/>
          </a:xfrm>
          <a:prstGeom prst="roundRect">
            <a:avLst>
              <a:gd name="adj" fmla="val 128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6656" y="1216152"/>
            <a:ext cx="13335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E0A030"/>
                </a:solidFill>
                <a:latin typeface="Arial"/>
              </a:rPr>
              <a:t>532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млн ₽ риск неосвоения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13% плана 2026, 131 заказ.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124712"/>
            <a:ext cx="16992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8796" y="1216152"/>
            <a:ext cx="13335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2A3138"/>
                </a:solidFill>
                <a:latin typeface="Arial"/>
              </a:rPr>
              <a:t>92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млн ₽ перерасход 2026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210 заказов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8056" y="1124712"/>
            <a:ext cx="16992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0936" y="1216152"/>
            <a:ext cx="13335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2A3138"/>
                </a:solidFill>
                <a:latin typeface="Arial"/>
              </a:rPr>
              <a:t>23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ТРКБ: нужна корректировка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заказы 2026–2027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50196" y="1124712"/>
            <a:ext cx="16992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33076" y="1216152"/>
            <a:ext cx="13335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2A3138"/>
                </a:solidFill>
                <a:latin typeface="Arial"/>
              </a:rPr>
              <a:t>78%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УСО факт / план 2026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МТР подрядчика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" y="2404872"/>
            <a:ext cx="54178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2A3138"/>
                </a:solidFill>
                <a:latin typeface="Arial"/>
              </a:rPr>
              <a:t>План и факт МТР и УСО по годам, млн ₽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39496" y="2679191"/>
          <a:ext cx="54178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31636" y="2404872"/>
            <a:ext cx="54178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2A3138"/>
                </a:solidFill>
                <a:latin typeface="Arial"/>
              </a:rPr>
              <a:t>Бюджетные статусы плановых заказов: доля плана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31636" y="2679191"/>
          <a:ext cx="5417820" cy="3200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Справочники и качество данных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Каталог, кодификация, взаимозаменяемость и ограничения расчёта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Каталог, кодификация и взаимозаменяемость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1699260" cy="1234440"/>
          </a:xfrm>
          <a:prstGeom prst="roundRect">
            <a:avLst>
              <a:gd name="adj" fmla="val 118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216152"/>
            <a:ext cx="133350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2A3138"/>
                </a:solidFill>
                <a:latin typeface="Arial"/>
              </a:rPr>
              <a:t>3 042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позиций прайса ДП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УСО — 3 038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1636" y="1124712"/>
            <a:ext cx="1699260" cy="1234440"/>
          </a:xfrm>
          <a:prstGeom prst="roundRect">
            <a:avLst>
              <a:gd name="adj" fmla="val 118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04516" y="1216152"/>
            <a:ext cx="133350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E0A030"/>
                </a:solidFill>
                <a:latin typeface="Arial"/>
              </a:rPr>
              <a:t>42%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кодифицировано ЕКМТР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1 279 позиций; 103 неоднозначно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3776" y="1124712"/>
            <a:ext cx="1699260" cy="1234440"/>
          </a:xfrm>
          <a:prstGeom prst="roundRect">
            <a:avLst>
              <a:gd name="adj" fmla="val 11851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6656" y="1216152"/>
            <a:ext cx="133350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3EF0AF"/>
                </a:solidFill>
                <a:latin typeface="Arial"/>
              </a:rPr>
              <a:t>1 763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позиций без ЕКМТР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нет расхода, остатка и закупки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124712"/>
            <a:ext cx="1699260" cy="1234440"/>
          </a:xfrm>
          <a:prstGeom prst="roundRect">
            <a:avLst>
              <a:gd name="adj" fmla="val 118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8796" y="1216152"/>
            <a:ext cx="133350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2A3138"/>
                </a:solidFill>
                <a:latin typeface="Arial"/>
              </a:rPr>
              <a:t>800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позиций в дереве узлов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механизм → узел → деталь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" y="2587752"/>
            <a:ext cx="548640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679191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Кодификация прайса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30936" y="2999232"/>
          <a:ext cx="5303520" cy="2834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300216" y="2587752"/>
            <a:ext cx="5349240" cy="777240"/>
          </a:xfrm>
          <a:prstGeom prst="roundRect">
            <a:avLst>
              <a:gd name="adj" fmla="val 18823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0216" y="3044952"/>
            <a:ext cx="5349240" cy="2834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5" y="2587752"/>
            <a:ext cx="5166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Ведомость взаимозаменяемости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172968"/>
            <a:ext cx="4983480" cy="2651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300" b="1" i="0">
                <a:solidFill>
                  <a:srgbClr val="2A3138"/>
                </a:solidFill>
                <a:latin typeface="Arial"/>
              </a:rPr>
              <a:t>1 533 групп</a:t>
            </a:r>
            <a:r>
              <a:rPr sz="1300" b="0" i="0">
                <a:solidFill>
                  <a:srgbClr val="2A3138"/>
                </a:solidFill>
                <a:latin typeface="Arial"/>
              </a:rPr>
              <a:t> замен, 2 199 деталей</a:t>
            </a:r>
          </a:p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300" b="1" i="0">
                <a:solidFill>
                  <a:srgbClr val="2A3138"/>
                </a:solidFill>
                <a:latin typeface="Arial"/>
              </a:rPr>
              <a:t>1 747 связей</a:t>
            </a:r>
            <a:r>
              <a:rPr sz="1300" b="0" i="0">
                <a:solidFill>
                  <a:srgbClr val="2A3138"/>
                </a:solidFill>
                <a:latin typeface="Arial"/>
              </a:rPr>
              <a:t> между книгами WK-20, WK-20C и WK-35</a:t>
            </a:r>
          </a:p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300" b="1" i="0">
                <a:solidFill>
                  <a:srgbClr val="2A3138"/>
                </a:solidFill>
                <a:latin typeface="Arial"/>
              </a:rPr>
              <a:t>187 строк</a:t>
            </a:r>
            <a:r>
              <a:rPr sz="1300" b="0" i="0">
                <a:solidFill>
                  <a:srgbClr val="2A3138"/>
                </a:solidFill>
                <a:latin typeface="Arial"/>
              </a:rPr>
              <a:t> с комментарием — ограничение применения</a:t>
            </a:r>
          </a:p>
          <a:p>
            <a:pPr algn="l">
              <a:spcAft>
                <a:spcPts val="500"/>
              </a:spcAft>
              <a:buNone/>
            </a:pPr>
            <a:r>
              <a:rPr sz="1100" b="0" i="0">
                <a:solidFill>
                  <a:srgbClr val="5B6167"/>
                </a:solidFill>
                <a:latin typeface="Arial"/>
              </a:rPr>
              <a:t>Прямые замены видны в обеспеченности. Транзитивные замены и пересчёт склада «как будто замена» сознательно не делаются.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Ограничения данных и расчёта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3520440" cy="777240"/>
          </a:xfrm>
          <a:prstGeom prst="roundRect">
            <a:avLst>
              <a:gd name="adj" fmla="val 18823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9496" y="1581912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1124712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Статус — на дату выгрузки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709928"/>
            <a:ext cx="315468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Стадия заказов 2024–2025 взята из годовых выгрузок PM-06. Если заказ закрыли позже, в презентации он может быть «в работе».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124712"/>
            <a:ext cx="3520440" cy="777240"/>
          </a:xfrm>
          <a:prstGeom prst="roundRect">
            <a:avLst>
              <a:gd name="adj" fmla="val 18823"/>
            </a:avLst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34256" y="1581912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124712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Запас по площадкам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1709928"/>
            <a:ext cx="315468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Площадка склада — по заводу строки остатков; склады Иркутской области отнесены к Сухому Логу. Склад покрывает только свою площадку; перемещение ограничено и показано как возможность*, не как покрытие.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9016" y="1124712"/>
            <a:ext cx="3520440" cy="777240"/>
          </a:xfrm>
          <a:prstGeom prst="roundRect">
            <a:avLst>
              <a:gd name="adj" fmla="val 18823"/>
            </a:avLst>
          </a:prstGeom>
          <a:solidFill>
            <a:srgbClr val="80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29016" y="1581912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124712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Позиции ППР и копии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6" y="1709928"/>
            <a:ext cx="315468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1 175 млн ₽ позиций ППР 2027 и неисполненный план оригиналов БЕ исключены из плана по правилам PM-06.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" y="3639312"/>
            <a:ext cx="3520440" cy="777240"/>
          </a:xfrm>
          <a:prstGeom prst="roundRect">
            <a:avLst>
              <a:gd name="adj" fmla="val 18823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9496" y="4096512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639312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Срок поставки — до месяца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4224528"/>
            <a:ext cx="315468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Обеспеченность считается по месяцу: приход внутри месяца потребности считается успевающим.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3639312"/>
            <a:ext cx="3520440" cy="777240"/>
          </a:xfrm>
          <a:prstGeom prst="roundRect">
            <a:avLst>
              <a:gd name="adj" fmla="val 18823"/>
            </a:avLst>
          </a:prstGeom>
          <a:solidFill>
            <a:srgbClr val="80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34256" y="4096512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3639312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Парк и книги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4224528"/>
            <a:ext cx="315468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В парке 28 бортов после схлопывания дублей. У 4 бортов нет книги; №1228 есть в заказах, но нет в витрине «Парк».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9016" y="3639312"/>
            <a:ext cx="3520440" cy="777240"/>
          </a:xfrm>
          <a:prstGeom prst="roundRect">
            <a:avLst>
              <a:gd name="adj" fmla="val 18823"/>
            </a:avLst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29016" y="4096512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456" y="3639312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400" b="1" i="0">
                <a:solidFill>
                  <a:srgbClr val="2A3138"/>
                </a:solidFill>
                <a:latin typeface="Arial"/>
              </a:rPr>
              <a:t>Стоимость закупок — в рублях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4224528"/>
            <a:ext cx="315468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  <a:buNone/>
            </a:pPr>
            <a:r>
              <a:rPr sz="1200" b="0" i="0">
                <a:solidFill>
                  <a:srgbClr val="2A3138"/>
                </a:solidFill>
                <a:latin typeface="Arial"/>
              </a:rPr>
              <a:t>«Общая стоимость» выгрузки закупки — в рублях: у позиций прайса ДП это цена в юанях × курс пересчёта ≈ 12,48 ₽/¥; валюта документа (ZCNY, ZUSD) — справочно.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" y="5943600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Отдельно: 2026 — незавершённый год (факт на 14.09.2026); низкий % исполнения 2026 не означает отставания сам по себе.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Обновление данных — прямо в отчёте, без Python</a:t>
            </a:r>
          </a:p>
        </p:txBody>
      </p:sp>
      <p:sp>
        <p:nvSpPr>
          <p:cNvPr id="3" name="Pentagon 2"/>
          <p:cNvSpPr/>
          <p:nvPr/>
        </p:nvSpPr>
        <p:spPr>
          <a:xfrm>
            <a:off x="539496" y="1170432"/>
            <a:ext cx="2112264" cy="731520"/>
          </a:xfrm>
          <a:prstGeom prst="homePlate">
            <a:avLst>
              <a:gd name="adj" fmla="val 32000"/>
            </a:avLst>
          </a:prstGeom>
          <a:solidFill>
            <a:srgbClr val="55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219456" bIns="18288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Загрузить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993391"/>
            <a:ext cx="1929384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B6167"/>
                </a:solidFill>
                <a:latin typeface="Arial"/>
              </a:rPr>
              <a:t>Остатки (3 файла), PM-06 M06_{площадка}_{год}.xlsx — только изменившиеся, МТР УСО</a:t>
            </a:r>
          </a:p>
        </p:txBody>
      </p:sp>
      <p:sp>
        <p:nvSpPr>
          <p:cNvPr id="5" name="Chevron 4"/>
          <p:cNvSpPr/>
          <p:nvPr/>
        </p:nvSpPr>
        <p:spPr>
          <a:xfrm>
            <a:off x="2788920" y="1170432"/>
            <a:ext cx="2112264" cy="731520"/>
          </a:xfrm>
          <a:prstGeom prst="chevron">
            <a:avLst>
              <a:gd name="adj" fmla="val 32000"/>
            </a:avLst>
          </a:prstGeom>
          <a:solidFill>
            <a:srgbClr val="55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7238" tIns="18288" rIns="219456" bIns="18288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Пересобрать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993391"/>
            <a:ext cx="1929384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B6167"/>
                </a:solidFill>
                <a:latin typeface="Arial"/>
              </a:rPr>
              <a:t>График, статусы и стадии, копии «Развития», ППМ, контроль, обеспеченность, ремонты, тексты</a:t>
            </a:r>
          </a:p>
        </p:txBody>
      </p:sp>
      <p:sp>
        <p:nvSpPr>
          <p:cNvPr id="7" name="Chevron 6"/>
          <p:cNvSpPr/>
          <p:nvPr/>
        </p:nvSpPr>
        <p:spPr>
          <a:xfrm>
            <a:off x="5038344" y="1170432"/>
            <a:ext cx="2112264" cy="731520"/>
          </a:xfrm>
          <a:prstGeom prst="chevron">
            <a:avLst>
              <a:gd name="adj" fmla="val 32000"/>
            </a:avLst>
          </a:prstGeom>
          <a:solidFill>
            <a:srgbClr val="12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7238" tIns="18288" rIns="219456" bIns="18288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Сверить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9783" y="1993391"/>
            <a:ext cx="1929384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B6167"/>
                </a:solidFill>
                <a:latin typeface="Arial"/>
              </a:rPr>
              <a:t>«Сейчас / После пересборки» и сверки аналитики на новых данных</a:t>
            </a:r>
          </a:p>
        </p:txBody>
      </p:sp>
      <p:sp>
        <p:nvSpPr>
          <p:cNvPr id="9" name="Chevron 8"/>
          <p:cNvSpPr/>
          <p:nvPr/>
        </p:nvSpPr>
        <p:spPr>
          <a:xfrm>
            <a:off x="7287768" y="1170432"/>
            <a:ext cx="2112264" cy="731520"/>
          </a:xfrm>
          <a:prstGeom prst="chevron">
            <a:avLst>
              <a:gd name="adj" fmla="val 32000"/>
            </a:avLst>
          </a:prstGeom>
          <a:solidFill>
            <a:srgbClr val="12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7238" tIns="18288" rIns="219456" bIns="18288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Применить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9208" y="1993391"/>
            <a:ext cx="1929384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B6167"/>
                </a:solidFill>
                <a:latin typeface="Arial"/>
              </a:rPr>
              <a:t>Сохраняется в браузере, переживает перезагрузку; плашка вверху отчёта</a:t>
            </a:r>
          </a:p>
        </p:txBody>
      </p:sp>
      <p:sp>
        <p:nvSpPr>
          <p:cNvPr id="11" name="Chevron 10"/>
          <p:cNvSpPr/>
          <p:nvPr/>
        </p:nvSpPr>
        <p:spPr>
          <a:xfrm>
            <a:off x="9537192" y="1170432"/>
            <a:ext cx="2112264" cy="731520"/>
          </a:xfrm>
          <a:prstGeom prst="chevron">
            <a:avLst>
              <a:gd name="adj" fmla="val 32000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7238" tIns="18288" rIns="219456" bIns="18288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Выложить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8632" y="1993391"/>
            <a:ext cx="1929384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B6167"/>
                </a:solidFill>
                <a:latin typeface="Arial"/>
              </a:rPr>
              <a:t>Записать в папку отчёта на диске (Chrome / Edge) или архив data/ для всех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" y="3136391"/>
            <a:ext cx="2571750" cy="1234440"/>
          </a:xfrm>
          <a:prstGeom prst="roundRect">
            <a:avLst>
              <a:gd name="adj" fmla="val 118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3227832"/>
            <a:ext cx="220599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2A3138"/>
                </a:solidFill>
                <a:latin typeface="Arial"/>
              </a:rPr>
              <a:t>~3 с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разбор одной выгрузки PM-06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в браузере, 20 МБ xlsx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5565" y="3136391"/>
            <a:ext cx="2571750" cy="1234440"/>
          </a:xfrm>
          <a:prstGeom prst="roundRect">
            <a:avLst>
              <a:gd name="adj" fmla="val 11851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8446" y="3227832"/>
            <a:ext cx="220599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3EF0AF"/>
                </a:solidFill>
                <a:latin typeface="Arial"/>
              </a:rPr>
              <a:t>0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расхождений с Python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витрины из полных M06_1400/1200_2027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1636" y="3136391"/>
            <a:ext cx="2571750" cy="1234440"/>
          </a:xfrm>
          <a:prstGeom prst="roundRect">
            <a:avLst>
              <a:gd name="adj" fmla="val 118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4516" y="3227832"/>
            <a:ext cx="220599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2A3138"/>
                </a:solidFill>
                <a:latin typeface="Arial"/>
              </a:rPr>
              <a:t>1,7 млн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сверенных значений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тест test_toro_rebuild.mjs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7705" y="3136391"/>
            <a:ext cx="2571750" cy="1234440"/>
          </a:xfrm>
          <a:prstGeom prst="roundRect">
            <a:avLst>
              <a:gd name="adj" fmla="val 118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0585" y="3227832"/>
            <a:ext cx="220599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2600" b="1" i="0">
                <a:solidFill>
                  <a:srgbClr val="2A3138"/>
                </a:solidFill>
                <a:latin typeface="Arial"/>
              </a:rPr>
              <a:t>8 297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текстов заказов</a:t>
            </a:r>
          </a:p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rgbClr val="5B6167"/>
                </a:solidFill>
                <a:latin typeface="Arial"/>
              </a:rPr>
              <a:t>из колонки «Заказ ·доп»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" y="4599432"/>
            <a:ext cx="11109960" cy="1234440"/>
          </a:xfrm>
          <a:prstGeom prst="roundRect">
            <a:avLst>
              <a:gd name="adj" fmla="val 10370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600"/>
              </a:spcAft>
              <a:buNone/>
            </a:pPr>
            <a:r>
              <a:rPr sz="1200" b="1" i="0">
                <a:solidFill>
                  <a:srgbClr val="2A3138"/>
                </a:solidFill>
                <a:latin typeface="Arial"/>
              </a:rPr>
              <a:t>Загружать всё не нужно. </a:t>
            </a:r>
            <a:r>
              <a:rPr sz="1200" b="0" i="0">
                <a:solidFill>
                  <a:srgbClr val="2A3138"/>
                </a:solidFill>
                <a:latin typeface="Arial"/>
              </a:rPr>
              <a:t>Загруженные площадко-годы заменяют свои, остальные берутся из текущих данных; файл 1200 сам разводится на Вернинское и Сухой Лог по балансовой единице.</a:t>
            </a:r>
          </a:p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2A3138"/>
                </a:solidFill>
                <a:latin typeface="Arial"/>
              </a:rPr>
              <a:t>Python остаётся эталоном </a:t>
            </a:r>
            <a:r>
              <a:rPr sz="1200" b="0" i="0">
                <a:solidFill>
                  <a:srgbClr val="2A3138"/>
                </a:solidFill>
                <a:latin typeface="Arial"/>
              </a:rPr>
              <a:t>для каталога, LinkOne, базы знаний, КТГ и презентаций — они от выгрузок BW не зависят.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Двойная проверка расчётов и выводов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352044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216152"/>
            <a:ext cx="3154680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3200" b="1" i="0">
                <a:solidFill>
                  <a:srgbClr val="2A3138"/>
                </a:solidFill>
                <a:latin typeface="Arial"/>
              </a:rPr>
              <a:t>24 / 24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сверок сходятся — весь парк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" y="2679191"/>
            <a:ext cx="3520440" cy="777240"/>
          </a:xfrm>
          <a:prstGeom prst="roundRect">
            <a:avLst>
              <a:gd name="adj" fmla="val 18823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9496" y="3136391"/>
            <a:ext cx="3520440" cy="237744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2679191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Сверки в отчёте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264408"/>
            <a:ext cx="3154680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200" b="0" i="0">
                <a:solidFill>
                  <a:srgbClr val="2A3138"/>
                </a:solidFill>
                <a:latin typeface="Arial"/>
              </a:rPr>
              <a:t>24 из 24 сверок сходятся для всего парка</a:t>
            </a:r>
          </a:p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200" b="0" i="0">
                <a:solidFill>
                  <a:srgbClr val="2A3138"/>
                </a:solidFill>
                <a:latin typeface="Arial"/>
              </a:rPr>
              <a:t>по каждой площадке — Красноярск 19/19, Магадан 19/19, Сухой Лог 19/19</a:t>
            </a:r>
          </a:p>
          <a:p>
            <a:pPr algn="l" marL="182880" indent="-182880">
              <a:spcAft>
                <a:spcPts val="500"/>
              </a:spcAft>
              <a:buClr>
                <a:srgbClr val="3EF0AF"/>
              </a:buClr>
              <a:buFont typeface="Arial"/>
              <a:buChar char="•"/>
            </a:pPr>
            <a:r>
              <a:rPr sz="1200" b="0" i="0">
                <a:solidFill>
                  <a:srgbClr val="2A3138"/>
                </a:solidFill>
                <a:latin typeface="Arial"/>
              </a:rPr>
              <a:t>стадии = план + ППР + копии; площадки = итог; МТР + УСО = итог; сегменты обеспеченности; цепочка согласования; воронка; S-кривая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124712"/>
            <a:ext cx="352044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216152"/>
            <a:ext cx="3154680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3200" b="1" i="0">
                <a:solidFill>
                  <a:srgbClr val="2A3138"/>
                </a:solidFill>
                <a:latin typeface="Arial"/>
              </a:rPr>
              <a:t>9 223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показателя сверено в 35 контекстах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2679191"/>
            <a:ext cx="3520440" cy="777240"/>
          </a:xfrm>
          <a:prstGeom prst="roundRect">
            <a:avLst>
              <a:gd name="adj" fmla="val 18823"/>
            </a:avLst>
          </a:prstGeom>
          <a:solidFill>
            <a:srgbClr val="55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4256" y="3136391"/>
            <a:ext cx="3520440" cy="237744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2679191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Независимый пересчёт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264408"/>
            <a:ext cx="3154680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200" b="0" i="0">
                <a:solidFill>
                  <a:srgbClr val="2A3138"/>
                </a:solidFill>
                <a:latin typeface="Arial"/>
              </a:rPr>
              <a:t>вторая реализация на Python: заказы из строк графика и статусов TOPO</a:t>
            </a:r>
          </a:p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200" b="0" i="0">
                <a:solidFill>
                  <a:srgbClr val="2A3138"/>
                </a:solidFill>
                <a:latin typeface="Arial"/>
              </a:rPr>
              <a:t>9 223 показателя и уровни всех выводов в 35 контекстах (парк, площадки, модели, борта)</a:t>
            </a:r>
          </a:p>
          <a:p>
            <a:pPr algn="l" marL="182880" indent="-182880">
              <a:spcAft>
                <a:spcPts val="500"/>
              </a:spcAft>
              <a:buClr>
                <a:srgbClr val="3EF0AF"/>
              </a:buClr>
              <a:buFont typeface="Arial"/>
              <a:buChar char="•"/>
            </a:pPr>
            <a:r>
              <a:rPr sz="1200" b="0" i="0">
                <a:solidFill>
                  <a:srgbClr val="2A3138"/>
                </a:solidFill>
                <a:latin typeface="Arial"/>
              </a:rPr>
              <a:t>тест пойман на намеренных ошибках ядра (пороги, правило копий, риск неосвоения)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124712"/>
            <a:ext cx="3520440" cy="1325880"/>
          </a:xfrm>
          <a:prstGeom prst="roundRect">
            <a:avLst>
              <a:gd name="adj" fmla="val 11034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1216152"/>
            <a:ext cx="3154680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  <a:buNone/>
            </a:pPr>
            <a:r>
              <a:rPr sz="3200" b="1" i="0">
                <a:solidFill>
                  <a:srgbClr val="3EF0AF"/>
                </a:solidFill>
                <a:latin typeface="Arial"/>
              </a:rPr>
              <a:t>0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расхождений браузер ↔ Python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2679191"/>
            <a:ext cx="3520440" cy="777240"/>
          </a:xfrm>
          <a:prstGeom prst="roundRect">
            <a:avLst>
              <a:gd name="adj" fmla="val 18823"/>
            </a:avLst>
          </a:prstGeom>
          <a:solidFill>
            <a:srgbClr val="12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29016" y="3136391"/>
            <a:ext cx="3520440" cy="237744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2679191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Паритет браузер = 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264408"/>
            <a:ext cx="3154680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200" b="0" i="0">
                <a:solidFill>
                  <a:srgbClr val="2A3138"/>
                </a:solidFill>
                <a:latin typeface="Arial"/>
              </a:rPr>
              <a:t>пересборка в браузере совпала с Python по всем витринам</a:t>
            </a:r>
          </a:p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200" b="0" i="0">
                <a:solidFill>
                  <a:srgbClr val="2A3138"/>
                </a:solidFill>
                <a:latin typeface="Arial"/>
              </a:rPr>
              <a:t>на полных выгрузках PM-06 и на выборке из настоящей выгрузки</a:t>
            </a:r>
          </a:p>
          <a:p>
            <a:pPr algn="l" marL="182880" indent="-182880">
              <a:spcAft>
                <a:spcPts val="500"/>
              </a:spcAft>
              <a:buClr>
                <a:srgbClr val="3EF0AF"/>
              </a:buClr>
              <a:buFont typeface="Arial"/>
              <a:buChar char="•"/>
            </a:pPr>
            <a:r>
              <a:rPr sz="1200" b="0" i="0">
                <a:solidFill>
                  <a:srgbClr val="2A3138"/>
                </a:solidFill>
                <a:latin typeface="Arial"/>
              </a:rPr>
              <a:t>итоги по годам, площадкам и бортам = данным этой презентации (419 из 419)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" y="5650992"/>
            <a:ext cx="11109960" cy="365760"/>
          </a:xfrm>
          <a:prstGeom prst="roundRect">
            <a:avLst>
              <a:gd name="adj" fmla="val 35000"/>
            </a:avLst>
          </a:prstGeom>
          <a:solidFill>
            <a:srgbClr val="D5F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2A3138"/>
                </a:solidFill>
                <a:latin typeface="Arial"/>
              </a:rPr>
              <a:t>Итог: </a:t>
            </a:r>
            <a:r>
              <a:rPr sz="1200" b="0" i="0">
                <a:solidFill>
                  <a:srgbClr val="2A3138"/>
                </a:solidFill>
                <a:latin typeface="Arial"/>
              </a:rPr>
              <a:t>каждая цифра отчёта и этой презентации получена двумя независимыми способами, и они совпали.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Выводы и что сделать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5417820" cy="1417320"/>
          </a:xfrm>
          <a:prstGeom prst="roundRect">
            <a:avLst>
              <a:gd name="adj" fmla="val 116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8096" y="153619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1216152"/>
            <a:ext cx="422910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Закрыть хвосты 2026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111 деблокированных заказов на 604 млн ₽ без факта: провести факт, перенести или закрыть до конца года.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1124712"/>
            <a:ext cx="5417820" cy="1417320"/>
          </a:xfrm>
          <a:prstGeom prst="roundRect">
            <a:avLst>
              <a:gd name="adj" fmla="val 116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60236" y="153619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5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7475" y="1216152"/>
            <a:ext cx="422910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Ревизия согласования 2026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1 119 млн ₽ ещё на согласовании в сентябре — решить, что переходит в 2027.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" y="2724912"/>
            <a:ext cx="5417820" cy="1417320"/>
          </a:xfrm>
          <a:prstGeom prst="roundRect">
            <a:avLst>
              <a:gd name="adj" fmla="val 116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313639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D2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5336" y="2816352"/>
            <a:ext cx="422910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Деблокировать 2027 раньше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1 184 млн ₽ потребности закупка не видит до ДЕБЛ при сроке поставки 276 дней.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2724912"/>
            <a:ext cx="5417820" cy="1417320"/>
          </a:xfrm>
          <a:prstGeom prst="roundRect">
            <a:avLst>
              <a:gd name="adj" fmla="val 116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60236" y="313639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2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7475" y="2816352"/>
            <a:ext cx="422910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Заказать сегодня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159 позиций на 511 млн ₽ ещё успеваем; по 424 млн ₽ — аналоги или перенос.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" y="4325112"/>
            <a:ext cx="5417820" cy="1417320"/>
          </a:xfrm>
          <a:prstGeom prst="roundRect">
            <a:avLst>
              <a:gd name="adj" fmla="val 116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" y="473659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D2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4416552"/>
            <a:ext cx="422910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Просроченные поставки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1 310 ед. с прошедшим месяцем поставки — эскалация поставщикам.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4325112"/>
            <a:ext cx="5417820" cy="1417320"/>
          </a:xfrm>
          <a:prstGeom prst="roundRect">
            <a:avLst>
              <a:gd name="adj" fmla="val 116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60236" y="473659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80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7475" y="4416552"/>
            <a:ext cx="422910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Возможность перемещения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167"/>
                </a:solidFill>
                <a:latin typeface="Arial"/>
              </a:rPr>
              <a:t>До 217 млн ₽ дефицита есть на других площадках. Перемещение ограничено — проверить, что реально согласовать и перевезти.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Методика и источники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6" y="1124712"/>
            <a:ext cx="5417820" cy="777240"/>
          </a:xfrm>
          <a:prstGeom prst="roundRect">
            <a:avLst>
              <a:gd name="adj" fmla="val 18823"/>
            </a:avLst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9496" y="1581912"/>
            <a:ext cx="5417820" cy="42976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1124712"/>
            <a:ext cx="52349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Как считали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709928"/>
            <a:ext cx="5052059" cy="411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200" b="0" i="0">
                <a:solidFill>
                  <a:srgbClr val="2A3138"/>
                </a:solidFill>
                <a:latin typeface="Arial"/>
              </a:rPr>
              <a:t>Исполнение = факт / план МТР + УСО по заказам ТОРО WK.</a:t>
            </a:r>
          </a:p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200" b="0" i="0">
                <a:solidFill>
                  <a:srgbClr val="2A3138"/>
                </a:solidFill>
                <a:latin typeface="Arial"/>
              </a:rPr>
              <a:t>Позиции графика ППР без заказа SAP в план не входят.</a:t>
            </a:r>
          </a:p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200" b="0" i="0">
                <a:solidFill>
                  <a:srgbClr val="2A3138"/>
                </a:solidFill>
                <a:latin typeface="Arial"/>
              </a:rPr>
              <a:t>Оригинал БЕ с копией в «Развитии»: факт учитывается, неисполненный план — нет.</a:t>
            </a:r>
          </a:p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200" b="0" i="0">
                <a:solidFill>
                  <a:srgbClr val="2A3138"/>
                </a:solidFill>
                <a:latin typeface="Arial"/>
              </a:rPr>
              <a:t>Стадия заказа — по статусам PM-06: ЗАКР &gt; ТЗКР &gt; ДЕБЛ &gt; ОТКР.</a:t>
            </a:r>
          </a:p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200" b="0" i="0">
                <a:solidFill>
                  <a:srgbClr val="2A3138"/>
                </a:solidFill>
                <a:latin typeface="Arial"/>
              </a:rPr>
              <a:t>Площадка — по борту (вкладка «Парк»).</a:t>
            </a:r>
          </a:p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200" b="0" i="0">
                <a:solidFill>
                  <a:srgbClr val="2A3138"/>
                </a:solidFill>
                <a:latin typeface="Arial"/>
              </a:rPr>
              <a:t>Запас — по площадке склада (завод строки остатков).</a:t>
            </a:r>
          </a:p>
          <a:p>
            <a:pPr algn="l" marL="182880" indent="-182880">
              <a:spcAft>
                <a:spcPts val="500"/>
              </a:spcAft>
              <a:buClr>
                <a:srgbClr val="3EF0AF"/>
              </a:buClr>
              <a:buFont typeface="Arial"/>
              <a:buChar char="•"/>
            </a:pPr>
            <a:r>
              <a:rPr sz="1200" b="0" i="0">
                <a:solidFill>
                  <a:srgbClr val="2A3138"/>
                </a:solidFill>
                <a:latin typeface="Arial"/>
              </a:rPr>
              <a:t>Обеспеченность: склад своей площадки, затем закупка с датой до потребности, по месяцам. Запас других площадок — только возможность улучшения*, в покрытие не входит.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1636" y="1124712"/>
            <a:ext cx="5417820" cy="777240"/>
          </a:xfrm>
          <a:prstGeom prst="roundRect">
            <a:avLst>
              <a:gd name="adj" fmla="val 18823"/>
            </a:avLst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31636" y="1581912"/>
            <a:ext cx="5417820" cy="42976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3075" y="1124712"/>
            <a:ext cx="52349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2A3138"/>
                </a:solidFill>
                <a:latin typeface="Arial"/>
              </a:rPr>
              <a:t>Источники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4516" y="1709928"/>
            <a:ext cx="5052059" cy="411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300" b="0" i="0">
                <a:solidFill>
                  <a:srgbClr val="2A3138"/>
                </a:solidFill>
                <a:latin typeface="Arial"/>
              </a:rPr>
              <a:t>Выгрузки BW PM-M06 2024–2027, площадки 1100, 1200, 1400 (2400 — по бортам)</a:t>
            </a:r>
          </a:p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300" b="0" i="0">
                <a:solidFill>
                  <a:srgbClr val="2A3138"/>
                </a:solidFill>
                <a:latin typeface="Arial"/>
              </a:rPr>
              <a:t>Статусы заказов PM-06 (TOPO/pm06_meta)</a:t>
            </a:r>
          </a:p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300" b="0" i="0">
                <a:solidFill>
                  <a:srgbClr val="2A3138"/>
                </a:solidFill>
                <a:latin typeface="Arial"/>
              </a:rPr>
              <a:t>КТГ — витрина TOPO ktg.json</a:t>
            </a:r>
          </a:p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300" b="0" i="0">
                <a:solidFill>
                  <a:srgbClr val="2A3138"/>
                </a:solidFill>
                <a:latin typeface="Arial"/>
              </a:rPr>
              <a:t>Остатки и ограниченный запас на 14.09.2026</a:t>
            </a:r>
          </a:p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300" b="0" i="0">
                <a:solidFill>
                  <a:srgbClr val="2A3138"/>
                </a:solidFill>
                <a:latin typeface="Arial"/>
              </a:rPr>
              <a:t>Закупка ALL «Развитие» на 11.09.2026</a:t>
            </a:r>
          </a:p>
          <a:p>
            <a:pPr algn="l" marL="182880" indent="-182880">
              <a:spcAft>
                <a:spcPts val="600"/>
              </a:spcAft>
              <a:buClr>
                <a:srgbClr val="3EF0AF"/>
              </a:buClr>
              <a:buFont typeface="Arial"/>
              <a:buChar char="•"/>
            </a:pPr>
            <a:r>
              <a:rPr sz="1300" b="0" i="0">
                <a:solidFill>
                  <a:srgbClr val="2A3138"/>
                </a:solidFill>
                <a:latin typeface="Arial"/>
              </a:rPr>
              <a:t>МТР подрядчика — rawdata/УСО; прайсы ДП и УСО; ведомость взаимозаменяемости</a:t>
            </a:r>
          </a:p>
          <a:p>
            <a:pPr algn="l" marL="182880" indent="-182880">
              <a:spcAft>
                <a:spcPts val="500"/>
              </a:spcAft>
              <a:buClr>
                <a:srgbClr val="3EF0AF"/>
              </a:buClr>
              <a:buFont typeface="Arial"/>
              <a:buChar char="•"/>
            </a:pPr>
            <a:r>
              <a:rPr sz="1300" b="0" i="0">
                <a:solidFill>
                  <a:srgbClr val="2A3138"/>
                </a:solidFill>
                <a:latin typeface="Arial"/>
              </a:rPr>
              <a:t>Тексты заказов — колонка «Заказ ·доп» PM-06; автовыводы — 24 правила ядра отчёта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Вопросы и обсуждение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buNone/>
            </a:pPr>
            <a:r>
              <a:t>Экскаваторы WK · данные на 14.09.2026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Тема Office">
  <a:themeElements>
    <a:clrScheme name="Другая 1">
      <a:dk1>
        <a:srgbClr val="2A3138"/>
      </a:dk1>
      <a:lt1>
        <a:srgbClr val="FFFFFF"/>
      </a:lt1>
      <a:dk2>
        <a:srgbClr val="2A3138"/>
      </a:dk2>
      <a:lt2>
        <a:srgbClr val="E7E6E6"/>
      </a:lt2>
      <a:accent1>
        <a:srgbClr val="3EF0AF"/>
      </a:accent1>
      <a:accent2>
        <a:srgbClr val="80868B"/>
      </a:accent2>
      <a:accent3>
        <a:srgbClr val="D8D8D8"/>
      </a:accent3>
      <a:accent4>
        <a:srgbClr val="F5F5F5"/>
      </a:accent4>
      <a:accent5>
        <a:srgbClr val="2A3138"/>
      </a:accent5>
      <a:accent6>
        <a:srgbClr val="B3BDDC"/>
      </a:accent6>
      <a:hlink>
        <a:srgbClr val="B668E4"/>
      </a:hlink>
      <a:folHlink>
        <a:srgbClr val="7E83FA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482</Words>
  <Application>Microsoft Office PowerPoint</Application>
  <PresentationFormat>Широкоэкранный</PresentationFormat>
  <Paragraphs>68</Paragraphs>
  <Slides>5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Aeonik Pro TRIAL</vt:lpstr>
      <vt:lpstr>Arial</vt:lpstr>
      <vt:lpstr>Calibri</vt:lpstr>
      <vt:lpstr>Wingdings</vt:lpstr>
      <vt:lpstr>Тема Office</vt:lpstr>
      <vt:lpstr>Слайд think-cell</vt:lpstr>
      <vt:lpstr>Презентация PowerPoint</vt:lpstr>
      <vt:lpstr>Пример оформления текста</vt:lpstr>
      <vt:lpstr>Пример оформления таблиц и диаграмм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Зайцев Павел Юрьевич</dc:creator>
  <cp:lastModifiedBy>Кузнецов Виктор Евгеньевич</cp:lastModifiedBy>
  <cp:revision>9</cp:revision>
  <dcterms:created xsi:type="dcterms:W3CDTF">2024-06-03T08:05:05Z</dcterms:created>
  <dcterms:modified xsi:type="dcterms:W3CDTF">2026-07-20T07:52:25Z</dcterms:modified>
</cp:coreProperties>
</file>